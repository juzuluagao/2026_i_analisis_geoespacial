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3"/>
  </p:notesMasterIdLst>
  <p:sldIdLst>
    <p:sldId id="264" r:id="rId2"/>
    <p:sldId id="266" r:id="rId3"/>
    <p:sldId id="262" r:id="rId4"/>
    <p:sldId id="280" r:id="rId5"/>
    <p:sldId id="269" r:id="rId6"/>
    <p:sldId id="270" r:id="rId7"/>
    <p:sldId id="272" r:id="rId8"/>
    <p:sldId id="271" r:id="rId9"/>
    <p:sldId id="273" r:id="rId10"/>
    <p:sldId id="281" r:id="rId11"/>
    <p:sldId id="274" r:id="rId12"/>
    <p:sldId id="275" r:id="rId13"/>
    <p:sldId id="282" r:id="rId14"/>
    <p:sldId id="283" r:id="rId15"/>
    <p:sldId id="276" r:id="rId16"/>
    <p:sldId id="284" r:id="rId17"/>
    <p:sldId id="279" r:id="rId18"/>
    <p:sldId id="285" r:id="rId19"/>
    <p:sldId id="286" r:id="rId20"/>
    <p:sldId id="287" r:id="rId21"/>
    <p:sldId id="288" r:id="rId22"/>
    <p:sldId id="290" r:id="rId23"/>
    <p:sldId id="292" r:id="rId24"/>
    <p:sldId id="293" r:id="rId25"/>
    <p:sldId id="297" r:id="rId26"/>
    <p:sldId id="298" r:id="rId27"/>
    <p:sldId id="295" r:id="rId28"/>
    <p:sldId id="296" r:id="rId29"/>
    <p:sldId id="299" r:id="rId30"/>
    <p:sldId id="289" r:id="rId31"/>
    <p:sldId id="260" r:id="rId32"/>
  </p:sldIdLst>
  <p:sldSz cx="9144000" cy="5143500" type="screen16x9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6CC"/>
    <a:srgbClr val="E03A00"/>
    <a:srgbClr val="172B7E"/>
    <a:srgbClr val="2BA287"/>
    <a:srgbClr val="19A78C"/>
    <a:srgbClr val="19937C"/>
    <a:srgbClr val="43AB97"/>
    <a:srgbClr val="CC008C"/>
    <a:srgbClr val="00A480"/>
    <a:srgbClr val="00A4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969" autoAdjust="0"/>
  </p:normalViewPr>
  <p:slideViewPr>
    <p:cSldViewPr snapToGrid="0" snapToObjects="1">
      <p:cViewPr>
        <p:scale>
          <a:sx n="150" d="100"/>
          <a:sy n="150" d="100"/>
        </p:scale>
        <p:origin x="86" y="-965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06D32-3F26-4A60-B79B-32791D3BB2C9}" type="datetimeFigureOut">
              <a:rPr lang="es-CO" smtClean="0"/>
              <a:t>14/07/2026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695FE-B573-405B-994F-FAFC230626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2910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C620-E659-49B0-9EFB-BB66AA813A77}" type="datetime1">
              <a:rPr lang="es-ES" smtClean="0"/>
              <a:t>14/07/2026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117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68595"/>
            <a:ext cx="8229600" cy="694634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77E6E-80CA-4637-84D1-CB00AA43C9A5}" type="datetime1">
              <a:rPr lang="es-ES" smtClean="0"/>
              <a:t>14/07/2026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301256" y="18054"/>
            <a:ext cx="2133600" cy="273844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s-ES" dirty="0"/>
              <a:t>Página </a:t>
            </a:r>
            <a:fld id="{90BC2BA4-81C0-F544-BD72-C8CB9DA7C802}" type="slidenum">
              <a:rPr lang="es-ES" smtClean="0"/>
              <a:pPr/>
              <a:t>‹Nº›</a:t>
            </a:fld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055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2299790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1174649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04BB-03C1-49D0-8ADB-9D0B173DA53B}" type="datetime1">
              <a:rPr lang="es-ES" smtClean="0"/>
              <a:t>14/07/2026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098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8A97A-0D3F-47CA-A347-054B7FE5852E}" type="datetime1">
              <a:rPr lang="es-ES" smtClean="0"/>
              <a:t>14/07/2026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1D78991F-287D-0639-B3A9-25B72B76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3036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C8795-6BD1-4429-BD75-9B388C62CDEE}" type="datetime1">
              <a:rPr lang="es-ES" smtClean="0"/>
              <a:t>14/07/2026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B2016B63-56CA-91C8-8D94-3736CC5DF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454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6A773-67CF-4861-89BB-2127413ABA21}" type="datetime1">
              <a:rPr lang="es-ES" smtClean="0"/>
              <a:t>14/07/2026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ED5BEC-1B11-157D-6B6B-7EC9DA38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887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ADB17-4F6B-498B-894E-4985DAFC70C1}" type="datetime1">
              <a:rPr lang="es-ES" smtClean="0"/>
              <a:t>14/07/2026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29E16D5E-FC12-627C-C32C-2D79CE9D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841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5D58-D3C6-4A98-BBED-E11D62DD4FB7}" type="datetime1">
              <a:rPr lang="es-ES" smtClean="0"/>
              <a:t>14/07/2026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27E0BABE-B629-4063-8894-C3E903570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397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8C981-BD54-46FE-919F-B5B29C8804F4}" type="datetime1">
              <a:rPr lang="es-ES" smtClean="0"/>
              <a:t>14/07/2026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8F88F565-A7F0-7C19-A7F7-953C9727E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998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311887"/>
            <a:ext cx="8229600" cy="751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30C37-EE32-4163-B0FE-3AD7FB21F6FB}" type="datetime1">
              <a:rPr lang="es-ES" smtClean="0"/>
              <a:t>14/07/2026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161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76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1469256" y="1025602"/>
            <a:ext cx="6201268" cy="7275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dirty="0">
                <a:solidFill>
                  <a:schemeClr val="accent1"/>
                </a:solidFill>
                <a:latin typeface="Ancizar Serif"/>
                <a:cs typeface="Ancizar Serif"/>
              </a:rPr>
              <a:t>Análisis de puntos y áreas</a:t>
            </a:r>
          </a:p>
        </p:txBody>
      </p:sp>
      <p:cxnSp>
        <p:nvCxnSpPr>
          <p:cNvPr id="4" name="Conector recto 3"/>
          <p:cNvCxnSpPr/>
          <p:nvPr/>
        </p:nvCxnSpPr>
        <p:spPr>
          <a:xfrm>
            <a:off x="1678804" y="2533120"/>
            <a:ext cx="5810117" cy="0"/>
          </a:xfrm>
          <a:prstGeom prst="line">
            <a:avLst/>
          </a:prstGeom>
          <a:ln w="127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CuadroTexto 4"/>
          <p:cNvSpPr txBox="1"/>
          <p:nvPr/>
        </p:nvSpPr>
        <p:spPr>
          <a:xfrm>
            <a:off x="2796652" y="2208024"/>
            <a:ext cx="3546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/>
                </a:solidFill>
                <a:latin typeface="Ancizar Sans"/>
                <a:cs typeface="Ancizar Sans"/>
              </a:rPr>
              <a:t>Juan David Zuluaga Ortiz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471366" y="2956041"/>
            <a:ext cx="6201268" cy="1102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schemeClr val="accent1"/>
                </a:solidFill>
                <a:latin typeface="Ancizar Serif"/>
                <a:cs typeface="Ancizar Serif"/>
              </a:rPr>
              <a:t>Análisis Geoespacial</a:t>
            </a:r>
          </a:p>
          <a:p>
            <a:r>
              <a:rPr lang="es-ES" sz="1800" dirty="0">
                <a:solidFill>
                  <a:schemeClr val="accent1"/>
                </a:solidFill>
                <a:latin typeface="Ancizar Serif"/>
                <a:cs typeface="Ancizar Serif"/>
              </a:rPr>
              <a:t>Facultad de Minas</a:t>
            </a:r>
          </a:p>
          <a:p>
            <a:r>
              <a:rPr lang="es-ES" sz="1800" dirty="0">
                <a:solidFill>
                  <a:schemeClr val="accent1"/>
                </a:solidFill>
                <a:latin typeface="Ancizar Serif"/>
                <a:cs typeface="Ancizar Serif"/>
              </a:rPr>
              <a:t>Medellín</a:t>
            </a:r>
          </a:p>
          <a:p>
            <a:r>
              <a:rPr lang="es-ES" sz="1800" dirty="0">
                <a:solidFill>
                  <a:schemeClr val="accent1"/>
                </a:solidFill>
                <a:latin typeface="Ancizar Serif"/>
                <a:cs typeface="Ancizar Serif"/>
              </a:rPr>
              <a:t>2026-1S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185DE8-C48F-FD75-EF42-14FD2D299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44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Pregunta de investigación</a:t>
            </a:r>
            <a:endParaRPr lang="es-ES" sz="2200" dirty="0">
              <a:solidFill>
                <a:schemeClr val="accent1"/>
              </a:solidFill>
              <a:latin typeface="Ancizar Serif Extrabold" panose="020A0902070300000003" pitchFamily="18" charset="0"/>
              <a:cs typeface="Ancizar Sans Extrabold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B7B9ECD-82A0-7270-769D-FD4218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4E7C465-BE53-2670-7B88-C8DCA7846F8B}"/>
              </a:ext>
            </a:extLst>
          </p:cNvPr>
          <p:cNvSpPr txBox="1"/>
          <p:nvPr/>
        </p:nvSpPr>
        <p:spPr>
          <a:xfrm>
            <a:off x="595424" y="797779"/>
            <a:ext cx="3834336" cy="3606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>
              <a:lnSpc>
                <a:spcPct val="150000"/>
              </a:lnSpc>
              <a:buClr>
                <a:schemeClr val="accent5"/>
              </a:buClr>
              <a:buNone/>
            </a:pPr>
            <a:r>
              <a:rPr lang="es-CO" dirty="0">
                <a:latin typeface="Arial Narrow" panose="020B0606020202030204" pitchFamily="34" charset="0"/>
              </a:rPr>
              <a:t>Identificar que relación existe entre las zonas susceptibles a inundaciones con el Índice de Área Foliar (LAI) y variables topográficas en el departamento de Antioquia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CO" dirty="0">
                <a:latin typeface="Arial Narrow" panose="020B0606020202030204" pitchFamily="34" charset="0"/>
              </a:rPr>
              <a:t>Puntos: eventos de inundación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CO" dirty="0">
                <a:latin typeface="Arial Narrow" panose="020B0606020202030204" pitchFamily="34" charset="0"/>
              </a:rPr>
              <a:t>Áreas: Municipios de Antioquia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CO" dirty="0">
                <a:latin typeface="Arial Narrow" panose="020B0606020202030204" pitchFamily="34" charset="0"/>
              </a:rPr>
              <a:t>Superficies: </a:t>
            </a:r>
          </a:p>
          <a:p>
            <a:pPr marL="57150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s-CO" sz="1400" dirty="0">
                <a:latin typeface="Arial Narrow" panose="020B0606020202030204" pitchFamily="34" charset="0"/>
              </a:rPr>
              <a:t>Modelos digitales de Terreno (ANADEM)</a:t>
            </a:r>
          </a:p>
          <a:p>
            <a:pPr marL="57150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s-CO" sz="1400" dirty="0">
                <a:latin typeface="Arial Narrow" panose="020B0606020202030204" pitchFamily="34" charset="0"/>
              </a:rPr>
              <a:t>Mapa de pendientes (Derivado de MDT)</a:t>
            </a:r>
          </a:p>
          <a:p>
            <a:pPr marL="57150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s-CO" sz="1400" dirty="0">
                <a:latin typeface="Arial Narrow" panose="020B0606020202030204" pitchFamily="34" charset="0"/>
              </a:rPr>
              <a:t>Índice de área foliar (LAI) </a:t>
            </a:r>
          </a:p>
          <a:p>
            <a:pPr marL="57150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s-CO" sz="1400" dirty="0">
                <a:latin typeface="Arial Narrow" panose="020B0606020202030204" pitchFamily="34" charset="0"/>
              </a:rPr>
              <a:t>Índices topográficos (Derivados del MDT)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D72F31-109D-DBB2-9141-BC3623A153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36052" y="393840"/>
            <a:ext cx="3924243" cy="42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22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9FEBE-E251-ABD9-9617-A672C99EE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A586214-D862-3276-A75F-4F7FDB0706F3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Inventario de inundaciones</a:t>
            </a:r>
            <a:endParaRPr lang="es-ES" sz="2200" dirty="0">
              <a:solidFill>
                <a:schemeClr val="accent1"/>
              </a:solidFill>
              <a:latin typeface="Ancizar Serif Extrabold" panose="020A0902070300000003" pitchFamily="18" charset="0"/>
              <a:cs typeface="Ancizar Sans Extrabold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5C836BE-A11F-AB67-E7CD-2D978F55C31D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9809F40-B60F-B8AC-7896-5784CFAB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85C68D0-BEBF-E26C-CB01-8382B15AC1B6}"/>
              </a:ext>
            </a:extLst>
          </p:cNvPr>
          <p:cNvSpPr txBox="1"/>
          <p:nvPr/>
        </p:nvSpPr>
        <p:spPr>
          <a:xfrm>
            <a:off x="595424" y="797779"/>
            <a:ext cx="3834336" cy="3480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>
              <a:lnSpc>
                <a:spcPct val="15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s-CO" sz="1350" dirty="0">
                <a:latin typeface="Arial Narrow" panose="020B0606020202030204" pitchFamily="34" charset="0"/>
              </a:rPr>
              <a:t>Base de datos DAGRAN:</a:t>
            </a:r>
          </a:p>
          <a:p>
            <a:pPr lvl="1">
              <a:lnSpc>
                <a:spcPct val="15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s-CO" sz="1350" dirty="0">
                <a:latin typeface="Arial Narrow" panose="020B0606020202030204" pitchFamily="34" charset="0"/>
              </a:rPr>
              <a:t>    1073 eventos en total</a:t>
            </a:r>
          </a:p>
          <a:p>
            <a:pPr>
              <a:lnSpc>
                <a:spcPct val="15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s-CO" sz="1350" dirty="0">
                <a:latin typeface="Arial Narrow" panose="020B0606020202030204" pitchFamily="34" charset="0"/>
              </a:rPr>
              <a:t>Base de datos GEOHAZARD:</a:t>
            </a:r>
          </a:p>
          <a:p>
            <a:pPr lvl="1">
              <a:lnSpc>
                <a:spcPct val="15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s-CO" sz="1350" dirty="0">
                <a:latin typeface="Arial Narrow" panose="020B0606020202030204" pitchFamily="34" charset="0"/>
              </a:rPr>
              <a:t>    197 eventos en total asociados a inundaciones</a:t>
            </a:r>
          </a:p>
          <a:p>
            <a:pPr>
              <a:lnSpc>
                <a:spcPct val="15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s-CO" sz="1350" dirty="0">
                <a:latin typeface="Arial Narrow" panose="020B0606020202030204" pitchFamily="34" charset="0"/>
              </a:rPr>
              <a:t>Total eventos: </a:t>
            </a:r>
            <a:r>
              <a:rPr lang="es-CO" sz="1350" b="1" dirty="0">
                <a:latin typeface="Arial Narrow" panose="020B0606020202030204" pitchFamily="34" charset="0"/>
              </a:rPr>
              <a:t>1270 inundaciones</a:t>
            </a:r>
          </a:p>
          <a:p>
            <a:pPr>
              <a:lnSpc>
                <a:spcPct val="15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s-CO" sz="1350" dirty="0">
                <a:latin typeface="Arial Narrow" panose="020B0606020202030204" pitchFamily="34" charset="0"/>
              </a:rPr>
              <a:t>Procesamiento:</a:t>
            </a:r>
          </a:p>
          <a:p>
            <a:pPr lvl="1">
              <a:lnSpc>
                <a:spcPct val="15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s-CO" sz="1350" dirty="0">
                <a:latin typeface="Arial Narrow" panose="020B0606020202030204" pitchFamily="34" charset="0"/>
              </a:rPr>
              <a:t> Eventos delimitados temporalmente a partir del año 2002.</a:t>
            </a:r>
          </a:p>
          <a:p>
            <a:pPr lvl="1">
              <a:lnSpc>
                <a:spcPct val="15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s-CO" sz="1350" dirty="0">
                <a:latin typeface="Arial Narrow" panose="020B0606020202030204" pitchFamily="34" charset="0"/>
              </a:rPr>
              <a:t> Validación de coordenadas y localización</a:t>
            </a:r>
          </a:p>
          <a:p>
            <a:pPr lvl="1">
              <a:lnSpc>
                <a:spcPct val="15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s-CO" sz="1350" dirty="0">
                <a:latin typeface="Arial Narrow" panose="020B0606020202030204" pitchFamily="34" charset="0"/>
              </a:rPr>
              <a:t> Validación de no repetición de eventos</a:t>
            </a:r>
          </a:p>
          <a:p>
            <a:pPr lvl="1">
              <a:lnSpc>
                <a:spcPct val="15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s-CO" sz="1350" dirty="0">
                <a:latin typeface="Arial Narrow" panose="020B0606020202030204" pitchFamily="34" charset="0"/>
              </a:rPr>
              <a:t> Validación de eventos entre fuentes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C51EA7E-936C-EF6C-0677-3034AA78B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283" y="407917"/>
            <a:ext cx="4017460" cy="405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684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8AB79-6540-6DF8-EBBE-9C6053B06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A04A5135-B062-5904-44A3-0F0CA2498931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Análisis de cuadrantes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B5002B8-4181-BE4C-B14E-85472FB80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68FEBC0-0E7D-6242-4891-BED1C195AFA2}"/>
              </a:ext>
            </a:extLst>
          </p:cNvPr>
          <p:cNvSpPr txBox="1"/>
          <p:nvPr/>
        </p:nvSpPr>
        <p:spPr>
          <a:xfrm>
            <a:off x="4669823" y="461144"/>
            <a:ext cx="3996801" cy="374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>
              <a:lnSpc>
                <a:spcPct val="150000"/>
              </a:lnSpc>
              <a:buClr>
                <a:schemeClr val="accent5"/>
              </a:buClr>
              <a:buNone/>
            </a:pPr>
            <a:r>
              <a:rPr lang="es-CO" dirty="0">
                <a:latin typeface="Arial Narrow" panose="020B0606020202030204" pitchFamily="34" charset="0"/>
              </a:rPr>
              <a:t>Distancia optima ancho de banda: </a:t>
            </a:r>
            <a:r>
              <a:rPr lang="es-CO" b="1" dirty="0">
                <a:latin typeface="Arial Narrow" panose="020B0606020202030204" pitchFamily="34" charset="0"/>
              </a:rPr>
              <a:t>Silverman </a:t>
            </a:r>
            <a:r>
              <a:rPr lang="es-CO" dirty="0">
                <a:latin typeface="Arial Narrow" panose="020B0606020202030204" pitchFamily="34" charset="0"/>
              </a:rPr>
              <a:t>24509.45m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D62221F-EAA5-ED49-0DB8-E1619F0F0C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52"/>
          <a:stretch>
            <a:fillRect/>
          </a:stretch>
        </p:blipFill>
        <p:spPr>
          <a:xfrm>
            <a:off x="1113195" y="875152"/>
            <a:ext cx="6922601" cy="359062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B8733D27-5783-6E09-99EA-4EE04409B72D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157A459F-907A-6FDE-E5F2-2C6250660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437736"/>
              </p:ext>
            </p:extLst>
          </p:nvPr>
        </p:nvGraphicFramePr>
        <p:xfrm>
          <a:off x="5514537" y="985532"/>
          <a:ext cx="2483055" cy="157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685">
                  <a:extLst>
                    <a:ext uri="{9D8B030D-6E8A-4147-A177-3AD203B41FA5}">
                      <a16:colId xmlns:a16="http://schemas.microsoft.com/office/drawing/2014/main" val="3028947541"/>
                    </a:ext>
                  </a:extLst>
                </a:gridCol>
                <a:gridCol w="827685">
                  <a:extLst>
                    <a:ext uri="{9D8B030D-6E8A-4147-A177-3AD203B41FA5}">
                      <a16:colId xmlns:a16="http://schemas.microsoft.com/office/drawing/2014/main" val="2318584599"/>
                    </a:ext>
                  </a:extLst>
                </a:gridCol>
                <a:gridCol w="827685">
                  <a:extLst>
                    <a:ext uri="{9D8B030D-6E8A-4147-A177-3AD203B41FA5}">
                      <a16:colId xmlns:a16="http://schemas.microsoft.com/office/drawing/2014/main" val="1830448936"/>
                    </a:ext>
                  </a:extLst>
                </a:gridCol>
              </a:tblGrid>
              <a:tr h="468075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Parámetro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Total (Eventos / cuadrante)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Densidad (Eventos / Área Cuadrante)</a:t>
                      </a:r>
                      <a:endParaRPr lang="es-E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6215473"/>
                  </a:ext>
                </a:extLst>
              </a:tr>
              <a:tr h="292046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Media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5.60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0.0093</a:t>
                      </a:r>
                      <a:endParaRPr lang="es-E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01791"/>
                  </a:ext>
                </a:extLst>
              </a:tr>
              <a:tr h="292046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/>
                        <a:t>Desv</a:t>
                      </a:r>
                      <a:r>
                        <a:rPr lang="es-CO" sz="1000" dirty="0"/>
                        <a:t>. </a:t>
                      </a:r>
                      <a:r>
                        <a:rPr lang="es-CO" sz="1000" dirty="0" err="1"/>
                        <a:t>Est</a:t>
                      </a:r>
                      <a:r>
                        <a:rPr lang="es-CO" sz="1000" dirty="0"/>
                        <a:t>.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12.14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0.0202</a:t>
                      </a:r>
                      <a:endParaRPr lang="es-E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130215"/>
                  </a:ext>
                </a:extLst>
              </a:tr>
              <a:tr h="292046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Máximo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86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0.1432</a:t>
                      </a:r>
                      <a:endParaRPr lang="es-E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960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839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F1313-BAB0-734C-6206-58ECD1971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8F8C080-2927-AA71-E757-3EF3C93E8D94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Densidad de </a:t>
            </a:r>
            <a:r>
              <a:rPr lang="es-ES" sz="2200" dirty="0" err="1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Kernel</a:t>
            </a:r>
            <a:endParaRPr lang="es-ES" sz="2200" dirty="0">
              <a:solidFill>
                <a:schemeClr val="accent1"/>
              </a:solidFill>
              <a:latin typeface="Ancizar Serif Extrabold" panose="020A0902070300000003" pitchFamily="18" charset="0"/>
              <a:cs typeface="Ancizar Sans Extrabold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BA04152-1D05-3898-EC08-837DC24F8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C02A4C1-A7B6-1A21-9BA1-B0ED6623BF17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D9F35A8-914F-174C-37C5-099B1183EEA3}"/>
              </a:ext>
            </a:extLst>
          </p:cNvPr>
          <p:cNvSpPr txBox="1"/>
          <p:nvPr/>
        </p:nvSpPr>
        <p:spPr>
          <a:xfrm>
            <a:off x="771500" y="1631133"/>
            <a:ext cx="31166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>
              <a:buClr>
                <a:schemeClr val="accent5"/>
              </a:buClr>
              <a:buNone/>
            </a:pPr>
            <a:r>
              <a:rPr lang="es-CO" dirty="0">
                <a:latin typeface="Arial Narrow" panose="020B0606020202030204" pitchFamily="34" charset="0"/>
              </a:rPr>
              <a:t>Distancia optima ancho de banda: </a:t>
            </a:r>
          </a:p>
          <a:p>
            <a:pPr marL="0" indent="0">
              <a:buClr>
                <a:schemeClr val="accent5"/>
              </a:buClr>
              <a:buNone/>
            </a:pPr>
            <a:r>
              <a:rPr lang="es-CO" b="1" dirty="0">
                <a:latin typeface="Arial Narrow" panose="020B0606020202030204" pitchFamily="34" charset="0"/>
              </a:rPr>
              <a:t>Silverman </a:t>
            </a:r>
            <a:r>
              <a:rPr lang="es-CO" dirty="0">
                <a:latin typeface="Arial Narrow" panose="020B0606020202030204" pitchFamily="34" charset="0"/>
              </a:rPr>
              <a:t>24509.45m</a:t>
            </a:r>
          </a:p>
          <a:p>
            <a:pPr marL="0" indent="0">
              <a:buClr>
                <a:schemeClr val="accent5"/>
              </a:buClr>
              <a:buNone/>
            </a:pPr>
            <a:endParaRPr lang="es-CO" dirty="0">
              <a:latin typeface="Arial Narrow" panose="020B0606020202030204" pitchFamily="34" charset="0"/>
            </a:endParaRPr>
          </a:p>
          <a:p>
            <a:pPr marL="0" indent="0">
              <a:buClr>
                <a:schemeClr val="accent5"/>
              </a:buClr>
              <a:buNone/>
            </a:pPr>
            <a:r>
              <a:rPr lang="es-CO" dirty="0">
                <a:latin typeface="Arial Narrow" panose="020B0606020202030204" pitchFamily="34" charset="0"/>
              </a:rPr>
              <a:t>Mayores densidades localizadas en el centro del departamento (Entre los municipios del Valle de Aburrá y aledaños) y un segundo lomo de menor magnitud localizado sobre el golfo de Urabá</a:t>
            </a:r>
          </a:p>
          <a:p>
            <a:pPr marL="0" indent="0">
              <a:buClr>
                <a:schemeClr val="accent5"/>
              </a:buClr>
              <a:buNone/>
            </a:pPr>
            <a:endParaRPr lang="es-CO" dirty="0">
              <a:latin typeface="Arial Narrow" panose="020B060602020203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AE482A7-1D38-39D7-5149-EC323C7162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45"/>
          <a:stretch>
            <a:fillRect/>
          </a:stretch>
        </p:blipFill>
        <p:spPr>
          <a:xfrm>
            <a:off x="4290965" y="480783"/>
            <a:ext cx="4081535" cy="410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378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8D57A-F437-EB67-4687-E624373C1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533C6A1-FF7F-9F0A-4F64-2CA60CD4119F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Análisis de vecino más cercano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17CCE06-14A7-651F-A03C-2B2D7C6A0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7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1F9938E-AB58-8BEF-66A6-FBAC23D1E9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20" b="-471"/>
          <a:stretch>
            <a:fillRect/>
          </a:stretch>
        </p:blipFill>
        <p:spPr>
          <a:xfrm>
            <a:off x="63721" y="1015701"/>
            <a:ext cx="6609810" cy="311379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6977AA3-670A-92D5-8F44-685AC4D39E0F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B229747-13E6-526F-DB0C-DFEE99680253}"/>
              </a:ext>
            </a:extLst>
          </p:cNvPr>
          <p:cNvSpPr txBox="1"/>
          <p:nvPr/>
        </p:nvSpPr>
        <p:spPr>
          <a:xfrm>
            <a:off x="6762066" y="1174369"/>
            <a:ext cx="218867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>
              <a:buClr>
                <a:schemeClr val="accent5"/>
              </a:buClr>
              <a:buNone/>
            </a:pPr>
            <a:r>
              <a:rPr lang="es-CO" sz="1300" dirty="0">
                <a:latin typeface="Arial Narrow" panose="020B0606020202030204" pitchFamily="34" charset="0"/>
              </a:rPr>
              <a:t>Para el vecino de primero orden, la media se localiza en 810.8m.</a:t>
            </a:r>
          </a:p>
          <a:p>
            <a:pPr marL="0" indent="0">
              <a:buClr>
                <a:schemeClr val="accent5"/>
              </a:buClr>
              <a:buNone/>
            </a:pPr>
            <a:endParaRPr lang="es-CO" sz="1300" dirty="0">
              <a:latin typeface="Arial Narrow" panose="020B0606020202030204" pitchFamily="34" charset="0"/>
            </a:endParaRPr>
          </a:p>
          <a:p>
            <a:pPr marL="0" indent="0">
              <a:buClr>
                <a:schemeClr val="accent5"/>
              </a:buClr>
              <a:buNone/>
            </a:pPr>
            <a:r>
              <a:rPr lang="es-CO" sz="1300" dirty="0">
                <a:latin typeface="Arial Narrow" panose="020B0606020202030204" pitchFamily="34" charset="0"/>
              </a:rPr>
              <a:t>Los primeros ordenes se encuentran fuertemente acotados por distancia nula debido a la cercanía de los eventos.</a:t>
            </a:r>
          </a:p>
          <a:p>
            <a:pPr marL="0" indent="0">
              <a:buClr>
                <a:schemeClr val="accent5"/>
              </a:buClr>
              <a:buNone/>
            </a:pPr>
            <a:endParaRPr lang="es-CO" sz="1300" dirty="0">
              <a:latin typeface="Arial Narrow" panose="020B0606020202030204" pitchFamily="34" charset="0"/>
            </a:endParaRPr>
          </a:p>
          <a:p>
            <a:pPr marL="0" indent="0">
              <a:buClr>
                <a:schemeClr val="accent5"/>
              </a:buClr>
              <a:buNone/>
            </a:pPr>
            <a:r>
              <a:rPr lang="es-CO" sz="1300" dirty="0">
                <a:latin typeface="Arial Narrow" panose="020B0606020202030204" pitchFamily="34" charset="0"/>
              </a:rPr>
              <a:t>Las medias y medias se empiezan a acercar alrededor del orden 10</a:t>
            </a:r>
          </a:p>
        </p:txBody>
      </p:sp>
    </p:spTree>
    <p:extLst>
      <p:ext uri="{BB962C8B-B14F-4D97-AF65-F5344CB8AC3E}">
        <p14:creationId xmlns:p14="http://schemas.microsoft.com/office/powerpoint/2010/main" val="94686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62C2-D922-F311-F3A7-F7BB344A7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F0E4561-5C44-AC5C-7AE1-EBEACDCF88D3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Función F y G de Ripley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C6FBFCC-6644-FF75-4AF4-B7B188B8F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8</a:t>
            </a:fld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6217BF6-4293-789E-8A49-596C4B036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64649"/>
            <a:ext cx="4220308" cy="252277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B711303-A91A-6BBF-6F83-0504E2BBA35E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BE00268-6971-716B-8885-964D7568A8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2046" y="864649"/>
            <a:ext cx="4220308" cy="252122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D5497B79-3B5B-1507-D785-A88A07282C06}"/>
              </a:ext>
            </a:extLst>
          </p:cNvPr>
          <p:cNvSpPr txBox="1"/>
          <p:nvPr/>
        </p:nvSpPr>
        <p:spPr>
          <a:xfrm>
            <a:off x="2358930" y="3604039"/>
            <a:ext cx="4323224" cy="65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lnSpc>
                <a:spcPct val="150000"/>
              </a:lnSpc>
              <a:buClr>
                <a:schemeClr val="accent5"/>
              </a:buClr>
              <a:buNone/>
            </a:pPr>
            <a:r>
              <a:rPr lang="es-CO" sz="1300" dirty="0">
                <a:latin typeface="Arial Narrow" panose="020B0606020202030204" pitchFamily="34" charset="0"/>
              </a:rPr>
              <a:t>El patrón de las funciones F(d) y G(d) de Ripley evidencia un patrón de </a:t>
            </a:r>
            <a:r>
              <a:rPr lang="es-CO" sz="1300" b="1" dirty="0">
                <a:latin typeface="Arial Narrow" panose="020B0606020202030204" pitchFamily="34" charset="0"/>
              </a:rPr>
              <a:t>puntos </a:t>
            </a:r>
            <a:r>
              <a:rPr lang="es-CO" sz="1300" b="1" dirty="0" err="1">
                <a:latin typeface="Arial Narrow" panose="020B0606020202030204" pitchFamily="34" charset="0"/>
              </a:rPr>
              <a:t>clusterizados</a:t>
            </a:r>
            <a:endParaRPr lang="es-CO" sz="13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881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9341A-689D-AB97-7331-AD3968B83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76F062-1486-5C4F-C613-5BFF59E531E2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C</a:t>
            </a:r>
            <a:r>
              <a:rPr lang="es-ES" sz="2200" dirty="0" err="1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lusterización</a:t>
            </a:r>
            <a:endParaRPr lang="es-ES" sz="2200" dirty="0">
              <a:solidFill>
                <a:schemeClr val="accent1"/>
              </a:solidFill>
              <a:latin typeface="Ancizar Serif Extrabold" panose="020A0902070300000003" pitchFamily="18" charset="0"/>
              <a:cs typeface="Ancizar Sans Extrabold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68D8EB7-C54D-F012-B4BB-9A3F1D79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9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01AACF0-20E6-4782-D571-419F6ED596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28"/>
          <a:stretch>
            <a:fillRect/>
          </a:stretch>
        </p:blipFill>
        <p:spPr>
          <a:xfrm>
            <a:off x="5274644" y="875152"/>
            <a:ext cx="3625083" cy="204322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2C61937-DA2B-C20B-48DF-54B511D95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9" y="794818"/>
            <a:ext cx="5003609" cy="355386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9EEDEA1-1480-9FC7-1237-FFD970F8AD3C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846847A-8CEC-C34D-0D52-2AD0B526C950}"/>
              </a:ext>
            </a:extLst>
          </p:cNvPr>
          <p:cNvSpPr txBox="1"/>
          <p:nvPr/>
        </p:nvSpPr>
        <p:spPr>
          <a:xfrm>
            <a:off x="5274644" y="3200965"/>
            <a:ext cx="362508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buClr>
                <a:schemeClr val="accent5"/>
              </a:buClr>
              <a:buNone/>
            </a:pPr>
            <a:r>
              <a:rPr lang="es-CO" sz="1300" dirty="0">
                <a:latin typeface="Arial Narrow" panose="020B0606020202030204" pitchFamily="34" charset="0"/>
              </a:rPr>
              <a:t>El diagrama de siluetas muestra que el parámetro optimo es k = 2, sin embargo, todos los escenarios muestran un correcto agrupamiento.  En apoyo con la regla del codo, se seleccionan </a:t>
            </a:r>
            <a:r>
              <a:rPr lang="es-CO" sz="1300" b="1" dirty="0">
                <a:latin typeface="Arial Narrow" panose="020B0606020202030204" pitchFamily="34" charset="0"/>
              </a:rPr>
              <a:t>4 clústeres.</a:t>
            </a:r>
          </a:p>
        </p:txBody>
      </p:sp>
    </p:spTree>
    <p:extLst>
      <p:ext uri="{BB962C8B-B14F-4D97-AF65-F5344CB8AC3E}">
        <p14:creationId xmlns:p14="http://schemas.microsoft.com/office/powerpoint/2010/main" val="2999015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F336A-29BE-B161-B398-0A1929A39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D9F9EEA-9F67-04AE-153D-ADE768286BE3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C</a:t>
            </a:r>
            <a:r>
              <a:rPr lang="es-ES" sz="2200" dirty="0" err="1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lusterización</a:t>
            </a:r>
            <a:endParaRPr lang="es-ES" sz="2200" dirty="0">
              <a:solidFill>
                <a:schemeClr val="accent1"/>
              </a:solidFill>
              <a:latin typeface="Ancizar Serif Extrabold" panose="020A0902070300000003" pitchFamily="18" charset="0"/>
              <a:cs typeface="Ancizar Sans Extrabold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813691A-206B-DB9A-7762-BC81426FB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0963318-ADBE-290E-F8D4-717FEA577ACC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D83CD2-113E-A740-B610-A719411F1EF7}"/>
              </a:ext>
            </a:extLst>
          </p:cNvPr>
          <p:cNvSpPr txBox="1"/>
          <p:nvPr/>
        </p:nvSpPr>
        <p:spPr>
          <a:xfrm>
            <a:off x="622314" y="924994"/>
            <a:ext cx="362508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buClr>
                <a:schemeClr val="accent5"/>
              </a:buClr>
              <a:buNone/>
            </a:pPr>
            <a:r>
              <a:rPr lang="es-CO" sz="1300" b="1" dirty="0" err="1">
                <a:latin typeface="Arial Narrow" panose="020B0606020202030204" pitchFamily="34" charset="0"/>
              </a:rPr>
              <a:t>Clusterización</a:t>
            </a:r>
            <a:r>
              <a:rPr lang="es-CO" sz="1300" b="1" dirty="0">
                <a:latin typeface="Arial Narrow" panose="020B0606020202030204" pitchFamily="34" charset="0"/>
              </a:rPr>
              <a:t> con rasgos regionales.</a:t>
            </a: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300" b="1" dirty="0">
                <a:latin typeface="Arial Narrow" panose="020B0606020202030204" pitchFamily="34" charset="0"/>
              </a:rPr>
              <a:t>Cluster 0: </a:t>
            </a:r>
            <a:r>
              <a:rPr lang="es-CO" sz="1300" dirty="0">
                <a:latin typeface="Arial Narrow" panose="020B0606020202030204" pitchFamily="34" charset="0"/>
              </a:rPr>
              <a:t>499 eventos</a:t>
            </a:r>
            <a:endParaRPr lang="es-CO" sz="1300" b="1" dirty="0">
              <a:latin typeface="Arial Narrow" panose="020B0606020202030204" pitchFamily="34" charset="0"/>
            </a:endParaRP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300" b="1" dirty="0">
                <a:latin typeface="Arial Narrow" panose="020B0606020202030204" pitchFamily="34" charset="0"/>
              </a:rPr>
              <a:t>Cluster 1: </a:t>
            </a:r>
            <a:r>
              <a:rPr lang="es-CO" sz="1300" dirty="0">
                <a:latin typeface="Arial Narrow" panose="020B0606020202030204" pitchFamily="34" charset="0"/>
              </a:rPr>
              <a:t>218 eventos</a:t>
            </a:r>
            <a:endParaRPr lang="es-CO" sz="1300" b="1" dirty="0">
              <a:latin typeface="Arial Narrow" panose="020B0606020202030204" pitchFamily="34" charset="0"/>
            </a:endParaRP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300" b="1" dirty="0">
                <a:latin typeface="Arial Narrow" panose="020B0606020202030204" pitchFamily="34" charset="0"/>
              </a:rPr>
              <a:t>Cluster 2: </a:t>
            </a:r>
            <a:r>
              <a:rPr lang="es-CO" sz="1300" dirty="0">
                <a:latin typeface="Arial Narrow" panose="020B0606020202030204" pitchFamily="34" charset="0"/>
              </a:rPr>
              <a:t>201 eventos</a:t>
            </a:r>
            <a:endParaRPr lang="es-CO" sz="1300" b="1" dirty="0">
              <a:latin typeface="Arial Narrow" panose="020B0606020202030204" pitchFamily="34" charset="0"/>
            </a:endParaRP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300" b="1" dirty="0">
                <a:latin typeface="Arial Narrow" panose="020B0606020202030204" pitchFamily="34" charset="0"/>
              </a:rPr>
              <a:t>Cluster 3: </a:t>
            </a:r>
            <a:r>
              <a:rPr lang="es-CO" sz="1300" dirty="0">
                <a:latin typeface="Arial Narrow" panose="020B0606020202030204" pitchFamily="34" charset="0"/>
              </a:rPr>
              <a:t>352 eventos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A1919C3-E00C-C15A-C7E4-F5769F2F3F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" b="125"/>
          <a:stretch/>
        </p:blipFill>
        <p:spPr>
          <a:xfrm>
            <a:off x="5092687" y="410239"/>
            <a:ext cx="3669814" cy="408507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474FFD6-4382-0F8F-E4D1-921B54C91C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28"/>
          <a:stretch>
            <a:fillRect/>
          </a:stretch>
        </p:blipFill>
        <p:spPr>
          <a:xfrm>
            <a:off x="762950" y="2180496"/>
            <a:ext cx="3484447" cy="196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45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15753-CE2C-E25C-F2BC-39771349E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1360B3D-D840-8F83-92C3-492394010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B2D2E4-A514-987A-6133-EA1F6BC4022C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02FB96B-9C80-5860-E3A8-83E14E500B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42" b="9183"/>
          <a:stretch>
            <a:fillRect/>
          </a:stretch>
        </p:blipFill>
        <p:spPr>
          <a:xfrm>
            <a:off x="512974" y="2452774"/>
            <a:ext cx="4449084" cy="1889150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A6247C1-791E-7E3E-C7D1-A7F9E4E4A0BD}"/>
              </a:ext>
            </a:extLst>
          </p:cNvPr>
          <p:cNvCxnSpPr>
            <a:cxnSpLocks/>
          </p:cNvCxnSpPr>
          <p:nvPr/>
        </p:nvCxnSpPr>
        <p:spPr>
          <a:xfrm>
            <a:off x="787791" y="3221499"/>
            <a:ext cx="3924886" cy="0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25036ABF-EAC4-B531-5860-302C639AB56A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C</a:t>
            </a:r>
            <a:r>
              <a:rPr lang="es-ES" sz="2200" dirty="0" err="1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lusterización</a:t>
            </a:r>
            <a:endParaRPr lang="es-ES" sz="2200" dirty="0">
              <a:solidFill>
                <a:schemeClr val="accent1"/>
              </a:solidFill>
              <a:latin typeface="Ancizar Serif Extrabold" panose="020A0902070300000003" pitchFamily="18" charset="0"/>
              <a:cs typeface="Ancizar Sans Extrabold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7B377B0-0E83-A602-483F-C1CD1C79AB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64"/>
          <a:stretch>
            <a:fillRect/>
          </a:stretch>
        </p:blipFill>
        <p:spPr>
          <a:xfrm>
            <a:off x="5092687" y="410239"/>
            <a:ext cx="3669814" cy="4085070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B75D1CAB-AF63-FF3A-A16D-007D196A699D}"/>
              </a:ext>
            </a:extLst>
          </p:cNvPr>
          <p:cNvSpPr txBox="1"/>
          <p:nvPr/>
        </p:nvSpPr>
        <p:spPr>
          <a:xfrm>
            <a:off x="622314" y="1041068"/>
            <a:ext cx="362508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buClr>
                <a:schemeClr val="accent5"/>
              </a:buClr>
              <a:buNone/>
            </a:pPr>
            <a:r>
              <a:rPr lang="es-CO" sz="1300" b="1" dirty="0" err="1">
                <a:latin typeface="Arial Narrow" panose="020B0606020202030204" pitchFamily="34" charset="0"/>
              </a:rPr>
              <a:t>Clusterización</a:t>
            </a:r>
            <a:r>
              <a:rPr lang="es-CO" sz="1300" b="1" dirty="0">
                <a:latin typeface="Arial Narrow" panose="020B0606020202030204" pitchFamily="34" charset="0"/>
              </a:rPr>
              <a:t> con rasgos regionales.</a:t>
            </a: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300" b="1" dirty="0">
                <a:latin typeface="Arial Narrow" panose="020B0606020202030204" pitchFamily="34" charset="0"/>
              </a:rPr>
              <a:t>Cluster 1: </a:t>
            </a:r>
            <a:r>
              <a:rPr lang="es-CO" sz="1300" dirty="0">
                <a:latin typeface="Arial Narrow" panose="020B0606020202030204" pitchFamily="34" charset="0"/>
              </a:rPr>
              <a:t>179 eventos: Urabá Antioqueño</a:t>
            </a:r>
            <a:endParaRPr lang="es-CO" sz="1300" b="1" dirty="0">
              <a:latin typeface="Arial Narrow" panose="020B0606020202030204" pitchFamily="34" charset="0"/>
            </a:endParaRP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300" b="1" dirty="0">
                <a:latin typeface="Arial Narrow" panose="020B0606020202030204" pitchFamily="34" charset="0"/>
              </a:rPr>
              <a:t>Cluster 2: </a:t>
            </a:r>
            <a:r>
              <a:rPr lang="es-CO" sz="1300" dirty="0">
                <a:latin typeface="Arial Narrow" panose="020B0606020202030204" pitchFamily="34" charset="0"/>
              </a:rPr>
              <a:t>133 eventos: Occidente</a:t>
            </a:r>
            <a:endParaRPr lang="es-CO" sz="1300" b="1" dirty="0">
              <a:latin typeface="Arial Narrow" panose="020B0606020202030204" pitchFamily="34" charset="0"/>
            </a:endParaRP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300" b="1" dirty="0">
                <a:latin typeface="Arial Narrow" panose="020B0606020202030204" pitchFamily="34" charset="0"/>
              </a:rPr>
              <a:t>Cluster 3: </a:t>
            </a:r>
            <a:r>
              <a:rPr lang="es-CO" sz="1300" dirty="0">
                <a:latin typeface="Arial Narrow" panose="020B0606020202030204" pitchFamily="34" charset="0"/>
              </a:rPr>
              <a:t>694 eventos: Zona centro y Sur</a:t>
            </a:r>
            <a:endParaRPr lang="es-CO" sz="1300" b="1" dirty="0">
              <a:latin typeface="Arial Narrow" panose="020B0606020202030204" pitchFamily="34" charset="0"/>
            </a:endParaRP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300" b="1" dirty="0">
                <a:latin typeface="Arial Narrow" panose="020B0606020202030204" pitchFamily="34" charset="0"/>
              </a:rPr>
              <a:t>Cluster 4: </a:t>
            </a:r>
            <a:r>
              <a:rPr lang="es-CO" sz="1300" dirty="0">
                <a:latin typeface="Arial Narrow" panose="020B0606020202030204" pitchFamily="34" charset="0"/>
              </a:rPr>
              <a:t>264 eventos: Oriente y Nororiente</a:t>
            </a:r>
          </a:p>
        </p:txBody>
      </p:sp>
    </p:spTree>
    <p:extLst>
      <p:ext uri="{BB962C8B-B14F-4D97-AF65-F5344CB8AC3E}">
        <p14:creationId xmlns:p14="http://schemas.microsoft.com/office/powerpoint/2010/main" val="897381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B804F-8DEC-E459-F7D1-A36ED382F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1978C2C-7E21-CCBD-D032-566EF9D0662E}"/>
              </a:ext>
            </a:extLst>
          </p:cNvPr>
          <p:cNvSpPr txBox="1">
            <a:spLocks/>
          </p:cNvSpPr>
          <p:nvPr/>
        </p:nvSpPr>
        <p:spPr>
          <a:xfrm>
            <a:off x="477376" y="310707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Análisis de puntos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9111759-899C-54D7-EFE6-49E85CB7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12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0EB0D30-915D-00F2-1329-84602008AEA1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C003650-4437-B323-CA23-EC29BF45AA56}"/>
              </a:ext>
            </a:extLst>
          </p:cNvPr>
          <p:cNvSpPr txBox="1"/>
          <p:nvPr/>
        </p:nvSpPr>
        <p:spPr>
          <a:xfrm>
            <a:off x="2846544" y="746385"/>
            <a:ext cx="3625083" cy="495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lnSpc>
                <a:spcPct val="150000"/>
              </a:lnSpc>
              <a:buClr>
                <a:schemeClr val="accent5"/>
              </a:buClr>
              <a:buNone/>
            </a:pPr>
            <a:r>
              <a:rPr lang="es-CO" sz="2000" b="1" dirty="0">
                <a:latin typeface="Arial Narrow" panose="020B0606020202030204" pitchFamily="34" charset="0"/>
              </a:rPr>
              <a:t>Variables</a:t>
            </a:r>
            <a:endParaRPr lang="es-CO" sz="2000" dirty="0">
              <a:latin typeface="Arial Narrow" panose="020B060602020203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DA34678-A51D-984D-5598-DB53E12A2AC1}"/>
              </a:ext>
            </a:extLst>
          </p:cNvPr>
          <p:cNvSpPr txBox="1"/>
          <p:nvPr/>
        </p:nvSpPr>
        <p:spPr>
          <a:xfrm>
            <a:off x="830580" y="1435480"/>
            <a:ext cx="3395270" cy="340519"/>
          </a:xfrm>
          <a:prstGeom prst="roundRect">
            <a:avLst/>
          </a:prstGeom>
          <a:solidFill>
            <a:schemeClr val="tx1">
              <a:lumMod val="10000"/>
              <a:lumOff val="90000"/>
              <a:alpha val="51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244743324">
                  <a:custGeom>
                    <a:avLst/>
                    <a:gdLst>
                      <a:gd name="csX0" fmla="*/ 0 w 3395270"/>
                      <a:gd name="csY0" fmla="*/ 0 h 1200329"/>
                      <a:gd name="csX1" fmla="*/ 679054 w 3395270"/>
                      <a:gd name="csY1" fmla="*/ 0 h 1200329"/>
                      <a:gd name="csX2" fmla="*/ 1392061 w 3395270"/>
                      <a:gd name="csY2" fmla="*/ 0 h 1200329"/>
                      <a:gd name="csX3" fmla="*/ 2071115 w 3395270"/>
                      <a:gd name="csY3" fmla="*/ 0 h 1200329"/>
                      <a:gd name="csX4" fmla="*/ 2682263 w 3395270"/>
                      <a:gd name="csY4" fmla="*/ 0 h 1200329"/>
                      <a:gd name="csX5" fmla="*/ 3395270 w 3395270"/>
                      <a:gd name="csY5" fmla="*/ 0 h 1200329"/>
                      <a:gd name="csX6" fmla="*/ 3395270 w 3395270"/>
                      <a:gd name="csY6" fmla="*/ 600165 h 1200329"/>
                      <a:gd name="csX7" fmla="*/ 3395270 w 3395270"/>
                      <a:gd name="csY7" fmla="*/ 1200329 h 1200329"/>
                      <a:gd name="csX8" fmla="*/ 2784121 w 3395270"/>
                      <a:gd name="csY8" fmla="*/ 1200329 h 1200329"/>
                      <a:gd name="csX9" fmla="*/ 2139020 w 3395270"/>
                      <a:gd name="csY9" fmla="*/ 1200329 h 1200329"/>
                      <a:gd name="csX10" fmla="*/ 1527871 w 3395270"/>
                      <a:gd name="csY10" fmla="*/ 1200329 h 1200329"/>
                      <a:gd name="csX11" fmla="*/ 780912 w 3395270"/>
                      <a:gd name="csY11" fmla="*/ 1200329 h 1200329"/>
                      <a:gd name="csX12" fmla="*/ 0 w 3395270"/>
                      <a:gd name="csY12" fmla="*/ 1200329 h 1200329"/>
                      <a:gd name="csX13" fmla="*/ 0 w 3395270"/>
                      <a:gd name="csY13" fmla="*/ 600165 h 1200329"/>
                      <a:gd name="csX14" fmla="*/ 0 w 3395270"/>
                      <a:gd name="csY14" fmla="*/ 0 h 120032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395270" h="1200329" extrusionOk="0">
                        <a:moveTo>
                          <a:pt x="0" y="0"/>
                        </a:moveTo>
                        <a:cubicBezTo>
                          <a:pt x="156698" y="2474"/>
                          <a:pt x="508065" y="-7165"/>
                          <a:pt x="679054" y="0"/>
                        </a:cubicBezTo>
                        <a:cubicBezTo>
                          <a:pt x="850043" y="7165"/>
                          <a:pt x="1220829" y="16545"/>
                          <a:pt x="1392061" y="0"/>
                        </a:cubicBezTo>
                        <a:cubicBezTo>
                          <a:pt x="1563293" y="-16545"/>
                          <a:pt x="1895588" y="23955"/>
                          <a:pt x="2071115" y="0"/>
                        </a:cubicBezTo>
                        <a:cubicBezTo>
                          <a:pt x="2246642" y="-23955"/>
                          <a:pt x="2425562" y="-16560"/>
                          <a:pt x="2682263" y="0"/>
                        </a:cubicBezTo>
                        <a:cubicBezTo>
                          <a:pt x="2938964" y="16560"/>
                          <a:pt x="3056881" y="15622"/>
                          <a:pt x="3395270" y="0"/>
                        </a:cubicBezTo>
                        <a:cubicBezTo>
                          <a:pt x="3404770" y="293432"/>
                          <a:pt x="3370391" y="467579"/>
                          <a:pt x="3395270" y="600165"/>
                        </a:cubicBezTo>
                        <a:cubicBezTo>
                          <a:pt x="3420149" y="732751"/>
                          <a:pt x="3367148" y="909028"/>
                          <a:pt x="3395270" y="1200329"/>
                        </a:cubicBezTo>
                        <a:cubicBezTo>
                          <a:pt x="3253156" y="1220349"/>
                          <a:pt x="2978416" y="1217144"/>
                          <a:pt x="2784121" y="1200329"/>
                        </a:cubicBezTo>
                        <a:cubicBezTo>
                          <a:pt x="2589826" y="1183514"/>
                          <a:pt x="2330254" y="1222221"/>
                          <a:pt x="2139020" y="1200329"/>
                        </a:cubicBezTo>
                        <a:cubicBezTo>
                          <a:pt x="1947786" y="1178437"/>
                          <a:pt x="1826137" y="1192799"/>
                          <a:pt x="1527871" y="1200329"/>
                        </a:cubicBezTo>
                        <a:cubicBezTo>
                          <a:pt x="1229605" y="1207859"/>
                          <a:pt x="1049015" y="1205294"/>
                          <a:pt x="780912" y="1200329"/>
                        </a:cubicBezTo>
                        <a:cubicBezTo>
                          <a:pt x="512809" y="1195364"/>
                          <a:pt x="366896" y="1231262"/>
                          <a:pt x="0" y="1200329"/>
                        </a:cubicBezTo>
                        <a:cubicBezTo>
                          <a:pt x="-29216" y="963343"/>
                          <a:pt x="-1358" y="789589"/>
                          <a:pt x="0" y="600165"/>
                        </a:cubicBezTo>
                        <a:cubicBezTo>
                          <a:pt x="1358" y="410741"/>
                          <a:pt x="-24653" y="29242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400" b="1" noProof="0" dirty="0">
                <a:solidFill>
                  <a:schemeClr val="accent1"/>
                </a:solidFill>
                <a:latin typeface="Arial Narrow" panose="020B0606020202030204" pitchFamily="34" charset="0"/>
              </a:rPr>
              <a:t>Variables asociadas a la cuenca</a:t>
            </a:r>
            <a:endParaRPr lang="es-CO" sz="1400" dirty="0">
              <a:latin typeface="Arial Narrow" panose="020B0606020202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A3F9AAE-5C6E-E587-2506-2D421595D1AC}"/>
              </a:ext>
            </a:extLst>
          </p:cNvPr>
          <p:cNvSpPr txBox="1"/>
          <p:nvPr/>
        </p:nvSpPr>
        <p:spPr>
          <a:xfrm>
            <a:off x="5097780" y="1435713"/>
            <a:ext cx="3395270" cy="340519"/>
          </a:xfrm>
          <a:prstGeom prst="roundRect">
            <a:avLst/>
          </a:prstGeom>
          <a:solidFill>
            <a:schemeClr val="tx1">
              <a:lumMod val="10000"/>
              <a:lumOff val="90000"/>
              <a:alpha val="51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244743324">
                  <a:custGeom>
                    <a:avLst/>
                    <a:gdLst>
                      <a:gd name="csX0" fmla="*/ 0 w 3395270"/>
                      <a:gd name="csY0" fmla="*/ 0 h 1200329"/>
                      <a:gd name="csX1" fmla="*/ 679054 w 3395270"/>
                      <a:gd name="csY1" fmla="*/ 0 h 1200329"/>
                      <a:gd name="csX2" fmla="*/ 1392061 w 3395270"/>
                      <a:gd name="csY2" fmla="*/ 0 h 1200329"/>
                      <a:gd name="csX3" fmla="*/ 2071115 w 3395270"/>
                      <a:gd name="csY3" fmla="*/ 0 h 1200329"/>
                      <a:gd name="csX4" fmla="*/ 2682263 w 3395270"/>
                      <a:gd name="csY4" fmla="*/ 0 h 1200329"/>
                      <a:gd name="csX5" fmla="*/ 3395270 w 3395270"/>
                      <a:gd name="csY5" fmla="*/ 0 h 1200329"/>
                      <a:gd name="csX6" fmla="*/ 3395270 w 3395270"/>
                      <a:gd name="csY6" fmla="*/ 600165 h 1200329"/>
                      <a:gd name="csX7" fmla="*/ 3395270 w 3395270"/>
                      <a:gd name="csY7" fmla="*/ 1200329 h 1200329"/>
                      <a:gd name="csX8" fmla="*/ 2784121 w 3395270"/>
                      <a:gd name="csY8" fmla="*/ 1200329 h 1200329"/>
                      <a:gd name="csX9" fmla="*/ 2139020 w 3395270"/>
                      <a:gd name="csY9" fmla="*/ 1200329 h 1200329"/>
                      <a:gd name="csX10" fmla="*/ 1527871 w 3395270"/>
                      <a:gd name="csY10" fmla="*/ 1200329 h 1200329"/>
                      <a:gd name="csX11" fmla="*/ 780912 w 3395270"/>
                      <a:gd name="csY11" fmla="*/ 1200329 h 1200329"/>
                      <a:gd name="csX12" fmla="*/ 0 w 3395270"/>
                      <a:gd name="csY12" fmla="*/ 1200329 h 1200329"/>
                      <a:gd name="csX13" fmla="*/ 0 w 3395270"/>
                      <a:gd name="csY13" fmla="*/ 600165 h 1200329"/>
                      <a:gd name="csX14" fmla="*/ 0 w 3395270"/>
                      <a:gd name="csY14" fmla="*/ 0 h 120032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395270" h="1200329" extrusionOk="0">
                        <a:moveTo>
                          <a:pt x="0" y="0"/>
                        </a:moveTo>
                        <a:cubicBezTo>
                          <a:pt x="156698" y="2474"/>
                          <a:pt x="508065" y="-7165"/>
                          <a:pt x="679054" y="0"/>
                        </a:cubicBezTo>
                        <a:cubicBezTo>
                          <a:pt x="850043" y="7165"/>
                          <a:pt x="1220829" y="16545"/>
                          <a:pt x="1392061" y="0"/>
                        </a:cubicBezTo>
                        <a:cubicBezTo>
                          <a:pt x="1563293" y="-16545"/>
                          <a:pt x="1895588" y="23955"/>
                          <a:pt x="2071115" y="0"/>
                        </a:cubicBezTo>
                        <a:cubicBezTo>
                          <a:pt x="2246642" y="-23955"/>
                          <a:pt x="2425562" y="-16560"/>
                          <a:pt x="2682263" y="0"/>
                        </a:cubicBezTo>
                        <a:cubicBezTo>
                          <a:pt x="2938964" y="16560"/>
                          <a:pt x="3056881" y="15622"/>
                          <a:pt x="3395270" y="0"/>
                        </a:cubicBezTo>
                        <a:cubicBezTo>
                          <a:pt x="3404770" y="293432"/>
                          <a:pt x="3370391" y="467579"/>
                          <a:pt x="3395270" y="600165"/>
                        </a:cubicBezTo>
                        <a:cubicBezTo>
                          <a:pt x="3420149" y="732751"/>
                          <a:pt x="3367148" y="909028"/>
                          <a:pt x="3395270" y="1200329"/>
                        </a:cubicBezTo>
                        <a:cubicBezTo>
                          <a:pt x="3253156" y="1220349"/>
                          <a:pt x="2978416" y="1217144"/>
                          <a:pt x="2784121" y="1200329"/>
                        </a:cubicBezTo>
                        <a:cubicBezTo>
                          <a:pt x="2589826" y="1183514"/>
                          <a:pt x="2330254" y="1222221"/>
                          <a:pt x="2139020" y="1200329"/>
                        </a:cubicBezTo>
                        <a:cubicBezTo>
                          <a:pt x="1947786" y="1178437"/>
                          <a:pt x="1826137" y="1192799"/>
                          <a:pt x="1527871" y="1200329"/>
                        </a:cubicBezTo>
                        <a:cubicBezTo>
                          <a:pt x="1229605" y="1207859"/>
                          <a:pt x="1049015" y="1205294"/>
                          <a:pt x="780912" y="1200329"/>
                        </a:cubicBezTo>
                        <a:cubicBezTo>
                          <a:pt x="512809" y="1195364"/>
                          <a:pt x="366896" y="1231262"/>
                          <a:pt x="0" y="1200329"/>
                        </a:cubicBezTo>
                        <a:cubicBezTo>
                          <a:pt x="-29216" y="963343"/>
                          <a:pt x="-1358" y="789589"/>
                          <a:pt x="0" y="600165"/>
                        </a:cubicBezTo>
                        <a:cubicBezTo>
                          <a:pt x="1358" y="410741"/>
                          <a:pt x="-24653" y="29242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400" b="1" noProof="0" dirty="0">
                <a:solidFill>
                  <a:schemeClr val="accent1"/>
                </a:solidFill>
                <a:latin typeface="Arial Narrow" panose="020B0606020202030204" pitchFamily="34" charset="0"/>
              </a:rPr>
              <a:t>Variables asociadas a la condiciones locales</a:t>
            </a:r>
            <a:endParaRPr lang="es-CO" sz="1400" dirty="0">
              <a:latin typeface="Arial Narrow" panose="020B0606020202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AE9AD21-8717-2563-5C01-72D19CFBA465}"/>
              </a:ext>
            </a:extLst>
          </p:cNvPr>
          <p:cNvSpPr txBox="1"/>
          <p:nvPr/>
        </p:nvSpPr>
        <p:spPr>
          <a:xfrm>
            <a:off x="1391460" y="1984787"/>
            <a:ext cx="2086791" cy="306467"/>
          </a:xfrm>
          <a:prstGeom prst="roundRect">
            <a:avLst/>
          </a:prstGeom>
          <a:solidFill>
            <a:schemeClr val="tx1">
              <a:lumMod val="10000"/>
              <a:lumOff val="90000"/>
              <a:alpha val="51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244743324">
                  <a:custGeom>
                    <a:avLst/>
                    <a:gdLst>
                      <a:gd name="csX0" fmla="*/ 0 w 3395270"/>
                      <a:gd name="csY0" fmla="*/ 0 h 1200329"/>
                      <a:gd name="csX1" fmla="*/ 679054 w 3395270"/>
                      <a:gd name="csY1" fmla="*/ 0 h 1200329"/>
                      <a:gd name="csX2" fmla="*/ 1392061 w 3395270"/>
                      <a:gd name="csY2" fmla="*/ 0 h 1200329"/>
                      <a:gd name="csX3" fmla="*/ 2071115 w 3395270"/>
                      <a:gd name="csY3" fmla="*/ 0 h 1200329"/>
                      <a:gd name="csX4" fmla="*/ 2682263 w 3395270"/>
                      <a:gd name="csY4" fmla="*/ 0 h 1200329"/>
                      <a:gd name="csX5" fmla="*/ 3395270 w 3395270"/>
                      <a:gd name="csY5" fmla="*/ 0 h 1200329"/>
                      <a:gd name="csX6" fmla="*/ 3395270 w 3395270"/>
                      <a:gd name="csY6" fmla="*/ 600165 h 1200329"/>
                      <a:gd name="csX7" fmla="*/ 3395270 w 3395270"/>
                      <a:gd name="csY7" fmla="*/ 1200329 h 1200329"/>
                      <a:gd name="csX8" fmla="*/ 2784121 w 3395270"/>
                      <a:gd name="csY8" fmla="*/ 1200329 h 1200329"/>
                      <a:gd name="csX9" fmla="*/ 2139020 w 3395270"/>
                      <a:gd name="csY9" fmla="*/ 1200329 h 1200329"/>
                      <a:gd name="csX10" fmla="*/ 1527871 w 3395270"/>
                      <a:gd name="csY10" fmla="*/ 1200329 h 1200329"/>
                      <a:gd name="csX11" fmla="*/ 780912 w 3395270"/>
                      <a:gd name="csY11" fmla="*/ 1200329 h 1200329"/>
                      <a:gd name="csX12" fmla="*/ 0 w 3395270"/>
                      <a:gd name="csY12" fmla="*/ 1200329 h 1200329"/>
                      <a:gd name="csX13" fmla="*/ 0 w 3395270"/>
                      <a:gd name="csY13" fmla="*/ 600165 h 1200329"/>
                      <a:gd name="csX14" fmla="*/ 0 w 3395270"/>
                      <a:gd name="csY14" fmla="*/ 0 h 120032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395270" h="1200329" extrusionOk="0">
                        <a:moveTo>
                          <a:pt x="0" y="0"/>
                        </a:moveTo>
                        <a:cubicBezTo>
                          <a:pt x="156698" y="2474"/>
                          <a:pt x="508065" y="-7165"/>
                          <a:pt x="679054" y="0"/>
                        </a:cubicBezTo>
                        <a:cubicBezTo>
                          <a:pt x="850043" y="7165"/>
                          <a:pt x="1220829" y="16545"/>
                          <a:pt x="1392061" y="0"/>
                        </a:cubicBezTo>
                        <a:cubicBezTo>
                          <a:pt x="1563293" y="-16545"/>
                          <a:pt x="1895588" y="23955"/>
                          <a:pt x="2071115" y="0"/>
                        </a:cubicBezTo>
                        <a:cubicBezTo>
                          <a:pt x="2246642" y="-23955"/>
                          <a:pt x="2425562" y="-16560"/>
                          <a:pt x="2682263" y="0"/>
                        </a:cubicBezTo>
                        <a:cubicBezTo>
                          <a:pt x="2938964" y="16560"/>
                          <a:pt x="3056881" y="15622"/>
                          <a:pt x="3395270" y="0"/>
                        </a:cubicBezTo>
                        <a:cubicBezTo>
                          <a:pt x="3404770" y="293432"/>
                          <a:pt x="3370391" y="467579"/>
                          <a:pt x="3395270" y="600165"/>
                        </a:cubicBezTo>
                        <a:cubicBezTo>
                          <a:pt x="3420149" y="732751"/>
                          <a:pt x="3367148" y="909028"/>
                          <a:pt x="3395270" y="1200329"/>
                        </a:cubicBezTo>
                        <a:cubicBezTo>
                          <a:pt x="3253156" y="1220349"/>
                          <a:pt x="2978416" y="1217144"/>
                          <a:pt x="2784121" y="1200329"/>
                        </a:cubicBezTo>
                        <a:cubicBezTo>
                          <a:pt x="2589826" y="1183514"/>
                          <a:pt x="2330254" y="1222221"/>
                          <a:pt x="2139020" y="1200329"/>
                        </a:cubicBezTo>
                        <a:cubicBezTo>
                          <a:pt x="1947786" y="1178437"/>
                          <a:pt x="1826137" y="1192799"/>
                          <a:pt x="1527871" y="1200329"/>
                        </a:cubicBezTo>
                        <a:cubicBezTo>
                          <a:pt x="1229605" y="1207859"/>
                          <a:pt x="1049015" y="1205294"/>
                          <a:pt x="780912" y="1200329"/>
                        </a:cubicBezTo>
                        <a:cubicBezTo>
                          <a:pt x="512809" y="1195364"/>
                          <a:pt x="366896" y="1231262"/>
                          <a:pt x="0" y="1200329"/>
                        </a:cubicBezTo>
                        <a:cubicBezTo>
                          <a:pt x="-29216" y="963343"/>
                          <a:pt x="-1358" y="789589"/>
                          <a:pt x="0" y="600165"/>
                        </a:cubicBezTo>
                        <a:cubicBezTo>
                          <a:pt x="1358" y="410741"/>
                          <a:pt x="-24653" y="29242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noProof="0" dirty="0">
                <a:latin typeface="Arial Narrow" panose="020B0606020202030204" pitchFamily="34" charset="0"/>
              </a:rPr>
              <a:t>Area</a:t>
            </a:r>
            <a:endParaRPr lang="es-CO" sz="1200" dirty="0">
              <a:latin typeface="Arial Narrow" panose="020B060602020203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7B37CD1-1FF0-C67D-034D-A2596FEF0666}"/>
              </a:ext>
            </a:extLst>
          </p:cNvPr>
          <p:cNvSpPr txBox="1"/>
          <p:nvPr/>
        </p:nvSpPr>
        <p:spPr>
          <a:xfrm>
            <a:off x="1391460" y="2437761"/>
            <a:ext cx="2086791" cy="306467"/>
          </a:xfrm>
          <a:prstGeom prst="roundRect">
            <a:avLst/>
          </a:prstGeom>
          <a:solidFill>
            <a:schemeClr val="tx1">
              <a:lumMod val="10000"/>
              <a:lumOff val="90000"/>
              <a:alpha val="51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244743324">
                  <a:custGeom>
                    <a:avLst/>
                    <a:gdLst>
                      <a:gd name="csX0" fmla="*/ 0 w 3395270"/>
                      <a:gd name="csY0" fmla="*/ 0 h 1200329"/>
                      <a:gd name="csX1" fmla="*/ 679054 w 3395270"/>
                      <a:gd name="csY1" fmla="*/ 0 h 1200329"/>
                      <a:gd name="csX2" fmla="*/ 1392061 w 3395270"/>
                      <a:gd name="csY2" fmla="*/ 0 h 1200329"/>
                      <a:gd name="csX3" fmla="*/ 2071115 w 3395270"/>
                      <a:gd name="csY3" fmla="*/ 0 h 1200329"/>
                      <a:gd name="csX4" fmla="*/ 2682263 w 3395270"/>
                      <a:gd name="csY4" fmla="*/ 0 h 1200329"/>
                      <a:gd name="csX5" fmla="*/ 3395270 w 3395270"/>
                      <a:gd name="csY5" fmla="*/ 0 h 1200329"/>
                      <a:gd name="csX6" fmla="*/ 3395270 w 3395270"/>
                      <a:gd name="csY6" fmla="*/ 600165 h 1200329"/>
                      <a:gd name="csX7" fmla="*/ 3395270 w 3395270"/>
                      <a:gd name="csY7" fmla="*/ 1200329 h 1200329"/>
                      <a:gd name="csX8" fmla="*/ 2784121 w 3395270"/>
                      <a:gd name="csY8" fmla="*/ 1200329 h 1200329"/>
                      <a:gd name="csX9" fmla="*/ 2139020 w 3395270"/>
                      <a:gd name="csY9" fmla="*/ 1200329 h 1200329"/>
                      <a:gd name="csX10" fmla="*/ 1527871 w 3395270"/>
                      <a:gd name="csY10" fmla="*/ 1200329 h 1200329"/>
                      <a:gd name="csX11" fmla="*/ 780912 w 3395270"/>
                      <a:gd name="csY11" fmla="*/ 1200329 h 1200329"/>
                      <a:gd name="csX12" fmla="*/ 0 w 3395270"/>
                      <a:gd name="csY12" fmla="*/ 1200329 h 1200329"/>
                      <a:gd name="csX13" fmla="*/ 0 w 3395270"/>
                      <a:gd name="csY13" fmla="*/ 600165 h 1200329"/>
                      <a:gd name="csX14" fmla="*/ 0 w 3395270"/>
                      <a:gd name="csY14" fmla="*/ 0 h 120032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395270" h="1200329" extrusionOk="0">
                        <a:moveTo>
                          <a:pt x="0" y="0"/>
                        </a:moveTo>
                        <a:cubicBezTo>
                          <a:pt x="156698" y="2474"/>
                          <a:pt x="508065" y="-7165"/>
                          <a:pt x="679054" y="0"/>
                        </a:cubicBezTo>
                        <a:cubicBezTo>
                          <a:pt x="850043" y="7165"/>
                          <a:pt x="1220829" y="16545"/>
                          <a:pt x="1392061" y="0"/>
                        </a:cubicBezTo>
                        <a:cubicBezTo>
                          <a:pt x="1563293" y="-16545"/>
                          <a:pt x="1895588" y="23955"/>
                          <a:pt x="2071115" y="0"/>
                        </a:cubicBezTo>
                        <a:cubicBezTo>
                          <a:pt x="2246642" y="-23955"/>
                          <a:pt x="2425562" y="-16560"/>
                          <a:pt x="2682263" y="0"/>
                        </a:cubicBezTo>
                        <a:cubicBezTo>
                          <a:pt x="2938964" y="16560"/>
                          <a:pt x="3056881" y="15622"/>
                          <a:pt x="3395270" y="0"/>
                        </a:cubicBezTo>
                        <a:cubicBezTo>
                          <a:pt x="3404770" y="293432"/>
                          <a:pt x="3370391" y="467579"/>
                          <a:pt x="3395270" y="600165"/>
                        </a:cubicBezTo>
                        <a:cubicBezTo>
                          <a:pt x="3420149" y="732751"/>
                          <a:pt x="3367148" y="909028"/>
                          <a:pt x="3395270" y="1200329"/>
                        </a:cubicBezTo>
                        <a:cubicBezTo>
                          <a:pt x="3253156" y="1220349"/>
                          <a:pt x="2978416" y="1217144"/>
                          <a:pt x="2784121" y="1200329"/>
                        </a:cubicBezTo>
                        <a:cubicBezTo>
                          <a:pt x="2589826" y="1183514"/>
                          <a:pt x="2330254" y="1222221"/>
                          <a:pt x="2139020" y="1200329"/>
                        </a:cubicBezTo>
                        <a:cubicBezTo>
                          <a:pt x="1947786" y="1178437"/>
                          <a:pt x="1826137" y="1192799"/>
                          <a:pt x="1527871" y="1200329"/>
                        </a:cubicBezTo>
                        <a:cubicBezTo>
                          <a:pt x="1229605" y="1207859"/>
                          <a:pt x="1049015" y="1205294"/>
                          <a:pt x="780912" y="1200329"/>
                        </a:cubicBezTo>
                        <a:cubicBezTo>
                          <a:pt x="512809" y="1195364"/>
                          <a:pt x="366896" y="1231262"/>
                          <a:pt x="0" y="1200329"/>
                        </a:cubicBezTo>
                        <a:cubicBezTo>
                          <a:pt x="-29216" y="963343"/>
                          <a:pt x="-1358" y="789589"/>
                          <a:pt x="0" y="600165"/>
                        </a:cubicBezTo>
                        <a:cubicBezTo>
                          <a:pt x="1358" y="410741"/>
                          <a:pt x="-24653" y="29242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Arial Narrow" panose="020B0606020202030204" pitchFamily="34" charset="0"/>
              </a:rPr>
              <a:t>Pendiente media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315AFAA-5034-B705-78EB-5E22D0946038}"/>
              </a:ext>
            </a:extLst>
          </p:cNvPr>
          <p:cNvSpPr txBox="1"/>
          <p:nvPr/>
        </p:nvSpPr>
        <p:spPr>
          <a:xfrm>
            <a:off x="1391460" y="2883478"/>
            <a:ext cx="2086791" cy="306467"/>
          </a:xfrm>
          <a:prstGeom prst="roundRect">
            <a:avLst/>
          </a:prstGeom>
          <a:solidFill>
            <a:schemeClr val="tx1">
              <a:lumMod val="10000"/>
              <a:lumOff val="90000"/>
              <a:alpha val="51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244743324">
                  <a:custGeom>
                    <a:avLst/>
                    <a:gdLst>
                      <a:gd name="csX0" fmla="*/ 0 w 3395270"/>
                      <a:gd name="csY0" fmla="*/ 0 h 1200329"/>
                      <a:gd name="csX1" fmla="*/ 679054 w 3395270"/>
                      <a:gd name="csY1" fmla="*/ 0 h 1200329"/>
                      <a:gd name="csX2" fmla="*/ 1392061 w 3395270"/>
                      <a:gd name="csY2" fmla="*/ 0 h 1200329"/>
                      <a:gd name="csX3" fmla="*/ 2071115 w 3395270"/>
                      <a:gd name="csY3" fmla="*/ 0 h 1200329"/>
                      <a:gd name="csX4" fmla="*/ 2682263 w 3395270"/>
                      <a:gd name="csY4" fmla="*/ 0 h 1200329"/>
                      <a:gd name="csX5" fmla="*/ 3395270 w 3395270"/>
                      <a:gd name="csY5" fmla="*/ 0 h 1200329"/>
                      <a:gd name="csX6" fmla="*/ 3395270 w 3395270"/>
                      <a:gd name="csY6" fmla="*/ 600165 h 1200329"/>
                      <a:gd name="csX7" fmla="*/ 3395270 w 3395270"/>
                      <a:gd name="csY7" fmla="*/ 1200329 h 1200329"/>
                      <a:gd name="csX8" fmla="*/ 2784121 w 3395270"/>
                      <a:gd name="csY8" fmla="*/ 1200329 h 1200329"/>
                      <a:gd name="csX9" fmla="*/ 2139020 w 3395270"/>
                      <a:gd name="csY9" fmla="*/ 1200329 h 1200329"/>
                      <a:gd name="csX10" fmla="*/ 1527871 w 3395270"/>
                      <a:gd name="csY10" fmla="*/ 1200329 h 1200329"/>
                      <a:gd name="csX11" fmla="*/ 780912 w 3395270"/>
                      <a:gd name="csY11" fmla="*/ 1200329 h 1200329"/>
                      <a:gd name="csX12" fmla="*/ 0 w 3395270"/>
                      <a:gd name="csY12" fmla="*/ 1200329 h 1200329"/>
                      <a:gd name="csX13" fmla="*/ 0 w 3395270"/>
                      <a:gd name="csY13" fmla="*/ 600165 h 1200329"/>
                      <a:gd name="csX14" fmla="*/ 0 w 3395270"/>
                      <a:gd name="csY14" fmla="*/ 0 h 120032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395270" h="1200329" extrusionOk="0">
                        <a:moveTo>
                          <a:pt x="0" y="0"/>
                        </a:moveTo>
                        <a:cubicBezTo>
                          <a:pt x="156698" y="2474"/>
                          <a:pt x="508065" y="-7165"/>
                          <a:pt x="679054" y="0"/>
                        </a:cubicBezTo>
                        <a:cubicBezTo>
                          <a:pt x="850043" y="7165"/>
                          <a:pt x="1220829" y="16545"/>
                          <a:pt x="1392061" y="0"/>
                        </a:cubicBezTo>
                        <a:cubicBezTo>
                          <a:pt x="1563293" y="-16545"/>
                          <a:pt x="1895588" y="23955"/>
                          <a:pt x="2071115" y="0"/>
                        </a:cubicBezTo>
                        <a:cubicBezTo>
                          <a:pt x="2246642" y="-23955"/>
                          <a:pt x="2425562" y="-16560"/>
                          <a:pt x="2682263" y="0"/>
                        </a:cubicBezTo>
                        <a:cubicBezTo>
                          <a:pt x="2938964" y="16560"/>
                          <a:pt x="3056881" y="15622"/>
                          <a:pt x="3395270" y="0"/>
                        </a:cubicBezTo>
                        <a:cubicBezTo>
                          <a:pt x="3404770" y="293432"/>
                          <a:pt x="3370391" y="467579"/>
                          <a:pt x="3395270" y="600165"/>
                        </a:cubicBezTo>
                        <a:cubicBezTo>
                          <a:pt x="3420149" y="732751"/>
                          <a:pt x="3367148" y="909028"/>
                          <a:pt x="3395270" y="1200329"/>
                        </a:cubicBezTo>
                        <a:cubicBezTo>
                          <a:pt x="3253156" y="1220349"/>
                          <a:pt x="2978416" y="1217144"/>
                          <a:pt x="2784121" y="1200329"/>
                        </a:cubicBezTo>
                        <a:cubicBezTo>
                          <a:pt x="2589826" y="1183514"/>
                          <a:pt x="2330254" y="1222221"/>
                          <a:pt x="2139020" y="1200329"/>
                        </a:cubicBezTo>
                        <a:cubicBezTo>
                          <a:pt x="1947786" y="1178437"/>
                          <a:pt x="1826137" y="1192799"/>
                          <a:pt x="1527871" y="1200329"/>
                        </a:cubicBezTo>
                        <a:cubicBezTo>
                          <a:pt x="1229605" y="1207859"/>
                          <a:pt x="1049015" y="1205294"/>
                          <a:pt x="780912" y="1200329"/>
                        </a:cubicBezTo>
                        <a:cubicBezTo>
                          <a:pt x="512809" y="1195364"/>
                          <a:pt x="366896" y="1231262"/>
                          <a:pt x="0" y="1200329"/>
                        </a:cubicBezTo>
                        <a:cubicBezTo>
                          <a:pt x="-29216" y="963343"/>
                          <a:pt x="-1358" y="789589"/>
                          <a:pt x="0" y="600165"/>
                        </a:cubicBezTo>
                        <a:cubicBezTo>
                          <a:pt x="1358" y="410741"/>
                          <a:pt x="-24653" y="29242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Arial Narrow" panose="020B0606020202030204" pitchFamily="34" charset="0"/>
              </a:rPr>
              <a:t>LAI medio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E1F4FF4-0A1E-1EBF-2C2F-17B11E25D99A}"/>
              </a:ext>
            </a:extLst>
          </p:cNvPr>
          <p:cNvSpPr txBox="1"/>
          <p:nvPr/>
        </p:nvSpPr>
        <p:spPr>
          <a:xfrm>
            <a:off x="5597438" y="2039498"/>
            <a:ext cx="2395953" cy="306467"/>
          </a:xfrm>
          <a:prstGeom prst="roundRect">
            <a:avLst/>
          </a:prstGeom>
          <a:solidFill>
            <a:schemeClr val="tx1">
              <a:lumMod val="10000"/>
              <a:lumOff val="90000"/>
              <a:alpha val="51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244743324">
                  <a:custGeom>
                    <a:avLst/>
                    <a:gdLst>
                      <a:gd name="csX0" fmla="*/ 0 w 3395270"/>
                      <a:gd name="csY0" fmla="*/ 0 h 1200329"/>
                      <a:gd name="csX1" fmla="*/ 679054 w 3395270"/>
                      <a:gd name="csY1" fmla="*/ 0 h 1200329"/>
                      <a:gd name="csX2" fmla="*/ 1392061 w 3395270"/>
                      <a:gd name="csY2" fmla="*/ 0 h 1200329"/>
                      <a:gd name="csX3" fmla="*/ 2071115 w 3395270"/>
                      <a:gd name="csY3" fmla="*/ 0 h 1200329"/>
                      <a:gd name="csX4" fmla="*/ 2682263 w 3395270"/>
                      <a:gd name="csY4" fmla="*/ 0 h 1200329"/>
                      <a:gd name="csX5" fmla="*/ 3395270 w 3395270"/>
                      <a:gd name="csY5" fmla="*/ 0 h 1200329"/>
                      <a:gd name="csX6" fmla="*/ 3395270 w 3395270"/>
                      <a:gd name="csY6" fmla="*/ 600165 h 1200329"/>
                      <a:gd name="csX7" fmla="*/ 3395270 w 3395270"/>
                      <a:gd name="csY7" fmla="*/ 1200329 h 1200329"/>
                      <a:gd name="csX8" fmla="*/ 2784121 w 3395270"/>
                      <a:gd name="csY8" fmla="*/ 1200329 h 1200329"/>
                      <a:gd name="csX9" fmla="*/ 2139020 w 3395270"/>
                      <a:gd name="csY9" fmla="*/ 1200329 h 1200329"/>
                      <a:gd name="csX10" fmla="*/ 1527871 w 3395270"/>
                      <a:gd name="csY10" fmla="*/ 1200329 h 1200329"/>
                      <a:gd name="csX11" fmla="*/ 780912 w 3395270"/>
                      <a:gd name="csY11" fmla="*/ 1200329 h 1200329"/>
                      <a:gd name="csX12" fmla="*/ 0 w 3395270"/>
                      <a:gd name="csY12" fmla="*/ 1200329 h 1200329"/>
                      <a:gd name="csX13" fmla="*/ 0 w 3395270"/>
                      <a:gd name="csY13" fmla="*/ 600165 h 1200329"/>
                      <a:gd name="csX14" fmla="*/ 0 w 3395270"/>
                      <a:gd name="csY14" fmla="*/ 0 h 120032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395270" h="1200329" extrusionOk="0">
                        <a:moveTo>
                          <a:pt x="0" y="0"/>
                        </a:moveTo>
                        <a:cubicBezTo>
                          <a:pt x="156698" y="2474"/>
                          <a:pt x="508065" y="-7165"/>
                          <a:pt x="679054" y="0"/>
                        </a:cubicBezTo>
                        <a:cubicBezTo>
                          <a:pt x="850043" y="7165"/>
                          <a:pt x="1220829" y="16545"/>
                          <a:pt x="1392061" y="0"/>
                        </a:cubicBezTo>
                        <a:cubicBezTo>
                          <a:pt x="1563293" y="-16545"/>
                          <a:pt x="1895588" y="23955"/>
                          <a:pt x="2071115" y="0"/>
                        </a:cubicBezTo>
                        <a:cubicBezTo>
                          <a:pt x="2246642" y="-23955"/>
                          <a:pt x="2425562" y="-16560"/>
                          <a:pt x="2682263" y="0"/>
                        </a:cubicBezTo>
                        <a:cubicBezTo>
                          <a:pt x="2938964" y="16560"/>
                          <a:pt x="3056881" y="15622"/>
                          <a:pt x="3395270" y="0"/>
                        </a:cubicBezTo>
                        <a:cubicBezTo>
                          <a:pt x="3404770" y="293432"/>
                          <a:pt x="3370391" y="467579"/>
                          <a:pt x="3395270" y="600165"/>
                        </a:cubicBezTo>
                        <a:cubicBezTo>
                          <a:pt x="3420149" y="732751"/>
                          <a:pt x="3367148" y="909028"/>
                          <a:pt x="3395270" y="1200329"/>
                        </a:cubicBezTo>
                        <a:cubicBezTo>
                          <a:pt x="3253156" y="1220349"/>
                          <a:pt x="2978416" y="1217144"/>
                          <a:pt x="2784121" y="1200329"/>
                        </a:cubicBezTo>
                        <a:cubicBezTo>
                          <a:pt x="2589826" y="1183514"/>
                          <a:pt x="2330254" y="1222221"/>
                          <a:pt x="2139020" y="1200329"/>
                        </a:cubicBezTo>
                        <a:cubicBezTo>
                          <a:pt x="1947786" y="1178437"/>
                          <a:pt x="1826137" y="1192799"/>
                          <a:pt x="1527871" y="1200329"/>
                        </a:cubicBezTo>
                        <a:cubicBezTo>
                          <a:pt x="1229605" y="1207859"/>
                          <a:pt x="1049015" y="1205294"/>
                          <a:pt x="780912" y="1200329"/>
                        </a:cubicBezTo>
                        <a:cubicBezTo>
                          <a:pt x="512809" y="1195364"/>
                          <a:pt x="366896" y="1231262"/>
                          <a:pt x="0" y="1200329"/>
                        </a:cubicBezTo>
                        <a:cubicBezTo>
                          <a:pt x="-29216" y="963343"/>
                          <a:pt x="-1358" y="789589"/>
                          <a:pt x="0" y="600165"/>
                        </a:cubicBezTo>
                        <a:cubicBezTo>
                          <a:pt x="1358" y="410741"/>
                          <a:pt x="-24653" y="29242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Arial Narrow" panose="020B0606020202030204" pitchFamily="34" charset="0"/>
              </a:rPr>
              <a:t>Índice de posición topográfica (TPI)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EF529B4-659E-C4D3-647F-15DBE7F88033}"/>
              </a:ext>
            </a:extLst>
          </p:cNvPr>
          <p:cNvSpPr txBox="1"/>
          <p:nvPr/>
        </p:nvSpPr>
        <p:spPr>
          <a:xfrm>
            <a:off x="5597438" y="2488370"/>
            <a:ext cx="2395953" cy="306467"/>
          </a:xfrm>
          <a:prstGeom prst="roundRect">
            <a:avLst/>
          </a:prstGeom>
          <a:solidFill>
            <a:schemeClr val="tx1">
              <a:lumMod val="10000"/>
              <a:lumOff val="90000"/>
              <a:alpha val="51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244743324">
                  <a:custGeom>
                    <a:avLst/>
                    <a:gdLst>
                      <a:gd name="csX0" fmla="*/ 0 w 3395270"/>
                      <a:gd name="csY0" fmla="*/ 0 h 1200329"/>
                      <a:gd name="csX1" fmla="*/ 679054 w 3395270"/>
                      <a:gd name="csY1" fmla="*/ 0 h 1200329"/>
                      <a:gd name="csX2" fmla="*/ 1392061 w 3395270"/>
                      <a:gd name="csY2" fmla="*/ 0 h 1200329"/>
                      <a:gd name="csX3" fmla="*/ 2071115 w 3395270"/>
                      <a:gd name="csY3" fmla="*/ 0 h 1200329"/>
                      <a:gd name="csX4" fmla="*/ 2682263 w 3395270"/>
                      <a:gd name="csY4" fmla="*/ 0 h 1200329"/>
                      <a:gd name="csX5" fmla="*/ 3395270 w 3395270"/>
                      <a:gd name="csY5" fmla="*/ 0 h 1200329"/>
                      <a:gd name="csX6" fmla="*/ 3395270 w 3395270"/>
                      <a:gd name="csY6" fmla="*/ 600165 h 1200329"/>
                      <a:gd name="csX7" fmla="*/ 3395270 w 3395270"/>
                      <a:gd name="csY7" fmla="*/ 1200329 h 1200329"/>
                      <a:gd name="csX8" fmla="*/ 2784121 w 3395270"/>
                      <a:gd name="csY8" fmla="*/ 1200329 h 1200329"/>
                      <a:gd name="csX9" fmla="*/ 2139020 w 3395270"/>
                      <a:gd name="csY9" fmla="*/ 1200329 h 1200329"/>
                      <a:gd name="csX10" fmla="*/ 1527871 w 3395270"/>
                      <a:gd name="csY10" fmla="*/ 1200329 h 1200329"/>
                      <a:gd name="csX11" fmla="*/ 780912 w 3395270"/>
                      <a:gd name="csY11" fmla="*/ 1200329 h 1200329"/>
                      <a:gd name="csX12" fmla="*/ 0 w 3395270"/>
                      <a:gd name="csY12" fmla="*/ 1200329 h 1200329"/>
                      <a:gd name="csX13" fmla="*/ 0 w 3395270"/>
                      <a:gd name="csY13" fmla="*/ 600165 h 1200329"/>
                      <a:gd name="csX14" fmla="*/ 0 w 3395270"/>
                      <a:gd name="csY14" fmla="*/ 0 h 120032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395270" h="1200329" extrusionOk="0">
                        <a:moveTo>
                          <a:pt x="0" y="0"/>
                        </a:moveTo>
                        <a:cubicBezTo>
                          <a:pt x="156698" y="2474"/>
                          <a:pt x="508065" y="-7165"/>
                          <a:pt x="679054" y="0"/>
                        </a:cubicBezTo>
                        <a:cubicBezTo>
                          <a:pt x="850043" y="7165"/>
                          <a:pt x="1220829" y="16545"/>
                          <a:pt x="1392061" y="0"/>
                        </a:cubicBezTo>
                        <a:cubicBezTo>
                          <a:pt x="1563293" y="-16545"/>
                          <a:pt x="1895588" y="23955"/>
                          <a:pt x="2071115" y="0"/>
                        </a:cubicBezTo>
                        <a:cubicBezTo>
                          <a:pt x="2246642" y="-23955"/>
                          <a:pt x="2425562" y="-16560"/>
                          <a:pt x="2682263" y="0"/>
                        </a:cubicBezTo>
                        <a:cubicBezTo>
                          <a:pt x="2938964" y="16560"/>
                          <a:pt x="3056881" y="15622"/>
                          <a:pt x="3395270" y="0"/>
                        </a:cubicBezTo>
                        <a:cubicBezTo>
                          <a:pt x="3404770" y="293432"/>
                          <a:pt x="3370391" y="467579"/>
                          <a:pt x="3395270" y="600165"/>
                        </a:cubicBezTo>
                        <a:cubicBezTo>
                          <a:pt x="3420149" y="732751"/>
                          <a:pt x="3367148" y="909028"/>
                          <a:pt x="3395270" y="1200329"/>
                        </a:cubicBezTo>
                        <a:cubicBezTo>
                          <a:pt x="3253156" y="1220349"/>
                          <a:pt x="2978416" y="1217144"/>
                          <a:pt x="2784121" y="1200329"/>
                        </a:cubicBezTo>
                        <a:cubicBezTo>
                          <a:pt x="2589826" y="1183514"/>
                          <a:pt x="2330254" y="1222221"/>
                          <a:pt x="2139020" y="1200329"/>
                        </a:cubicBezTo>
                        <a:cubicBezTo>
                          <a:pt x="1947786" y="1178437"/>
                          <a:pt x="1826137" y="1192799"/>
                          <a:pt x="1527871" y="1200329"/>
                        </a:cubicBezTo>
                        <a:cubicBezTo>
                          <a:pt x="1229605" y="1207859"/>
                          <a:pt x="1049015" y="1205294"/>
                          <a:pt x="780912" y="1200329"/>
                        </a:cubicBezTo>
                        <a:cubicBezTo>
                          <a:pt x="512809" y="1195364"/>
                          <a:pt x="366896" y="1231262"/>
                          <a:pt x="0" y="1200329"/>
                        </a:cubicBezTo>
                        <a:cubicBezTo>
                          <a:pt x="-29216" y="963343"/>
                          <a:pt x="-1358" y="789589"/>
                          <a:pt x="0" y="600165"/>
                        </a:cubicBezTo>
                        <a:cubicBezTo>
                          <a:pt x="1358" y="410741"/>
                          <a:pt x="-24653" y="29242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Arial Narrow" panose="020B0606020202030204" pitchFamily="34" charset="0"/>
              </a:rPr>
              <a:t>Índice de rugosidad topográfica (TRI)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1310C6C-C8F9-D15B-ACE7-E23AF8A1388D}"/>
              </a:ext>
            </a:extLst>
          </p:cNvPr>
          <p:cNvSpPr txBox="1"/>
          <p:nvPr/>
        </p:nvSpPr>
        <p:spPr>
          <a:xfrm>
            <a:off x="1236877" y="3346256"/>
            <a:ext cx="2395953" cy="306467"/>
          </a:xfrm>
          <a:prstGeom prst="roundRect">
            <a:avLst/>
          </a:prstGeom>
          <a:solidFill>
            <a:schemeClr val="tx1">
              <a:lumMod val="10000"/>
              <a:lumOff val="90000"/>
              <a:alpha val="51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244743324">
                  <a:custGeom>
                    <a:avLst/>
                    <a:gdLst>
                      <a:gd name="csX0" fmla="*/ 0 w 3395270"/>
                      <a:gd name="csY0" fmla="*/ 0 h 1200329"/>
                      <a:gd name="csX1" fmla="*/ 679054 w 3395270"/>
                      <a:gd name="csY1" fmla="*/ 0 h 1200329"/>
                      <a:gd name="csX2" fmla="*/ 1392061 w 3395270"/>
                      <a:gd name="csY2" fmla="*/ 0 h 1200329"/>
                      <a:gd name="csX3" fmla="*/ 2071115 w 3395270"/>
                      <a:gd name="csY3" fmla="*/ 0 h 1200329"/>
                      <a:gd name="csX4" fmla="*/ 2682263 w 3395270"/>
                      <a:gd name="csY4" fmla="*/ 0 h 1200329"/>
                      <a:gd name="csX5" fmla="*/ 3395270 w 3395270"/>
                      <a:gd name="csY5" fmla="*/ 0 h 1200329"/>
                      <a:gd name="csX6" fmla="*/ 3395270 w 3395270"/>
                      <a:gd name="csY6" fmla="*/ 600165 h 1200329"/>
                      <a:gd name="csX7" fmla="*/ 3395270 w 3395270"/>
                      <a:gd name="csY7" fmla="*/ 1200329 h 1200329"/>
                      <a:gd name="csX8" fmla="*/ 2784121 w 3395270"/>
                      <a:gd name="csY8" fmla="*/ 1200329 h 1200329"/>
                      <a:gd name="csX9" fmla="*/ 2139020 w 3395270"/>
                      <a:gd name="csY9" fmla="*/ 1200329 h 1200329"/>
                      <a:gd name="csX10" fmla="*/ 1527871 w 3395270"/>
                      <a:gd name="csY10" fmla="*/ 1200329 h 1200329"/>
                      <a:gd name="csX11" fmla="*/ 780912 w 3395270"/>
                      <a:gd name="csY11" fmla="*/ 1200329 h 1200329"/>
                      <a:gd name="csX12" fmla="*/ 0 w 3395270"/>
                      <a:gd name="csY12" fmla="*/ 1200329 h 1200329"/>
                      <a:gd name="csX13" fmla="*/ 0 w 3395270"/>
                      <a:gd name="csY13" fmla="*/ 600165 h 1200329"/>
                      <a:gd name="csX14" fmla="*/ 0 w 3395270"/>
                      <a:gd name="csY14" fmla="*/ 0 h 120032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395270" h="1200329" extrusionOk="0">
                        <a:moveTo>
                          <a:pt x="0" y="0"/>
                        </a:moveTo>
                        <a:cubicBezTo>
                          <a:pt x="156698" y="2474"/>
                          <a:pt x="508065" y="-7165"/>
                          <a:pt x="679054" y="0"/>
                        </a:cubicBezTo>
                        <a:cubicBezTo>
                          <a:pt x="850043" y="7165"/>
                          <a:pt x="1220829" y="16545"/>
                          <a:pt x="1392061" y="0"/>
                        </a:cubicBezTo>
                        <a:cubicBezTo>
                          <a:pt x="1563293" y="-16545"/>
                          <a:pt x="1895588" y="23955"/>
                          <a:pt x="2071115" y="0"/>
                        </a:cubicBezTo>
                        <a:cubicBezTo>
                          <a:pt x="2246642" y="-23955"/>
                          <a:pt x="2425562" y="-16560"/>
                          <a:pt x="2682263" y="0"/>
                        </a:cubicBezTo>
                        <a:cubicBezTo>
                          <a:pt x="2938964" y="16560"/>
                          <a:pt x="3056881" y="15622"/>
                          <a:pt x="3395270" y="0"/>
                        </a:cubicBezTo>
                        <a:cubicBezTo>
                          <a:pt x="3404770" y="293432"/>
                          <a:pt x="3370391" y="467579"/>
                          <a:pt x="3395270" y="600165"/>
                        </a:cubicBezTo>
                        <a:cubicBezTo>
                          <a:pt x="3420149" y="732751"/>
                          <a:pt x="3367148" y="909028"/>
                          <a:pt x="3395270" y="1200329"/>
                        </a:cubicBezTo>
                        <a:cubicBezTo>
                          <a:pt x="3253156" y="1220349"/>
                          <a:pt x="2978416" y="1217144"/>
                          <a:pt x="2784121" y="1200329"/>
                        </a:cubicBezTo>
                        <a:cubicBezTo>
                          <a:pt x="2589826" y="1183514"/>
                          <a:pt x="2330254" y="1222221"/>
                          <a:pt x="2139020" y="1200329"/>
                        </a:cubicBezTo>
                        <a:cubicBezTo>
                          <a:pt x="1947786" y="1178437"/>
                          <a:pt x="1826137" y="1192799"/>
                          <a:pt x="1527871" y="1200329"/>
                        </a:cubicBezTo>
                        <a:cubicBezTo>
                          <a:pt x="1229605" y="1207859"/>
                          <a:pt x="1049015" y="1205294"/>
                          <a:pt x="780912" y="1200329"/>
                        </a:cubicBezTo>
                        <a:cubicBezTo>
                          <a:pt x="512809" y="1195364"/>
                          <a:pt x="366896" y="1231262"/>
                          <a:pt x="0" y="1200329"/>
                        </a:cubicBezTo>
                        <a:cubicBezTo>
                          <a:pt x="-29216" y="963343"/>
                          <a:pt x="-1358" y="789589"/>
                          <a:pt x="0" y="600165"/>
                        </a:cubicBezTo>
                        <a:cubicBezTo>
                          <a:pt x="1358" y="410741"/>
                          <a:pt x="-24653" y="29242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Arial Narrow" panose="020B0606020202030204" pitchFamily="34" charset="0"/>
              </a:rPr>
              <a:t>Índice de humedad topográfica (TWI)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9EFA4B6-5F72-CF95-9071-4DD9814D055C}"/>
              </a:ext>
            </a:extLst>
          </p:cNvPr>
          <p:cNvSpPr txBox="1"/>
          <p:nvPr/>
        </p:nvSpPr>
        <p:spPr>
          <a:xfrm>
            <a:off x="5597437" y="2894628"/>
            <a:ext cx="2395953" cy="306467"/>
          </a:xfrm>
          <a:prstGeom prst="roundRect">
            <a:avLst/>
          </a:prstGeom>
          <a:solidFill>
            <a:schemeClr val="tx1">
              <a:lumMod val="10000"/>
              <a:lumOff val="90000"/>
              <a:alpha val="51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244743324">
                  <a:custGeom>
                    <a:avLst/>
                    <a:gdLst>
                      <a:gd name="csX0" fmla="*/ 0 w 3395270"/>
                      <a:gd name="csY0" fmla="*/ 0 h 1200329"/>
                      <a:gd name="csX1" fmla="*/ 679054 w 3395270"/>
                      <a:gd name="csY1" fmla="*/ 0 h 1200329"/>
                      <a:gd name="csX2" fmla="*/ 1392061 w 3395270"/>
                      <a:gd name="csY2" fmla="*/ 0 h 1200329"/>
                      <a:gd name="csX3" fmla="*/ 2071115 w 3395270"/>
                      <a:gd name="csY3" fmla="*/ 0 h 1200329"/>
                      <a:gd name="csX4" fmla="*/ 2682263 w 3395270"/>
                      <a:gd name="csY4" fmla="*/ 0 h 1200329"/>
                      <a:gd name="csX5" fmla="*/ 3395270 w 3395270"/>
                      <a:gd name="csY5" fmla="*/ 0 h 1200329"/>
                      <a:gd name="csX6" fmla="*/ 3395270 w 3395270"/>
                      <a:gd name="csY6" fmla="*/ 600165 h 1200329"/>
                      <a:gd name="csX7" fmla="*/ 3395270 w 3395270"/>
                      <a:gd name="csY7" fmla="*/ 1200329 h 1200329"/>
                      <a:gd name="csX8" fmla="*/ 2784121 w 3395270"/>
                      <a:gd name="csY8" fmla="*/ 1200329 h 1200329"/>
                      <a:gd name="csX9" fmla="*/ 2139020 w 3395270"/>
                      <a:gd name="csY9" fmla="*/ 1200329 h 1200329"/>
                      <a:gd name="csX10" fmla="*/ 1527871 w 3395270"/>
                      <a:gd name="csY10" fmla="*/ 1200329 h 1200329"/>
                      <a:gd name="csX11" fmla="*/ 780912 w 3395270"/>
                      <a:gd name="csY11" fmla="*/ 1200329 h 1200329"/>
                      <a:gd name="csX12" fmla="*/ 0 w 3395270"/>
                      <a:gd name="csY12" fmla="*/ 1200329 h 1200329"/>
                      <a:gd name="csX13" fmla="*/ 0 w 3395270"/>
                      <a:gd name="csY13" fmla="*/ 600165 h 1200329"/>
                      <a:gd name="csX14" fmla="*/ 0 w 3395270"/>
                      <a:gd name="csY14" fmla="*/ 0 h 120032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395270" h="1200329" extrusionOk="0">
                        <a:moveTo>
                          <a:pt x="0" y="0"/>
                        </a:moveTo>
                        <a:cubicBezTo>
                          <a:pt x="156698" y="2474"/>
                          <a:pt x="508065" y="-7165"/>
                          <a:pt x="679054" y="0"/>
                        </a:cubicBezTo>
                        <a:cubicBezTo>
                          <a:pt x="850043" y="7165"/>
                          <a:pt x="1220829" y="16545"/>
                          <a:pt x="1392061" y="0"/>
                        </a:cubicBezTo>
                        <a:cubicBezTo>
                          <a:pt x="1563293" y="-16545"/>
                          <a:pt x="1895588" y="23955"/>
                          <a:pt x="2071115" y="0"/>
                        </a:cubicBezTo>
                        <a:cubicBezTo>
                          <a:pt x="2246642" y="-23955"/>
                          <a:pt x="2425562" y="-16560"/>
                          <a:pt x="2682263" y="0"/>
                        </a:cubicBezTo>
                        <a:cubicBezTo>
                          <a:pt x="2938964" y="16560"/>
                          <a:pt x="3056881" y="15622"/>
                          <a:pt x="3395270" y="0"/>
                        </a:cubicBezTo>
                        <a:cubicBezTo>
                          <a:pt x="3404770" y="293432"/>
                          <a:pt x="3370391" y="467579"/>
                          <a:pt x="3395270" y="600165"/>
                        </a:cubicBezTo>
                        <a:cubicBezTo>
                          <a:pt x="3420149" y="732751"/>
                          <a:pt x="3367148" y="909028"/>
                          <a:pt x="3395270" y="1200329"/>
                        </a:cubicBezTo>
                        <a:cubicBezTo>
                          <a:pt x="3253156" y="1220349"/>
                          <a:pt x="2978416" y="1217144"/>
                          <a:pt x="2784121" y="1200329"/>
                        </a:cubicBezTo>
                        <a:cubicBezTo>
                          <a:pt x="2589826" y="1183514"/>
                          <a:pt x="2330254" y="1222221"/>
                          <a:pt x="2139020" y="1200329"/>
                        </a:cubicBezTo>
                        <a:cubicBezTo>
                          <a:pt x="1947786" y="1178437"/>
                          <a:pt x="1826137" y="1192799"/>
                          <a:pt x="1527871" y="1200329"/>
                        </a:cubicBezTo>
                        <a:cubicBezTo>
                          <a:pt x="1229605" y="1207859"/>
                          <a:pt x="1049015" y="1205294"/>
                          <a:pt x="780912" y="1200329"/>
                        </a:cubicBezTo>
                        <a:cubicBezTo>
                          <a:pt x="512809" y="1195364"/>
                          <a:pt x="366896" y="1231262"/>
                          <a:pt x="0" y="1200329"/>
                        </a:cubicBezTo>
                        <a:cubicBezTo>
                          <a:pt x="-29216" y="963343"/>
                          <a:pt x="-1358" y="789589"/>
                          <a:pt x="0" y="600165"/>
                        </a:cubicBezTo>
                        <a:cubicBezTo>
                          <a:pt x="1358" y="410741"/>
                          <a:pt x="-24653" y="29242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Arial Narrow" panose="020B0606020202030204" pitchFamily="34" charset="0"/>
              </a:rPr>
              <a:t>Curvatura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C3DA22A-EEC8-3389-68FC-5C9B596B2EA4}"/>
              </a:ext>
            </a:extLst>
          </p:cNvPr>
          <p:cNvSpPr txBox="1"/>
          <p:nvPr/>
        </p:nvSpPr>
        <p:spPr>
          <a:xfrm>
            <a:off x="5597438" y="3321803"/>
            <a:ext cx="2395953" cy="306467"/>
          </a:xfrm>
          <a:prstGeom prst="roundRect">
            <a:avLst/>
          </a:prstGeom>
          <a:solidFill>
            <a:schemeClr val="tx1">
              <a:lumMod val="10000"/>
              <a:lumOff val="90000"/>
              <a:alpha val="51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244743324">
                  <a:custGeom>
                    <a:avLst/>
                    <a:gdLst>
                      <a:gd name="csX0" fmla="*/ 0 w 3395270"/>
                      <a:gd name="csY0" fmla="*/ 0 h 1200329"/>
                      <a:gd name="csX1" fmla="*/ 679054 w 3395270"/>
                      <a:gd name="csY1" fmla="*/ 0 h 1200329"/>
                      <a:gd name="csX2" fmla="*/ 1392061 w 3395270"/>
                      <a:gd name="csY2" fmla="*/ 0 h 1200329"/>
                      <a:gd name="csX3" fmla="*/ 2071115 w 3395270"/>
                      <a:gd name="csY3" fmla="*/ 0 h 1200329"/>
                      <a:gd name="csX4" fmla="*/ 2682263 w 3395270"/>
                      <a:gd name="csY4" fmla="*/ 0 h 1200329"/>
                      <a:gd name="csX5" fmla="*/ 3395270 w 3395270"/>
                      <a:gd name="csY5" fmla="*/ 0 h 1200329"/>
                      <a:gd name="csX6" fmla="*/ 3395270 w 3395270"/>
                      <a:gd name="csY6" fmla="*/ 600165 h 1200329"/>
                      <a:gd name="csX7" fmla="*/ 3395270 w 3395270"/>
                      <a:gd name="csY7" fmla="*/ 1200329 h 1200329"/>
                      <a:gd name="csX8" fmla="*/ 2784121 w 3395270"/>
                      <a:gd name="csY8" fmla="*/ 1200329 h 1200329"/>
                      <a:gd name="csX9" fmla="*/ 2139020 w 3395270"/>
                      <a:gd name="csY9" fmla="*/ 1200329 h 1200329"/>
                      <a:gd name="csX10" fmla="*/ 1527871 w 3395270"/>
                      <a:gd name="csY10" fmla="*/ 1200329 h 1200329"/>
                      <a:gd name="csX11" fmla="*/ 780912 w 3395270"/>
                      <a:gd name="csY11" fmla="*/ 1200329 h 1200329"/>
                      <a:gd name="csX12" fmla="*/ 0 w 3395270"/>
                      <a:gd name="csY12" fmla="*/ 1200329 h 1200329"/>
                      <a:gd name="csX13" fmla="*/ 0 w 3395270"/>
                      <a:gd name="csY13" fmla="*/ 600165 h 1200329"/>
                      <a:gd name="csX14" fmla="*/ 0 w 3395270"/>
                      <a:gd name="csY14" fmla="*/ 0 h 120032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395270" h="1200329" extrusionOk="0">
                        <a:moveTo>
                          <a:pt x="0" y="0"/>
                        </a:moveTo>
                        <a:cubicBezTo>
                          <a:pt x="156698" y="2474"/>
                          <a:pt x="508065" y="-7165"/>
                          <a:pt x="679054" y="0"/>
                        </a:cubicBezTo>
                        <a:cubicBezTo>
                          <a:pt x="850043" y="7165"/>
                          <a:pt x="1220829" y="16545"/>
                          <a:pt x="1392061" y="0"/>
                        </a:cubicBezTo>
                        <a:cubicBezTo>
                          <a:pt x="1563293" y="-16545"/>
                          <a:pt x="1895588" y="23955"/>
                          <a:pt x="2071115" y="0"/>
                        </a:cubicBezTo>
                        <a:cubicBezTo>
                          <a:pt x="2246642" y="-23955"/>
                          <a:pt x="2425562" y="-16560"/>
                          <a:pt x="2682263" y="0"/>
                        </a:cubicBezTo>
                        <a:cubicBezTo>
                          <a:pt x="2938964" y="16560"/>
                          <a:pt x="3056881" y="15622"/>
                          <a:pt x="3395270" y="0"/>
                        </a:cubicBezTo>
                        <a:cubicBezTo>
                          <a:pt x="3404770" y="293432"/>
                          <a:pt x="3370391" y="467579"/>
                          <a:pt x="3395270" y="600165"/>
                        </a:cubicBezTo>
                        <a:cubicBezTo>
                          <a:pt x="3420149" y="732751"/>
                          <a:pt x="3367148" y="909028"/>
                          <a:pt x="3395270" y="1200329"/>
                        </a:cubicBezTo>
                        <a:cubicBezTo>
                          <a:pt x="3253156" y="1220349"/>
                          <a:pt x="2978416" y="1217144"/>
                          <a:pt x="2784121" y="1200329"/>
                        </a:cubicBezTo>
                        <a:cubicBezTo>
                          <a:pt x="2589826" y="1183514"/>
                          <a:pt x="2330254" y="1222221"/>
                          <a:pt x="2139020" y="1200329"/>
                        </a:cubicBezTo>
                        <a:cubicBezTo>
                          <a:pt x="1947786" y="1178437"/>
                          <a:pt x="1826137" y="1192799"/>
                          <a:pt x="1527871" y="1200329"/>
                        </a:cubicBezTo>
                        <a:cubicBezTo>
                          <a:pt x="1229605" y="1207859"/>
                          <a:pt x="1049015" y="1205294"/>
                          <a:pt x="780912" y="1200329"/>
                        </a:cubicBezTo>
                        <a:cubicBezTo>
                          <a:pt x="512809" y="1195364"/>
                          <a:pt x="366896" y="1231262"/>
                          <a:pt x="0" y="1200329"/>
                        </a:cubicBezTo>
                        <a:cubicBezTo>
                          <a:pt x="-29216" y="963343"/>
                          <a:pt x="-1358" y="789589"/>
                          <a:pt x="0" y="600165"/>
                        </a:cubicBezTo>
                        <a:cubicBezTo>
                          <a:pt x="1358" y="410741"/>
                          <a:pt x="-24653" y="29242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Arial Narrow" panose="020B0606020202030204" pitchFamily="34" charset="0"/>
              </a:rPr>
              <a:t>Elevación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35F0187-2951-8858-3263-783134EBED4B}"/>
              </a:ext>
            </a:extLst>
          </p:cNvPr>
          <p:cNvSpPr txBox="1"/>
          <p:nvPr/>
        </p:nvSpPr>
        <p:spPr>
          <a:xfrm>
            <a:off x="600767" y="3904672"/>
            <a:ext cx="362508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buClr>
                <a:schemeClr val="accent5"/>
              </a:buClr>
              <a:buNone/>
            </a:pPr>
            <a:r>
              <a:rPr lang="es-CO" sz="1300" dirty="0">
                <a:latin typeface="Arial Narrow" panose="020B0606020202030204" pitchFamily="34" charset="0"/>
              </a:rPr>
              <a:t>Estas variables fueron generadas como el valor medio asociada a la cuenca de ocurrencia del evento.</a:t>
            </a:r>
          </a:p>
        </p:txBody>
      </p:sp>
    </p:spTree>
    <p:extLst>
      <p:ext uri="{BB962C8B-B14F-4D97-AF65-F5344CB8AC3E}">
        <p14:creationId xmlns:p14="http://schemas.microsoft.com/office/powerpoint/2010/main" val="1849516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B04AA-8CF6-D908-7F82-5155E79D5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47A8666-E207-8D95-CC8C-A796749A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A14FC17-6DC1-B2B9-1120-519179F5B76E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6E467A68-6926-B185-8440-9FB15504E91B}"/>
              </a:ext>
            </a:extLst>
          </p:cNvPr>
          <p:cNvSpPr txBox="1">
            <a:spLocks/>
          </p:cNvSpPr>
          <p:nvPr/>
        </p:nvSpPr>
        <p:spPr>
          <a:xfrm>
            <a:off x="477376" y="310707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Modelo Generalizado: Binomial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EBC15E5-4C65-C196-9313-40DE857971AE}"/>
              </a:ext>
            </a:extLst>
          </p:cNvPr>
          <p:cNvSpPr txBox="1"/>
          <p:nvPr/>
        </p:nvSpPr>
        <p:spPr>
          <a:xfrm>
            <a:off x="481349" y="905676"/>
            <a:ext cx="390701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buClr>
                <a:schemeClr val="accent5"/>
              </a:buClr>
              <a:buNone/>
            </a:pPr>
            <a:r>
              <a:rPr lang="es-CO" sz="1300" dirty="0">
                <a:latin typeface="Arial Narrow" panose="020B0606020202030204" pitchFamily="34" charset="0"/>
              </a:rPr>
              <a:t>Se generaron </a:t>
            </a:r>
            <a:r>
              <a:rPr lang="es-CO" sz="1300" b="1" dirty="0">
                <a:latin typeface="Arial Narrow" panose="020B0606020202030204" pitchFamily="34" charset="0"/>
              </a:rPr>
              <a:t>1270 puntos de no ocurrencias </a:t>
            </a:r>
            <a:r>
              <a:rPr lang="es-CO" sz="1300" dirty="0">
                <a:latin typeface="Arial Narrow" panose="020B0606020202030204" pitchFamily="34" charset="0"/>
              </a:rPr>
              <a:t>con una separación mínimo de 1km a eventos registrados y se realizó la asignación de las variables mencionadas anteriormente. 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85895BB2-0142-6D09-12DD-5FC23DF02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828" y="555832"/>
            <a:ext cx="3679816" cy="2495574"/>
          </a:xfrm>
          <a:prstGeom prst="rect">
            <a:avLst/>
          </a:prstGeom>
        </p:spPr>
      </p:pic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D8B06ED7-E63F-D30F-0D5C-CF3D070FB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431363"/>
              </p:ext>
            </p:extLst>
          </p:nvPr>
        </p:nvGraphicFramePr>
        <p:xfrm>
          <a:off x="490846" y="1903296"/>
          <a:ext cx="1607778" cy="2495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889">
                  <a:extLst>
                    <a:ext uri="{9D8B030D-6E8A-4147-A177-3AD203B41FA5}">
                      <a16:colId xmlns:a16="http://schemas.microsoft.com/office/drawing/2014/main" val="476058296"/>
                    </a:ext>
                  </a:extLst>
                </a:gridCol>
                <a:gridCol w="803889">
                  <a:extLst>
                    <a:ext uri="{9D8B030D-6E8A-4147-A177-3AD203B41FA5}">
                      <a16:colId xmlns:a16="http://schemas.microsoft.com/office/drawing/2014/main" val="3744118233"/>
                    </a:ext>
                  </a:extLst>
                </a:gridCol>
              </a:tblGrid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Variable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p-</a:t>
                      </a:r>
                      <a:r>
                        <a:rPr lang="es-CO" sz="1100" dirty="0" err="1"/>
                        <a:t>value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978314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Area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0.000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889614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Pendiente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0.000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125262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Elevación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0.000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897412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LAI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0.000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95143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Curvatura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0.000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010383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TWI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>
                          <a:solidFill>
                            <a:srgbClr val="FF0000"/>
                          </a:solidFill>
                        </a:rPr>
                        <a:t>0.172</a:t>
                      </a:r>
                      <a:endParaRPr lang="es-ES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093265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TPI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0.000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997538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TRI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0.000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204882"/>
                  </a:ext>
                </a:extLst>
              </a:tr>
            </a:tbl>
          </a:graphicData>
        </a:graphic>
      </p:graphicFrame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DC67B189-86A3-8544-3F3F-ECBF77AFF0F6}"/>
              </a:ext>
            </a:extLst>
          </p:cNvPr>
          <p:cNvCxnSpPr>
            <a:cxnSpLocks/>
          </p:cNvCxnSpPr>
          <p:nvPr/>
        </p:nvCxnSpPr>
        <p:spPr>
          <a:xfrm flipH="1" flipV="1">
            <a:off x="2262926" y="3684393"/>
            <a:ext cx="244054" cy="2801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EC20894-7342-FEC9-7979-BE3CB52EE246}"/>
              </a:ext>
            </a:extLst>
          </p:cNvPr>
          <p:cNvSpPr txBox="1"/>
          <p:nvPr/>
        </p:nvSpPr>
        <p:spPr>
          <a:xfrm>
            <a:off x="2434856" y="3964558"/>
            <a:ext cx="2073831" cy="354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lnSpc>
                <a:spcPct val="150000"/>
              </a:lnSpc>
              <a:buClr>
                <a:schemeClr val="accent5"/>
              </a:buClr>
              <a:buNone/>
            </a:pPr>
            <a:r>
              <a:rPr lang="es-CO" sz="1300" dirty="0">
                <a:latin typeface="Arial Narrow" panose="020B0606020202030204" pitchFamily="34" charset="0"/>
              </a:rPr>
              <a:t>Se descarta dicha variable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FBAB8966-5C45-0E19-44BA-9279B7276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716" y="1866055"/>
            <a:ext cx="2233148" cy="1958172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7ACA2F53-553D-3B9B-CB33-FA2FB105D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074" y="3132801"/>
            <a:ext cx="1678305" cy="1335794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CD22B4DD-6C96-A072-F7E6-700F461896FF}"/>
              </a:ext>
            </a:extLst>
          </p:cNvPr>
          <p:cNvSpPr txBox="1"/>
          <p:nvPr/>
        </p:nvSpPr>
        <p:spPr>
          <a:xfrm>
            <a:off x="4753903" y="3473365"/>
            <a:ext cx="2073831" cy="65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lnSpc>
                <a:spcPct val="150000"/>
              </a:lnSpc>
              <a:buClr>
                <a:schemeClr val="accent5"/>
              </a:buClr>
              <a:buNone/>
            </a:pPr>
            <a:r>
              <a:rPr lang="es-CO" sz="1300" b="1" dirty="0">
                <a:latin typeface="Arial Narrow" panose="020B0606020202030204" pitchFamily="34" charset="0"/>
              </a:rPr>
              <a:t>Ocurrencias: </a:t>
            </a:r>
            <a:r>
              <a:rPr lang="es-CO" sz="1300" b="1" dirty="0" err="1">
                <a:latin typeface="Arial Narrow" panose="020B0606020202030204" pitchFamily="34" charset="0"/>
              </a:rPr>
              <a:t>Inund</a:t>
            </a:r>
            <a:r>
              <a:rPr lang="es-CO" sz="1300" b="1" dirty="0">
                <a:latin typeface="Arial Narrow" panose="020B0606020202030204" pitchFamily="34" charset="0"/>
              </a:rPr>
              <a:t> = 1</a:t>
            </a:r>
          </a:p>
          <a:p>
            <a:pPr marL="0" indent="0" algn="ctr">
              <a:lnSpc>
                <a:spcPct val="150000"/>
              </a:lnSpc>
              <a:buClr>
                <a:schemeClr val="accent5"/>
              </a:buClr>
              <a:buNone/>
            </a:pPr>
            <a:r>
              <a:rPr lang="es-CO" sz="1300" b="1" dirty="0">
                <a:latin typeface="Arial Narrow" panose="020B0606020202030204" pitchFamily="34" charset="0"/>
              </a:rPr>
              <a:t>No ocurrencias: </a:t>
            </a:r>
            <a:r>
              <a:rPr lang="es-CO" sz="1300" b="1" dirty="0" err="1">
                <a:latin typeface="Arial Narrow" panose="020B0606020202030204" pitchFamily="34" charset="0"/>
              </a:rPr>
              <a:t>Inund</a:t>
            </a:r>
            <a:r>
              <a:rPr lang="es-CO" sz="1300" b="1" dirty="0">
                <a:latin typeface="Arial Narrow" panose="020B0606020202030204" pitchFamily="34" charset="0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2825115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C7086-EAB3-1D65-4846-E8408AF92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1AF4BED-C05F-5870-D55E-14635CC1F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7DB059F-F62D-6AFB-20B4-1EE3BC835EFF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F58D166D-9953-1082-5E9D-BAD0836490EF}"/>
              </a:ext>
            </a:extLst>
          </p:cNvPr>
          <p:cNvSpPr txBox="1">
            <a:spLocks/>
          </p:cNvSpPr>
          <p:nvPr/>
        </p:nvSpPr>
        <p:spPr>
          <a:xfrm>
            <a:off x="477376" y="310707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Modelo Generalizado: Binomial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DA3113C-06E9-AA9F-F6C9-6831D9ACBCF3}"/>
              </a:ext>
            </a:extLst>
          </p:cNvPr>
          <p:cNvSpPr txBox="1"/>
          <p:nvPr/>
        </p:nvSpPr>
        <p:spPr>
          <a:xfrm>
            <a:off x="385076" y="889784"/>
            <a:ext cx="4468864" cy="888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lnSpc>
                <a:spcPct val="150000"/>
              </a:lnSpc>
              <a:buClr>
                <a:schemeClr val="accent5"/>
              </a:buClr>
              <a:buNone/>
            </a:pPr>
            <a:r>
              <a:rPr lang="es-CO" sz="1200" dirty="0">
                <a:latin typeface="Arial Narrow" panose="020B0606020202030204" pitchFamily="34" charset="0"/>
              </a:rPr>
              <a:t>El R² del modelo mejoró aumentó en un 8%</a:t>
            </a:r>
          </a:p>
          <a:p>
            <a:pPr marL="0" indent="0" algn="ctr">
              <a:lnSpc>
                <a:spcPct val="150000"/>
              </a:lnSpc>
              <a:buClr>
                <a:schemeClr val="accent5"/>
              </a:buClr>
              <a:buNone/>
            </a:pPr>
            <a:r>
              <a:rPr lang="es-CO" sz="1200" dirty="0">
                <a:latin typeface="Arial Narrow" panose="020B0606020202030204" pitchFamily="34" charset="0"/>
              </a:rPr>
              <a:t>Modelo con un buen desempeño (ROC AUC = 0.912)</a:t>
            </a:r>
          </a:p>
          <a:p>
            <a:pPr marL="0" indent="0" algn="ctr">
              <a:lnSpc>
                <a:spcPct val="150000"/>
              </a:lnSpc>
              <a:buClr>
                <a:schemeClr val="accent5"/>
              </a:buClr>
              <a:buNone/>
            </a:pPr>
            <a:r>
              <a:rPr lang="es-CO" sz="1200" dirty="0" err="1">
                <a:latin typeface="Arial Narrow" panose="020B0606020202030204" pitchFamily="34" charset="0"/>
              </a:rPr>
              <a:t>Accuracy</a:t>
            </a:r>
            <a:r>
              <a:rPr lang="es-CO" sz="1200" dirty="0">
                <a:latin typeface="Arial Narrow" panose="020B0606020202030204" pitchFamily="34" charset="0"/>
              </a:rPr>
              <a:t>: 0.8403      </a:t>
            </a:r>
            <a:r>
              <a:rPr lang="es-CO" sz="1200" dirty="0" err="1">
                <a:latin typeface="Arial Narrow" panose="020B0606020202030204" pitchFamily="34" charset="0"/>
              </a:rPr>
              <a:t>Precision</a:t>
            </a:r>
            <a:r>
              <a:rPr lang="es-CO" sz="1200" dirty="0">
                <a:latin typeface="Arial Narrow" panose="020B0606020202030204" pitchFamily="34" charset="0"/>
              </a:rPr>
              <a:t>: 0.8404      R²: 0.5320      R² </a:t>
            </a:r>
            <a:r>
              <a:rPr lang="es-CO" sz="1200" dirty="0" err="1">
                <a:latin typeface="Arial Narrow" panose="020B0606020202030204" pitchFamily="34" charset="0"/>
              </a:rPr>
              <a:t>adjusted</a:t>
            </a:r>
            <a:r>
              <a:rPr lang="es-CO" sz="1200" dirty="0">
                <a:latin typeface="Arial Narrow" panose="020B0606020202030204" pitchFamily="34" charset="0"/>
              </a:rPr>
              <a:t>: 0.5307 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A4D677D-7577-1568-1DDC-A95B8C4497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46" b="-1"/>
          <a:stretch>
            <a:fillRect/>
          </a:stretch>
        </p:blipFill>
        <p:spPr>
          <a:xfrm>
            <a:off x="4929828" y="643890"/>
            <a:ext cx="3679816" cy="2392066"/>
          </a:xfrm>
          <a:prstGeom prst="rect">
            <a:avLst/>
          </a:prstGeom>
        </p:spPr>
      </p:pic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DF18DAD8-C50E-2421-59BE-8717F21EE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097332"/>
              </p:ext>
            </p:extLst>
          </p:nvPr>
        </p:nvGraphicFramePr>
        <p:xfrm>
          <a:off x="385076" y="2010168"/>
          <a:ext cx="1607778" cy="2218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889">
                  <a:extLst>
                    <a:ext uri="{9D8B030D-6E8A-4147-A177-3AD203B41FA5}">
                      <a16:colId xmlns:a16="http://schemas.microsoft.com/office/drawing/2014/main" val="476058296"/>
                    </a:ext>
                  </a:extLst>
                </a:gridCol>
                <a:gridCol w="803889">
                  <a:extLst>
                    <a:ext uri="{9D8B030D-6E8A-4147-A177-3AD203B41FA5}">
                      <a16:colId xmlns:a16="http://schemas.microsoft.com/office/drawing/2014/main" val="3744118233"/>
                    </a:ext>
                  </a:extLst>
                </a:gridCol>
              </a:tblGrid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Variable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p-</a:t>
                      </a:r>
                      <a:r>
                        <a:rPr lang="es-CO" sz="1100" dirty="0" err="1"/>
                        <a:t>value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978314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Area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0.000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889614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Pendiente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0.000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125262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Elevación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0.000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897412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LAI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0.000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95143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TPI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0.000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010383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Curvatura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0.000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997538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TRI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0.020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204882"/>
                  </a:ext>
                </a:extLst>
              </a:tr>
            </a:tbl>
          </a:graphicData>
        </a:graphic>
      </p:graphicFrame>
      <p:pic>
        <p:nvPicPr>
          <p:cNvPr id="26" name="Imagen 25">
            <a:extLst>
              <a:ext uri="{FF2B5EF4-FFF2-40B4-BE49-F238E27FC236}">
                <a16:creationId xmlns:a16="http://schemas.microsoft.com/office/drawing/2014/main" id="{372B0D70-5D46-52F4-A471-F4D68D8698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68742" y="1992711"/>
            <a:ext cx="2723721" cy="2388337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35A19E65-5581-C481-C5A4-5B20D715EB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29828" y="3045255"/>
            <a:ext cx="1678305" cy="133579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67FA345-2081-16D6-F445-9E9033049FB8}"/>
              </a:ext>
            </a:extLst>
          </p:cNvPr>
          <p:cNvSpPr txBox="1"/>
          <p:nvPr/>
        </p:nvSpPr>
        <p:spPr>
          <a:xfrm>
            <a:off x="6736270" y="3186879"/>
            <a:ext cx="18028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buClr>
                <a:schemeClr val="accent5"/>
              </a:buClr>
              <a:buNone/>
            </a:pPr>
            <a:r>
              <a:rPr lang="es-CO" sz="1200" b="1" dirty="0">
                <a:latin typeface="Arial Narrow" panose="020B0606020202030204" pitchFamily="34" charset="0"/>
              </a:rPr>
              <a:t>El LAI puede ser visto como una variable descriptiva del proceso significativa dado que representa las coberturas del suelo en la cuenca.</a:t>
            </a:r>
          </a:p>
        </p:txBody>
      </p:sp>
    </p:spTree>
    <p:extLst>
      <p:ext uri="{BB962C8B-B14F-4D97-AF65-F5344CB8AC3E}">
        <p14:creationId xmlns:p14="http://schemas.microsoft.com/office/powerpoint/2010/main" val="3911744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B0E77-ED17-25E6-A7E5-E7AFD23A0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n 27">
            <a:extLst>
              <a:ext uri="{FF2B5EF4-FFF2-40B4-BE49-F238E27FC236}">
                <a16:creationId xmlns:a16="http://schemas.microsoft.com/office/drawing/2014/main" id="{891E399F-CA99-2DFE-6A78-F4F6F86100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6266" y="783974"/>
            <a:ext cx="4032557" cy="3691525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C3297449-2FF3-6B90-50FF-5756A9BC8E2B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Análisis de áreas: Variables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29BC67A-0411-89C9-78B2-71B4BC11F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0826F3-665E-AC22-970B-E176DA78B152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52097CB-99DF-279A-4D10-4054ADF57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125" y="747205"/>
            <a:ext cx="4110337" cy="376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68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DFD38-AA91-98D8-76AB-0AB3AB18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6CDE7D3-AE10-9E9F-5703-86A00C703F36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Variables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19B08C1-1776-0064-E79A-3E7FD9893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16</a:t>
            </a:fld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0A43769-315A-4EA8-369D-F30609E70199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6C40928-D1E0-CD2F-0D16-E7BD4BE57A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764125" y="751891"/>
            <a:ext cx="4110337" cy="37544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9953044-481B-7E49-60F2-337AC7CE13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1091" y="783974"/>
            <a:ext cx="4110337" cy="369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49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54CFE-FA97-8EA2-B3E9-059891818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A99B61F-079F-8E60-71BF-A64BB3E8E3ED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Cluster espacial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1578BD7-D72F-E288-1E9E-01EAB0E1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17</a:t>
            </a:fld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5CBAE6-168B-C91A-8B02-07D7B8E81B08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D7E1C41-FDAF-F717-BB80-E2E85779C7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39"/>
          <a:stretch>
            <a:fillRect/>
          </a:stretch>
        </p:blipFill>
        <p:spPr>
          <a:xfrm>
            <a:off x="220106" y="934646"/>
            <a:ext cx="3915035" cy="368781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3026FC6-9A08-0531-1943-B469225ED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368" y="1868364"/>
            <a:ext cx="2908321" cy="275409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289AAFF-D8E6-FD6D-835A-7DE28BCE7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777" y="451616"/>
            <a:ext cx="2816818" cy="1385508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C902E96-0A69-FE86-3414-FA1662CF50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9035" y="521044"/>
            <a:ext cx="2162666" cy="1284839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8315D180-7920-63F2-9917-9EA7E7FF5AB8}"/>
              </a:ext>
            </a:extLst>
          </p:cNvPr>
          <p:cNvSpPr txBox="1"/>
          <p:nvPr/>
        </p:nvSpPr>
        <p:spPr>
          <a:xfrm>
            <a:off x="7348429" y="2399024"/>
            <a:ext cx="157546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buClr>
                <a:schemeClr val="accent5"/>
              </a:buClr>
              <a:buNone/>
            </a:pPr>
            <a:r>
              <a:rPr lang="es-CO" sz="1300" dirty="0">
                <a:latin typeface="Arial Narrow" panose="020B0606020202030204" pitchFamily="34" charset="0"/>
              </a:rPr>
              <a:t>Se observan agrupaciones regionales caracterizados por las zona de baja pendiente, y de diferentes condiciones urbanizadas</a:t>
            </a:r>
          </a:p>
        </p:txBody>
      </p:sp>
    </p:spTree>
    <p:extLst>
      <p:ext uri="{BB962C8B-B14F-4D97-AF65-F5344CB8AC3E}">
        <p14:creationId xmlns:p14="http://schemas.microsoft.com/office/powerpoint/2010/main" val="804185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A1F89-216D-1DB7-37CD-75EC57FF4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08D0A0B-49D9-CAB4-3B20-243CC3381583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Autocorrelación espacial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469547A-782F-FA1B-2C7C-C49FD111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18</a:t>
            </a:fld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F0AA4E5-0C89-5393-6D4C-237B76507D1C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A49A186-1D66-8744-64DA-F6197F1744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032372" y="444780"/>
            <a:ext cx="4075308" cy="407530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5AC4961-9885-36DE-ED23-180B30450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306" y="2163266"/>
            <a:ext cx="1981372" cy="203471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7383547-C089-EC56-074C-7768FDF475BF}"/>
              </a:ext>
            </a:extLst>
          </p:cNvPr>
          <p:cNvSpPr txBox="1"/>
          <p:nvPr/>
        </p:nvSpPr>
        <p:spPr>
          <a:xfrm>
            <a:off x="477376" y="1137618"/>
            <a:ext cx="3062037" cy="65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lnSpc>
                <a:spcPct val="150000"/>
              </a:lnSpc>
              <a:buClr>
                <a:schemeClr val="accent5"/>
              </a:buClr>
              <a:buNone/>
            </a:pPr>
            <a:r>
              <a:rPr lang="es-CO" sz="1300" dirty="0">
                <a:latin typeface="Arial Narrow" panose="020B0606020202030204" pitchFamily="34" charset="0"/>
              </a:rPr>
              <a:t>Variables como “</a:t>
            </a:r>
            <a:r>
              <a:rPr lang="es-CO" sz="1300" dirty="0" err="1">
                <a:latin typeface="Arial Narrow" panose="020B0606020202030204" pitchFamily="34" charset="0"/>
              </a:rPr>
              <a:t>Curv_mean</a:t>
            </a:r>
            <a:r>
              <a:rPr lang="es-CO" sz="1300" dirty="0">
                <a:latin typeface="Arial Narrow" panose="020B0606020202030204" pitchFamily="34" charset="0"/>
              </a:rPr>
              <a:t>” y “</a:t>
            </a:r>
            <a:r>
              <a:rPr lang="es-CO" sz="1300" dirty="0" err="1">
                <a:latin typeface="Arial Narrow" panose="020B0606020202030204" pitchFamily="34" charset="0"/>
              </a:rPr>
              <a:t>TPI_mean</a:t>
            </a:r>
            <a:r>
              <a:rPr lang="es-CO" sz="1300" dirty="0">
                <a:latin typeface="Arial Narrow" panose="020B0606020202030204" pitchFamily="34" charset="0"/>
              </a:rPr>
              <a:t>” no evidencian autocorrelación espacial.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36DD72-E694-CD2B-47DC-AC269ACE9078}"/>
              </a:ext>
            </a:extLst>
          </p:cNvPr>
          <p:cNvSpPr/>
          <p:nvPr/>
        </p:nvSpPr>
        <p:spPr>
          <a:xfrm>
            <a:off x="1036320" y="3695700"/>
            <a:ext cx="1943358" cy="20574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C7D774F-8F67-411E-7962-019BCFAB4F84}"/>
              </a:ext>
            </a:extLst>
          </p:cNvPr>
          <p:cNvSpPr/>
          <p:nvPr/>
        </p:nvSpPr>
        <p:spPr>
          <a:xfrm>
            <a:off x="1047750" y="3276600"/>
            <a:ext cx="1943358" cy="20574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9076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EB728-40BE-D8BE-9C79-9077E5216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47E0D5A-C066-1E7A-BFF3-EE094EB09119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Autocorrelación espacial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7FC7FE2-75E2-C3F6-EC06-EA229EFF0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19</a:t>
            </a:fld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FDF8C1-F9E6-FDE6-8B49-D6D8ADF201DF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77799F9-C134-7BDC-5BC2-C03D33F2C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70" y="722502"/>
            <a:ext cx="7656286" cy="198420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ADB8A58-AD30-9D6A-A48F-A505A8D1A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29" y="2661709"/>
            <a:ext cx="7511142" cy="1963598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51BBA8C8-C648-7823-BA6A-7A66B3609ECE}"/>
              </a:ext>
            </a:extLst>
          </p:cNvPr>
          <p:cNvSpPr txBox="1"/>
          <p:nvPr/>
        </p:nvSpPr>
        <p:spPr>
          <a:xfrm>
            <a:off x="7362038" y="1684346"/>
            <a:ext cx="1575465" cy="354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lnSpc>
                <a:spcPct val="150000"/>
              </a:lnSpc>
              <a:buClr>
                <a:schemeClr val="accent5"/>
              </a:buClr>
              <a:buNone/>
            </a:pPr>
            <a:r>
              <a:rPr lang="es-CO" sz="1300" b="1" dirty="0">
                <a:latin typeface="Arial Narrow" panose="020B0606020202030204" pitchFamily="34" charset="0"/>
              </a:rPr>
              <a:t>Total eventos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B901CDF-7600-7C68-324D-80553E7E4E33}"/>
              </a:ext>
            </a:extLst>
          </p:cNvPr>
          <p:cNvSpPr txBox="1"/>
          <p:nvPr/>
        </p:nvSpPr>
        <p:spPr>
          <a:xfrm>
            <a:off x="7369297" y="3668553"/>
            <a:ext cx="1575465" cy="354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lnSpc>
                <a:spcPct val="150000"/>
              </a:lnSpc>
              <a:buClr>
                <a:schemeClr val="accent5"/>
              </a:buClr>
              <a:buNone/>
            </a:pPr>
            <a:r>
              <a:rPr lang="es-CO" sz="1300" b="1" dirty="0">
                <a:latin typeface="Arial Narrow" panose="020B0606020202030204" pitchFamily="34" charset="0"/>
              </a:rPr>
              <a:t>Pendiente</a:t>
            </a:r>
          </a:p>
        </p:txBody>
      </p:sp>
    </p:spTree>
    <p:extLst>
      <p:ext uri="{BB962C8B-B14F-4D97-AF65-F5344CB8AC3E}">
        <p14:creationId xmlns:p14="http://schemas.microsoft.com/office/powerpoint/2010/main" val="4249285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9D46A-7A0B-3457-915A-F47146B6A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7278F09-6DD3-61C0-96A7-23506D13E617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Autocorrelación espacial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3A7FFD5-6996-ABD9-7B0D-47E60AE1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20</a:t>
            </a:fld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51581D5-284E-AE1C-A7E6-0C1BBC887995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D08B34B-40D2-2951-240F-8F0508D478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4526" y="722502"/>
            <a:ext cx="7589974" cy="198420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388257C-C757-BA6D-4981-0C89375EB7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8630" y="2661709"/>
            <a:ext cx="7511140" cy="19635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56FF0C0-0359-8F70-1E16-A30AA027EF05}"/>
              </a:ext>
            </a:extLst>
          </p:cNvPr>
          <p:cNvSpPr txBox="1"/>
          <p:nvPr/>
        </p:nvSpPr>
        <p:spPr>
          <a:xfrm>
            <a:off x="7362038" y="1684346"/>
            <a:ext cx="1575465" cy="354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lnSpc>
                <a:spcPct val="150000"/>
              </a:lnSpc>
              <a:buClr>
                <a:schemeClr val="accent5"/>
              </a:buClr>
              <a:buNone/>
            </a:pPr>
            <a:r>
              <a:rPr lang="es-CO" sz="1300" b="1" dirty="0">
                <a:latin typeface="Arial Narrow" panose="020B0606020202030204" pitchFamily="34" charset="0"/>
              </a:rPr>
              <a:t>LAI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C1A6E14-043F-E89B-417E-B2CB24B9C592}"/>
              </a:ext>
            </a:extLst>
          </p:cNvPr>
          <p:cNvSpPr txBox="1"/>
          <p:nvPr/>
        </p:nvSpPr>
        <p:spPr>
          <a:xfrm>
            <a:off x="7369297" y="3668553"/>
            <a:ext cx="1575465" cy="354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lnSpc>
                <a:spcPct val="150000"/>
              </a:lnSpc>
              <a:buClr>
                <a:schemeClr val="accent5"/>
              </a:buClr>
              <a:buNone/>
            </a:pPr>
            <a:r>
              <a:rPr lang="es-CO" sz="1300" b="1" dirty="0">
                <a:latin typeface="Arial Narrow" panose="020B0606020202030204" pitchFamily="34" charset="0"/>
              </a:rPr>
              <a:t>TRI</a:t>
            </a:r>
          </a:p>
        </p:txBody>
      </p:sp>
    </p:spTree>
    <p:extLst>
      <p:ext uri="{BB962C8B-B14F-4D97-AF65-F5344CB8AC3E}">
        <p14:creationId xmlns:p14="http://schemas.microsoft.com/office/powerpoint/2010/main" val="746953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8B0D4-065C-7465-8C9B-7817DEC11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719043C-6B85-5425-042D-0971CD5C4BF6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Distribución de eventos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FFC7FCB-D61A-BF1D-22B4-E1CD114C4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21</a:t>
            </a:fld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87B4B1E-3520-7041-88D5-90F4436ABD83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FBB9984-7B49-421B-0169-EC3108BBF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98" y="831085"/>
            <a:ext cx="6722188" cy="363861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76E5769-4486-5B24-553F-119561274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207" y="3731899"/>
            <a:ext cx="1783074" cy="730768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090F58B9-7C8F-24E2-A03E-FFF47E7A11C3}"/>
              </a:ext>
            </a:extLst>
          </p:cNvPr>
          <p:cNvSpPr txBox="1"/>
          <p:nvPr/>
        </p:nvSpPr>
        <p:spPr>
          <a:xfrm>
            <a:off x="7229450" y="659881"/>
            <a:ext cx="1658587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buClr>
                <a:schemeClr val="accent5"/>
              </a:buClr>
              <a:buNone/>
            </a:pPr>
            <a:r>
              <a:rPr lang="es-CO" sz="1300" dirty="0">
                <a:latin typeface="Arial Narrow" panose="020B0606020202030204" pitchFamily="34" charset="0"/>
              </a:rPr>
              <a:t>Se observan agrupaciones regionales caracterizados por las zona de baja pendiente, y de diferentes condiciones urbanizadas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F91628C-C56C-51AB-BDBB-1029D9C28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9451" y="2375681"/>
            <a:ext cx="1767993" cy="59441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BBDD18D-7B23-9EFA-6200-95D644ED46A6}"/>
              </a:ext>
            </a:extLst>
          </p:cNvPr>
          <p:cNvSpPr txBox="1"/>
          <p:nvPr/>
        </p:nvSpPr>
        <p:spPr>
          <a:xfrm>
            <a:off x="7229451" y="3123680"/>
            <a:ext cx="1658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buClr>
                <a:schemeClr val="accent5"/>
              </a:buClr>
              <a:buNone/>
            </a:pPr>
            <a:r>
              <a:rPr lang="es-CO" sz="1200" b="1" dirty="0">
                <a:latin typeface="Arial Narrow" panose="020B0606020202030204" pitchFamily="34" charset="0"/>
              </a:rPr>
              <a:t>Media &lt;&lt; Varianza</a:t>
            </a:r>
            <a:r>
              <a:rPr lang="es-CO" sz="1200" dirty="0">
                <a:latin typeface="Arial Narrow" panose="020B0606020202030204" pitchFamily="34" charset="0"/>
              </a:rPr>
              <a:t>:</a:t>
            </a: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200" dirty="0" err="1">
                <a:latin typeface="Arial Narrow" panose="020B0606020202030204" pitchFamily="34" charset="0"/>
              </a:rPr>
              <a:t>Sobredispersión</a:t>
            </a:r>
            <a:endParaRPr lang="es-CO" sz="12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119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5FC08-6D32-8A49-A6EA-C7035124A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B0FCEC7-C004-AF60-AD68-700EA1029A46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M</a:t>
            </a:r>
            <a:r>
              <a:rPr lang="es-ES" sz="2200" dirty="0" err="1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odelo</a:t>
            </a:r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 Binomial Negativo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DE13CB4-774F-27B3-FE22-581A98C6E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22</a:t>
            </a:fld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70E512D-CCDB-8020-7C99-05716B1913A9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2BF82AD-6F0C-4E8B-A565-34EBC70B81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75"/>
          <a:stretch>
            <a:fillRect/>
          </a:stretch>
        </p:blipFill>
        <p:spPr>
          <a:xfrm>
            <a:off x="153545" y="786123"/>
            <a:ext cx="6182751" cy="204276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47AEB89-2627-34FC-6D2B-A82A05270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849" y="694563"/>
            <a:ext cx="2619606" cy="223995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F204762-956F-9B38-657B-920400DAF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689" y="2934516"/>
            <a:ext cx="2782933" cy="1542415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8AC55D07-971D-495A-445E-E315B2C8FA95}"/>
              </a:ext>
            </a:extLst>
          </p:cNvPr>
          <p:cNvSpPr txBox="1"/>
          <p:nvPr/>
        </p:nvSpPr>
        <p:spPr>
          <a:xfrm>
            <a:off x="6980785" y="3453930"/>
            <a:ext cx="17092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Clr>
                <a:schemeClr val="accent5"/>
              </a:buClr>
              <a:buNone/>
            </a:pPr>
            <a:r>
              <a:rPr lang="es-CO" sz="1200" dirty="0">
                <a:latin typeface="Arial Narrow" panose="020B0606020202030204" pitchFamily="34" charset="0"/>
              </a:rPr>
              <a:t>R²: 0.3577</a:t>
            </a: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200" dirty="0">
                <a:latin typeface="Arial Narrow" panose="020B0606020202030204" pitchFamily="34" charset="0"/>
              </a:rPr>
              <a:t>R² </a:t>
            </a:r>
            <a:r>
              <a:rPr lang="es-CO" sz="1200" dirty="0" err="1">
                <a:latin typeface="Arial Narrow" panose="020B0606020202030204" pitchFamily="34" charset="0"/>
              </a:rPr>
              <a:t>adjusted</a:t>
            </a:r>
            <a:r>
              <a:rPr lang="es-CO" sz="1200" dirty="0">
                <a:latin typeface="Arial Narrow" panose="020B0606020202030204" pitchFamily="34" charset="0"/>
              </a:rPr>
              <a:t>: 0.3418</a:t>
            </a: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200" dirty="0">
                <a:latin typeface="Arial Narrow" panose="020B0606020202030204" pitchFamily="34" charset="0"/>
              </a:rPr>
              <a:t>Moran de los residuos:</a:t>
            </a: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200" dirty="0">
                <a:latin typeface="Arial Narrow" panose="020B0606020202030204" pitchFamily="34" charset="0"/>
              </a:rPr>
              <a:t>I=-0.012, p-</a:t>
            </a:r>
            <a:r>
              <a:rPr lang="es-CO" sz="1200" dirty="0" err="1">
                <a:latin typeface="Arial Narrow" panose="020B0606020202030204" pitchFamily="34" charset="0"/>
              </a:rPr>
              <a:t>value</a:t>
            </a:r>
            <a:r>
              <a:rPr lang="es-CO" sz="1200" dirty="0">
                <a:latin typeface="Arial Narrow" panose="020B0606020202030204" pitchFamily="34" charset="0"/>
              </a:rPr>
              <a:t> = 0.4880 </a:t>
            </a:r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4C325CFD-3554-6FB8-90CE-0B936995A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165276"/>
              </p:ext>
            </p:extLst>
          </p:nvPr>
        </p:nvGraphicFramePr>
        <p:xfrm>
          <a:off x="4023359" y="3179271"/>
          <a:ext cx="2621808" cy="110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936">
                  <a:extLst>
                    <a:ext uri="{9D8B030D-6E8A-4147-A177-3AD203B41FA5}">
                      <a16:colId xmlns:a16="http://schemas.microsoft.com/office/drawing/2014/main" val="782047639"/>
                    </a:ext>
                  </a:extLst>
                </a:gridCol>
                <a:gridCol w="873936">
                  <a:extLst>
                    <a:ext uri="{9D8B030D-6E8A-4147-A177-3AD203B41FA5}">
                      <a16:colId xmlns:a16="http://schemas.microsoft.com/office/drawing/2014/main" val="476058296"/>
                    </a:ext>
                  </a:extLst>
                </a:gridCol>
                <a:gridCol w="873936">
                  <a:extLst>
                    <a:ext uri="{9D8B030D-6E8A-4147-A177-3AD203B41FA5}">
                      <a16:colId xmlns:a16="http://schemas.microsoft.com/office/drawing/2014/main" val="3744118233"/>
                    </a:ext>
                  </a:extLst>
                </a:gridCol>
              </a:tblGrid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Variable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Variable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p-</a:t>
                      </a:r>
                      <a:r>
                        <a:rPr lang="es-CO" sz="1100" dirty="0" err="1"/>
                        <a:t>value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978314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 err="1"/>
                        <a:t>Pend_mean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0.000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889614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X2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 err="1"/>
                        <a:t>LAI_std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0.018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125262"/>
                  </a:ext>
                </a:extLst>
              </a:tr>
              <a:tr h="277286"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X3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 err="1"/>
                        <a:t>Elev_cv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dirty="0"/>
                        <a:t>0.043</a:t>
                      </a:r>
                      <a:endParaRPr lang="es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897412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CA03024A-EC15-9F1F-FE3E-CCC9F10974A5}"/>
              </a:ext>
            </a:extLst>
          </p:cNvPr>
          <p:cNvSpPr txBox="1"/>
          <p:nvPr/>
        </p:nvSpPr>
        <p:spPr>
          <a:xfrm>
            <a:off x="6980785" y="3077787"/>
            <a:ext cx="1709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Clr>
                <a:schemeClr val="accent5"/>
              </a:buClr>
              <a:buNone/>
            </a:pPr>
            <a:r>
              <a:rPr lang="es-CO" sz="1200" b="1" dirty="0">
                <a:latin typeface="Arial Narrow" panose="020B0606020202030204" pitchFamily="34" charset="0"/>
              </a:rPr>
              <a:t>Offset = log(A)</a:t>
            </a:r>
          </a:p>
        </p:txBody>
      </p:sp>
    </p:spTree>
    <p:extLst>
      <p:ext uri="{BB962C8B-B14F-4D97-AF65-F5344CB8AC3E}">
        <p14:creationId xmlns:p14="http://schemas.microsoft.com/office/powerpoint/2010/main" val="1573686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C0053-2680-12F6-BA1E-145D569D8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7B10C6E-3E20-4A37-EEBE-29763F6DC06B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M</a:t>
            </a:r>
            <a:r>
              <a:rPr lang="es-ES" sz="2200" dirty="0" err="1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odelos</a:t>
            </a:r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 SAR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0A1827E-7C7F-BC78-698F-8CCEBEC8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23</a:t>
            </a:fld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9273B8-4528-5C85-262D-1C4F4B7DEC99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A465793-A869-0B84-C58F-490A0BD18D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78271" y="1011556"/>
            <a:ext cx="2158929" cy="184782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0BA36DB-34A9-B92C-1FE8-357CC32EF944}"/>
              </a:ext>
            </a:extLst>
          </p:cNvPr>
          <p:cNvSpPr txBox="1"/>
          <p:nvPr/>
        </p:nvSpPr>
        <p:spPr>
          <a:xfrm>
            <a:off x="955724" y="745511"/>
            <a:ext cx="1709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Clr>
                <a:schemeClr val="accent5"/>
              </a:buClr>
              <a:buNone/>
            </a:pPr>
            <a:r>
              <a:rPr lang="es-CO" sz="1200" b="1" dirty="0">
                <a:latin typeface="Arial Narrow" panose="020B0606020202030204" pitchFamily="34" charset="0"/>
              </a:rPr>
              <a:t>SAR - SLX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FAC3625-7879-6F43-A389-C6976EDA8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20" y="2956242"/>
            <a:ext cx="2885577" cy="156038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6CC4659-46B8-AA7E-0E38-B978CC530A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47748" y="1022510"/>
            <a:ext cx="2158927" cy="1847825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05AE270F-5545-10A6-D64D-D38C877602D5}"/>
              </a:ext>
            </a:extLst>
          </p:cNvPr>
          <p:cNvSpPr txBox="1"/>
          <p:nvPr/>
        </p:nvSpPr>
        <p:spPr>
          <a:xfrm>
            <a:off x="3782281" y="764066"/>
            <a:ext cx="1709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Clr>
                <a:schemeClr val="accent5"/>
              </a:buClr>
              <a:buNone/>
            </a:pPr>
            <a:r>
              <a:rPr lang="es-CO" sz="1200" b="1" dirty="0">
                <a:latin typeface="Arial Narrow" panose="020B0606020202030204" pitchFamily="34" charset="0"/>
              </a:rPr>
              <a:t>SAR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AC6C6343-7A23-C18F-11FA-36E34033C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3258" y="2864799"/>
            <a:ext cx="2536874" cy="1708893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AF4EB4CF-536D-6B3C-D373-AB14EFEDC03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95897" y="1070927"/>
            <a:ext cx="2158927" cy="1846039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1CE59ADA-AB87-FAC9-ED26-96DA4A3F7A95}"/>
              </a:ext>
            </a:extLst>
          </p:cNvPr>
          <p:cNvSpPr txBox="1"/>
          <p:nvPr/>
        </p:nvSpPr>
        <p:spPr>
          <a:xfrm>
            <a:off x="6563293" y="811590"/>
            <a:ext cx="1709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Clr>
                <a:schemeClr val="accent5"/>
              </a:buClr>
              <a:buNone/>
            </a:pPr>
            <a:r>
              <a:rPr lang="es-CO" sz="1200" b="1" dirty="0">
                <a:latin typeface="Arial Narrow" panose="020B0606020202030204" pitchFamily="34" charset="0"/>
              </a:rPr>
              <a:t>SDEM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B47C03D1-823B-4CAE-48AD-92C2573778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5897" y="2974046"/>
            <a:ext cx="2672297" cy="149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817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17932-DE09-7505-9201-D53F100B0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65014B7-83E0-A5EC-FCE0-C9467B9C17B6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M</a:t>
            </a:r>
            <a:r>
              <a:rPr lang="es-ES" sz="2200" dirty="0" err="1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odelos</a:t>
            </a:r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 SAR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4450B6F-F198-C4DA-6D58-382DE915C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24</a:t>
            </a:fld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0335D7D-6BDF-49F8-24FA-30589F87E64F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DBA12BF-65F2-486C-3F68-2A09E7E8CE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2511" y="951488"/>
            <a:ext cx="2158929" cy="184604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94285E1-234B-437C-CEBD-FB952BBF6273}"/>
              </a:ext>
            </a:extLst>
          </p:cNvPr>
          <p:cNvSpPr txBox="1"/>
          <p:nvPr/>
        </p:nvSpPr>
        <p:spPr>
          <a:xfrm>
            <a:off x="633984" y="697552"/>
            <a:ext cx="1709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Clr>
                <a:schemeClr val="accent5"/>
              </a:buClr>
              <a:buNone/>
            </a:pPr>
            <a:r>
              <a:rPr lang="es-CO" sz="1200" b="1" dirty="0">
                <a:latin typeface="Arial Narrow" panose="020B0606020202030204" pitchFamily="34" charset="0"/>
              </a:rPr>
              <a:t>SAC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D986120-8198-8739-79A0-45E66016FA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6474" y="2957197"/>
            <a:ext cx="2885577" cy="140217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FDB6970-D997-2F03-54A7-F2B4020ED6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81988" y="961550"/>
            <a:ext cx="2158927" cy="1847824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50ECB76B-B219-A0BA-FD66-DD85D587B410}"/>
              </a:ext>
            </a:extLst>
          </p:cNvPr>
          <p:cNvSpPr txBox="1"/>
          <p:nvPr/>
        </p:nvSpPr>
        <p:spPr>
          <a:xfrm>
            <a:off x="3372507" y="703106"/>
            <a:ext cx="1709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Clr>
                <a:schemeClr val="accent5"/>
              </a:buClr>
              <a:buNone/>
            </a:pPr>
            <a:r>
              <a:rPr lang="es-CO" sz="1200" b="1" dirty="0">
                <a:latin typeface="Arial Narrow" panose="020B0606020202030204" pitchFamily="34" charset="0"/>
              </a:rPr>
              <a:t>SDM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D380B2E-DAF3-BA00-C07E-AF467909C3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9248" y="3039693"/>
            <a:ext cx="2584497" cy="133680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E9E6C4C-22BD-0FEE-E5C1-D64538A813B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" t="5870" r="33168"/>
          <a:stretch>
            <a:fillRect/>
          </a:stretch>
        </p:blipFill>
        <p:spPr>
          <a:xfrm>
            <a:off x="5607041" y="531257"/>
            <a:ext cx="3273505" cy="162300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9C95E07F-5CD8-6579-8E96-4D3104FA39D5}"/>
              </a:ext>
            </a:extLst>
          </p:cNvPr>
          <p:cNvSpPr txBox="1"/>
          <p:nvPr/>
        </p:nvSpPr>
        <p:spPr>
          <a:xfrm>
            <a:off x="5453705" y="2154261"/>
            <a:ext cx="369029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Clr>
                <a:schemeClr val="accent5"/>
              </a:buClr>
              <a:buNone/>
            </a:pPr>
            <a:r>
              <a:rPr lang="es-CO" sz="1100" dirty="0">
                <a:latin typeface="Arial Narrow" panose="020B0606020202030204" pitchFamily="34" charset="0"/>
              </a:rPr>
              <a:t>Los modelos SAR tienden a sobreestimar el numero de eventos en algunos municipios Y subestimar otros. que corresponden a los municipios con mayor numero de eventos.</a:t>
            </a:r>
          </a:p>
          <a:p>
            <a:pPr marL="0" indent="0" algn="ctr">
              <a:buClr>
                <a:schemeClr val="accent5"/>
              </a:buClr>
              <a:buNone/>
            </a:pPr>
            <a:endParaRPr lang="es-CO" sz="1100" dirty="0">
              <a:latin typeface="Arial Narrow" panose="020B0606020202030204" pitchFamily="34" charset="0"/>
            </a:endParaRP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100" dirty="0">
                <a:latin typeface="Arial Narrow" panose="020B0606020202030204" pitchFamily="34" charset="0"/>
              </a:rPr>
              <a:t>Los p-</a:t>
            </a:r>
            <a:r>
              <a:rPr lang="es-CO" sz="1100" dirty="0" err="1">
                <a:latin typeface="Arial Narrow" panose="020B0606020202030204" pitchFamily="34" charset="0"/>
              </a:rPr>
              <a:t>values</a:t>
            </a:r>
            <a:r>
              <a:rPr lang="es-CO" sz="1100" dirty="0">
                <a:latin typeface="Arial Narrow" panose="020B0606020202030204" pitchFamily="34" charset="0"/>
              </a:rPr>
              <a:t> de los modelos evidencian </a:t>
            </a:r>
            <a:r>
              <a:rPr lang="es-CO" sz="1100" b="1" dirty="0">
                <a:latin typeface="Arial Narrow" panose="020B0606020202030204" pitchFamily="34" charset="0"/>
              </a:rPr>
              <a:t>autocorrelación espacial de los residuos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7AB4AA35-9A1D-4037-1A88-EF737A314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312973"/>
              </p:ext>
            </p:extLst>
          </p:nvPr>
        </p:nvGraphicFramePr>
        <p:xfrm>
          <a:off x="5663610" y="3201610"/>
          <a:ext cx="3270484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090">
                  <a:extLst>
                    <a:ext uri="{9D8B030D-6E8A-4147-A177-3AD203B41FA5}">
                      <a16:colId xmlns:a16="http://schemas.microsoft.com/office/drawing/2014/main" val="2760559611"/>
                    </a:ext>
                  </a:extLst>
                </a:gridCol>
                <a:gridCol w="519627">
                  <a:extLst>
                    <a:ext uri="{9D8B030D-6E8A-4147-A177-3AD203B41FA5}">
                      <a16:colId xmlns:a16="http://schemas.microsoft.com/office/drawing/2014/main" val="2418435245"/>
                    </a:ext>
                  </a:extLst>
                </a:gridCol>
                <a:gridCol w="709589">
                  <a:extLst>
                    <a:ext uri="{9D8B030D-6E8A-4147-A177-3AD203B41FA5}">
                      <a16:colId xmlns:a16="http://schemas.microsoft.com/office/drawing/2014/main" val="1576172361"/>
                    </a:ext>
                  </a:extLst>
                </a:gridCol>
                <a:gridCol w="745164">
                  <a:extLst>
                    <a:ext uri="{9D8B030D-6E8A-4147-A177-3AD203B41FA5}">
                      <a16:colId xmlns:a16="http://schemas.microsoft.com/office/drawing/2014/main" val="2648094178"/>
                    </a:ext>
                  </a:extLst>
                </a:gridCol>
                <a:gridCol w="674014">
                  <a:extLst>
                    <a:ext uri="{9D8B030D-6E8A-4147-A177-3AD203B41FA5}">
                      <a16:colId xmlns:a16="http://schemas.microsoft.com/office/drawing/2014/main" val="1952414020"/>
                    </a:ext>
                  </a:extLst>
                </a:gridCol>
              </a:tblGrid>
              <a:tr h="139566"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Modelo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R²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R² </a:t>
                      </a:r>
                      <a:r>
                        <a:rPr lang="es-CO" sz="800" dirty="0" err="1"/>
                        <a:t>adjusted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Índice Moran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p-</a:t>
                      </a:r>
                      <a:r>
                        <a:rPr lang="es-CO" sz="800" dirty="0" err="1"/>
                        <a:t>value</a:t>
                      </a:r>
                      <a:endParaRPr lang="es-E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3213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SAR-SLX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-1.7213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-1.7659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0.098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0.0350</a:t>
                      </a:r>
                      <a:endParaRPr lang="es-E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3675030"/>
                  </a:ext>
                </a:extLst>
              </a:tr>
              <a:tr h="168637"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SAR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-0.9656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-1.0143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0.187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0.0020</a:t>
                      </a:r>
                      <a:endParaRPr lang="es-E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9070103"/>
                  </a:ext>
                </a:extLst>
              </a:tr>
              <a:tr h="192728"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SDEM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-4.2304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-4.4964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0.384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0.0010</a:t>
                      </a:r>
                      <a:endParaRPr lang="es-E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9459317"/>
                  </a:ext>
                </a:extLst>
              </a:tr>
              <a:tr h="193959"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SAC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-0.3646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-0.3984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0.483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0.0010</a:t>
                      </a:r>
                      <a:endParaRPr lang="es-E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240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SDM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-0.9012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-0.9979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0.036</a:t>
                      </a:r>
                      <a:endParaRPr lang="es-E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800" dirty="0"/>
                        <a:t>0.1820</a:t>
                      </a:r>
                      <a:endParaRPr lang="es-E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239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1989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94DB7-7947-F195-48E5-BF9647489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E2B4FC4-7628-0FA2-E66E-4E046CAE834A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M</a:t>
            </a:r>
            <a:r>
              <a:rPr lang="es-ES" sz="2200" dirty="0" err="1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odelo</a:t>
            </a:r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 ICAR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2F409F3-4E89-09DD-1733-F61D2DB4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25</a:t>
            </a:fld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630BB88-5AFC-B16E-44BA-812F64CCE3F2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34AE60D-5D74-239E-C5F1-C4FBBD395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91" y="2160049"/>
            <a:ext cx="3645771" cy="223669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D2D9007-F4B0-9AE0-3C4E-38BF0CAF2C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24"/>
          <a:stretch>
            <a:fillRect/>
          </a:stretch>
        </p:blipFill>
        <p:spPr>
          <a:xfrm>
            <a:off x="3974016" y="721360"/>
            <a:ext cx="5101403" cy="170942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FBE7A59-66F1-D96C-CB7F-4EFCBE941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9395" y="1051064"/>
            <a:ext cx="1820594" cy="80143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99F41210-3718-7D63-2A15-46FD42C548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2535" y="2430780"/>
            <a:ext cx="2493735" cy="2132324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A9FF780C-1BDF-F97C-43EF-F359E7E32C14}"/>
              </a:ext>
            </a:extLst>
          </p:cNvPr>
          <p:cNvSpPr txBox="1"/>
          <p:nvPr/>
        </p:nvSpPr>
        <p:spPr>
          <a:xfrm>
            <a:off x="252046" y="1051064"/>
            <a:ext cx="16667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Clr>
                <a:schemeClr val="accent5"/>
              </a:buClr>
              <a:buNone/>
            </a:pPr>
            <a:r>
              <a:rPr lang="es-CO" sz="1200" b="1" dirty="0">
                <a:latin typeface="Arial Narrow" panose="020B0606020202030204" pitchFamily="34" charset="0"/>
              </a:rPr>
              <a:t>ICAR: </a:t>
            </a:r>
            <a:r>
              <a:rPr lang="es-CO" sz="1200" dirty="0">
                <a:latin typeface="Arial Narrow" panose="020B0606020202030204" pitchFamily="34" charset="0"/>
              </a:rPr>
              <a:t>Distribución binomial negativa</a:t>
            </a: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200" dirty="0">
                <a:latin typeface="Arial Narrow" panose="020B0606020202030204" pitchFamily="34" charset="0"/>
              </a:rPr>
              <a:t>Matriz de contigüidad tipo Queen.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0C87C484-6720-D14D-E41E-54444486D98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09555" y="2430780"/>
            <a:ext cx="2132324" cy="213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333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99826-4967-4959-A557-A54085681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2597C80-ACED-72DA-AAD6-11BAF4C3072F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M</a:t>
            </a:r>
            <a:r>
              <a:rPr lang="es-ES" sz="2200" dirty="0" err="1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odelo</a:t>
            </a:r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 Leroux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03DA5A5-2172-8009-81DA-7BE3D935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26</a:t>
            </a:fld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162D2B8-40F2-447A-B7F8-2A07DFB5ADBC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E69B7FC-95C6-671E-80C5-89F6AC8DB2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4514" y="2277527"/>
            <a:ext cx="3571272" cy="223669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57F3483-CABD-2738-2DBB-5B4456BB27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38" b="-1479"/>
          <a:stretch>
            <a:fillRect/>
          </a:stretch>
        </p:blipFill>
        <p:spPr>
          <a:xfrm>
            <a:off x="3974016" y="695959"/>
            <a:ext cx="5101403" cy="173482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A172AA2-7C94-9ED9-B311-55C9E03E3A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88227" y="864649"/>
            <a:ext cx="2085789" cy="96267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D047E90E-CF0E-2A37-5461-6BB7B9DADE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782281" y="2430780"/>
            <a:ext cx="2493734" cy="2132324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5A868BA4-F44F-1E02-5F7C-3B8762C147A9}"/>
              </a:ext>
            </a:extLst>
          </p:cNvPr>
          <p:cNvSpPr txBox="1"/>
          <p:nvPr/>
        </p:nvSpPr>
        <p:spPr>
          <a:xfrm>
            <a:off x="180610" y="919192"/>
            <a:ext cx="16667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Clr>
                <a:schemeClr val="accent5"/>
              </a:buClr>
              <a:buNone/>
            </a:pPr>
            <a:r>
              <a:rPr lang="es-CO" sz="1200" b="1" dirty="0" err="1">
                <a:latin typeface="Arial Narrow" panose="020B0606020202030204" pitchFamily="34" charset="0"/>
              </a:rPr>
              <a:t>Leorux</a:t>
            </a:r>
            <a:r>
              <a:rPr lang="es-CO" sz="1200" b="1" dirty="0">
                <a:latin typeface="Arial Narrow" panose="020B0606020202030204" pitchFamily="34" charset="0"/>
              </a:rPr>
              <a:t>: </a:t>
            </a:r>
            <a:r>
              <a:rPr lang="es-CO" sz="1200" dirty="0">
                <a:latin typeface="Arial Narrow" panose="020B0606020202030204" pitchFamily="34" charset="0"/>
              </a:rPr>
              <a:t>Distribución binomial negativa</a:t>
            </a: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200" dirty="0">
                <a:latin typeface="Arial Narrow" panose="020B0606020202030204" pitchFamily="34" charset="0"/>
              </a:rPr>
              <a:t>Lambda aproximadamente 70%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27DBF8BB-B43A-F857-681F-4FD4EEF7156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09555" y="2430780"/>
            <a:ext cx="2132324" cy="213232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CBE1B69-297F-5879-78F2-A4229E5E7D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322" y="1930750"/>
            <a:ext cx="3685009" cy="211214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ED81694E-C6DE-5D50-C416-2457C9066359}"/>
              </a:ext>
            </a:extLst>
          </p:cNvPr>
          <p:cNvSpPr/>
          <p:nvPr/>
        </p:nvSpPr>
        <p:spPr>
          <a:xfrm>
            <a:off x="1007113" y="1930750"/>
            <a:ext cx="474215" cy="21121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395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193E1-A502-985D-2781-17889D510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CD4E80D-CA2E-D879-309B-AC2BBCFB70CE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M</a:t>
            </a:r>
            <a:r>
              <a:rPr lang="es-ES" sz="2200" dirty="0" err="1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odelo</a:t>
            </a:r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 de Regímenes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BE0C2B8-38C5-B2A9-FE08-FE3287DC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27</a:t>
            </a:fld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046505D-219A-9929-C012-8B60AA52709A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9CF6E61-58C2-9473-F0B5-4988497E34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76" b="-152"/>
          <a:stretch>
            <a:fillRect/>
          </a:stretch>
        </p:blipFill>
        <p:spPr>
          <a:xfrm>
            <a:off x="153545" y="801999"/>
            <a:ext cx="6182751" cy="20242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3958614-9FE7-A2E6-202E-92A5B0721D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70849" y="729652"/>
            <a:ext cx="2619606" cy="2169774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95BF02F2-BB49-4F76-BFCA-1727B0E30DF5}"/>
              </a:ext>
            </a:extLst>
          </p:cNvPr>
          <p:cNvSpPr txBox="1"/>
          <p:nvPr/>
        </p:nvSpPr>
        <p:spPr>
          <a:xfrm>
            <a:off x="7281231" y="3274208"/>
            <a:ext cx="17092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Clr>
                <a:schemeClr val="accent5"/>
              </a:buClr>
              <a:buNone/>
            </a:pPr>
            <a:r>
              <a:rPr lang="es-CO" sz="1200" dirty="0">
                <a:latin typeface="Arial Narrow" panose="020B0606020202030204" pitchFamily="34" charset="0"/>
              </a:rPr>
              <a:t>R²: 0.4279</a:t>
            </a: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200" dirty="0">
                <a:latin typeface="Arial Narrow" panose="020B0606020202030204" pitchFamily="34" charset="0"/>
              </a:rPr>
              <a:t>R² </a:t>
            </a:r>
            <a:r>
              <a:rPr lang="es-CO" sz="1200" dirty="0" err="1">
                <a:latin typeface="Arial Narrow" panose="020B0606020202030204" pitchFamily="34" charset="0"/>
              </a:rPr>
              <a:t>adjusted</a:t>
            </a:r>
            <a:r>
              <a:rPr lang="es-CO" sz="1200" dirty="0">
                <a:latin typeface="Arial Narrow" panose="020B0606020202030204" pitchFamily="34" charset="0"/>
              </a:rPr>
              <a:t>: 0.4137</a:t>
            </a: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200" dirty="0">
                <a:latin typeface="Arial Narrow" panose="020B0606020202030204" pitchFamily="34" charset="0"/>
              </a:rPr>
              <a:t>Moran de los residuos:</a:t>
            </a: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200" dirty="0">
                <a:latin typeface="Arial Narrow" panose="020B0606020202030204" pitchFamily="34" charset="0"/>
              </a:rPr>
              <a:t>I=0.011, p-</a:t>
            </a:r>
            <a:r>
              <a:rPr lang="es-CO" sz="1200" dirty="0" err="1">
                <a:latin typeface="Arial Narrow" panose="020B0606020202030204" pitchFamily="34" charset="0"/>
              </a:rPr>
              <a:t>value</a:t>
            </a:r>
            <a:r>
              <a:rPr lang="es-CO" sz="1200" dirty="0">
                <a:latin typeface="Arial Narrow" panose="020B0606020202030204" pitchFamily="34" charset="0"/>
              </a:rPr>
              <a:t> = 0.3550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B9B4517-D20D-7665-F4FF-B499E6167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402" y="2828889"/>
            <a:ext cx="1283588" cy="175844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2D034C1-6421-1EAD-54F0-0378200F92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6847" y="2821182"/>
            <a:ext cx="2202000" cy="173705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FA11107-2D2F-BF9F-1B09-5EA0A2EAE0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7" y="3111862"/>
            <a:ext cx="2665010" cy="119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948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70CEF-1F2B-3D37-AE83-A5D9A208F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6290810-B749-91DF-32BC-5E7423BF9972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M</a:t>
            </a:r>
            <a:r>
              <a:rPr lang="es-ES" sz="2200" dirty="0" err="1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odelo</a:t>
            </a:r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 GWR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4F594DC-2796-DFEC-D638-F636B985C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28</a:t>
            </a:fld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6E32F65-481F-C61F-CF79-5C0FA76E76B9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A861659-2768-7140-AD4D-B4936C920E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43" b="-2922"/>
          <a:stretch>
            <a:fillRect/>
          </a:stretch>
        </p:blipFill>
        <p:spPr>
          <a:xfrm>
            <a:off x="4666939" y="415706"/>
            <a:ext cx="4366883" cy="403747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6058368-1656-430C-5F5B-11C59F2CB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022" y="780158"/>
            <a:ext cx="2181797" cy="169024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28AA047-A5EF-D215-4B46-7F9858E5E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4022" y="2440338"/>
            <a:ext cx="2159826" cy="197144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99B6E9C8-625C-C61C-4ED9-27A782AACF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71" y="2725972"/>
            <a:ext cx="2133599" cy="182614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9CD13FE-B122-C8FF-722A-C37177ADE46B}"/>
              </a:ext>
            </a:extLst>
          </p:cNvPr>
          <p:cNvSpPr txBox="1"/>
          <p:nvPr/>
        </p:nvSpPr>
        <p:spPr>
          <a:xfrm>
            <a:off x="202848" y="780158"/>
            <a:ext cx="19951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Clr>
                <a:schemeClr val="accent5"/>
              </a:buClr>
              <a:buNone/>
            </a:pPr>
            <a:r>
              <a:rPr lang="es-CO" sz="1200" b="1" dirty="0" err="1">
                <a:latin typeface="Arial Narrow" panose="020B0606020202030204" pitchFamily="34" charset="0"/>
              </a:rPr>
              <a:t>Kernel</a:t>
            </a:r>
            <a:r>
              <a:rPr lang="es-CO" sz="1200" b="1" dirty="0">
                <a:latin typeface="Arial Narrow" panose="020B0606020202030204" pitchFamily="34" charset="0"/>
              </a:rPr>
              <a:t>: </a:t>
            </a:r>
            <a:r>
              <a:rPr lang="es-CO" sz="1200" dirty="0">
                <a:latin typeface="Arial Narrow" panose="020B0606020202030204" pitchFamily="34" charset="0"/>
              </a:rPr>
              <a:t>Adaptative </a:t>
            </a:r>
            <a:r>
              <a:rPr lang="es-CO" sz="1200" dirty="0" err="1">
                <a:latin typeface="Arial Narrow" panose="020B0606020202030204" pitchFamily="34" charset="0"/>
              </a:rPr>
              <a:t>Bisquare</a:t>
            </a:r>
            <a:endParaRPr lang="es-CO" sz="1200" dirty="0">
              <a:latin typeface="Arial Narrow" panose="020B0606020202030204" pitchFamily="34" charset="0"/>
            </a:endParaRP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200" b="1" dirty="0">
                <a:latin typeface="Arial Narrow" panose="020B0606020202030204" pitchFamily="34" charset="0"/>
              </a:rPr>
              <a:t>Ancho de banda optimo: </a:t>
            </a:r>
            <a:r>
              <a:rPr lang="es-CO" sz="1200" dirty="0">
                <a:latin typeface="Arial Narrow" panose="020B0606020202030204" pitchFamily="34" charset="0"/>
              </a:rPr>
              <a:t>92</a:t>
            </a:r>
          </a:p>
          <a:p>
            <a:pPr marL="0" indent="0" algn="ctr">
              <a:buClr>
                <a:schemeClr val="accent5"/>
              </a:buClr>
              <a:buNone/>
            </a:pPr>
            <a:endParaRPr lang="es-CO" sz="1200" dirty="0">
              <a:latin typeface="Arial Narrow" panose="020B0606020202030204" pitchFamily="34" charset="0"/>
            </a:endParaRPr>
          </a:p>
          <a:p>
            <a:pPr marL="0" indent="0" algn="ctr">
              <a:buClr>
                <a:schemeClr val="accent5"/>
              </a:buClr>
              <a:buNone/>
            </a:pPr>
            <a:r>
              <a:rPr lang="es-CO" sz="1200" dirty="0">
                <a:latin typeface="Arial Narrow" panose="020B0606020202030204" pitchFamily="34" charset="0"/>
              </a:rPr>
              <a:t>Mejor ajuste del modelo en las regiones occidentales y orientales del departamento.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2C4E6B4-FD51-093C-83A3-4E5D6D25C0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4799" y="2136151"/>
            <a:ext cx="373366" cy="26669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A8976DD-BA82-2795-AA85-4A7528C5AB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4799" y="4096652"/>
            <a:ext cx="373366" cy="26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237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63028-9755-ACBE-71CE-B3517BFBF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312A2C4-DAA6-D53F-1403-214B81449EBA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Resumen de Modelos</a:t>
            </a:r>
            <a:endParaRPr lang="es-ES" sz="2200" dirty="0">
              <a:solidFill>
                <a:schemeClr val="accent1"/>
              </a:solidFill>
              <a:latin typeface="Ancizar Serif Extrabold" panose="020A0902070300000003" pitchFamily="18" charset="0"/>
              <a:cs typeface="Ancizar Sans Extrabold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5C4FAC-D013-E4EB-62A5-C91872312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29</a:t>
            </a:fld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43A0CA-8D1E-0D55-96C2-78F55E124A2A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6EED17E1-F39F-8B14-AFEC-17C179D4D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914331"/>
              </p:ext>
            </p:extLst>
          </p:nvPr>
        </p:nvGraphicFramePr>
        <p:xfrm>
          <a:off x="477376" y="850431"/>
          <a:ext cx="60960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1231">
                  <a:extLst>
                    <a:ext uri="{9D8B030D-6E8A-4147-A177-3AD203B41FA5}">
                      <a16:colId xmlns:a16="http://schemas.microsoft.com/office/drawing/2014/main" val="2760559611"/>
                    </a:ext>
                  </a:extLst>
                </a:gridCol>
                <a:gridCol w="787790">
                  <a:extLst>
                    <a:ext uri="{9D8B030D-6E8A-4147-A177-3AD203B41FA5}">
                      <a16:colId xmlns:a16="http://schemas.microsoft.com/office/drawing/2014/main" val="2418435245"/>
                    </a:ext>
                  </a:extLst>
                </a:gridCol>
                <a:gridCol w="1228579">
                  <a:extLst>
                    <a:ext uri="{9D8B030D-6E8A-4147-A177-3AD203B41FA5}">
                      <a16:colId xmlns:a16="http://schemas.microsoft.com/office/drawing/2014/main" val="157617236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4844365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898559703"/>
                    </a:ext>
                  </a:extLst>
                </a:gridCol>
              </a:tblGrid>
              <a:tr h="288329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Modelo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R²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R² </a:t>
                      </a:r>
                      <a:r>
                        <a:rPr lang="es-CO" sz="1400" dirty="0" err="1"/>
                        <a:t>adjusted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Índice Moran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p-</a:t>
                      </a:r>
                      <a:r>
                        <a:rPr lang="es-CO" sz="1400" dirty="0" err="1"/>
                        <a:t>value</a:t>
                      </a: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3213999"/>
                  </a:ext>
                </a:extLst>
              </a:tr>
              <a:tr h="275778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Binomial Negativo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0.3577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0.3418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-0.012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0.4880</a:t>
                      </a: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202987"/>
                  </a:ext>
                </a:extLst>
              </a:tr>
              <a:tr h="288329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SAR-SLX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-1.7213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-1.7659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0.098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0.0270</a:t>
                      </a: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3675030"/>
                  </a:ext>
                </a:extLst>
              </a:tr>
              <a:tr h="288329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SAR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-0.9656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/>
                        <a:t>-1.0143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0.187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0.0020</a:t>
                      </a: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9070103"/>
                  </a:ext>
                </a:extLst>
              </a:tr>
              <a:tr h="288329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SDEM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-4.2304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-4.4964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0.384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0.0010</a:t>
                      </a: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9459317"/>
                  </a:ext>
                </a:extLst>
              </a:tr>
              <a:tr h="288329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SAC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-0.3646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-0.3984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0.483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0.0010</a:t>
                      </a: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240438"/>
                  </a:ext>
                </a:extLst>
              </a:tr>
              <a:tr h="288329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SDM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-0.9012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-0.9979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0.036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0.1820</a:t>
                      </a: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239326"/>
                  </a:ext>
                </a:extLst>
              </a:tr>
              <a:tr h="288329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ICAR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0.7168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0.7097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-0.021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0.4260</a:t>
                      </a: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556444"/>
                  </a:ext>
                </a:extLst>
              </a:tr>
              <a:tr h="288329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Leroux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0.9626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0.9617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-0.068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0.1300</a:t>
                      </a: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415193"/>
                  </a:ext>
                </a:extLst>
              </a:tr>
              <a:tr h="288329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 err="1"/>
                        <a:t>Regimenes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0.4279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0.4137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0.011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0.3550</a:t>
                      </a: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899311"/>
                  </a:ext>
                </a:extLst>
              </a:tr>
              <a:tr h="288329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GWR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0.3050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0.2820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0.006</a:t>
                      </a:r>
                      <a:endParaRPr lang="es-E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0.3820</a:t>
                      </a: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3792"/>
                  </a:ext>
                </a:extLst>
              </a:tr>
            </a:tbl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0A103D95-DC45-6060-12AB-59C504C5956F}"/>
              </a:ext>
            </a:extLst>
          </p:cNvPr>
          <p:cNvSpPr/>
          <p:nvPr/>
        </p:nvSpPr>
        <p:spPr>
          <a:xfrm>
            <a:off x="477376" y="1441938"/>
            <a:ext cx="6096000" cy="154525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1A0F517-4654-8575-13CA-3BFB7EFC7A81}"/>
              </a:ext>
            </a:extLst>
          </p:cNvPr>
          <p:cNvSpPr/>
          <p:nvPr/>
        </p:nvSpPr>
        <p:spPr>
          <a:xfrm>
            <a:off x="477376" y="3010486"/>
            <a:ext cx="6096000" cy="577289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648EDD4-3D0C-3A7A-F5F6-F5CEEF2BBC62}"/>
              </a:ext>
            </a:extLst>
          </p:cNvPr>
          <p:cNvSpPr txBox="1"/>
          <p:nvPr/>
        </p:nvSpPr>
        <p:spPr>
          <a:xfrm>
            <a:off x="7016500" y="1799068"/>
            <a:ext cx="15849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Clr>
                <a:schemeClr val="accent5"/>
              </a:buClr>
              <a:buNone/>
            </a:pPr>
            <a:r>
              <a:rPr lang="es-CO" sz="1200" dirty="0">
                <a:latin typeface="Arial Narrow" panose="020B0606020202030204" pitchFamily="34" charset="0"/>
              </a:rPr>
              <a:t>Persistencia en autocorrelación de residuos y grandes errores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F8EF3EA-E7B7-EE19-DF71-1CF0E5A99BF5}"/>
              </a:ext>
            </a:extLst>
          </p:cNvPr>
          <p:cNvSpPr txBox="1"/>
          <p:nvPr/>
        </p:nvSpPr>
        <p:spPr>
          <a:xfrm>
            <a:off x="7016501" y="3148985"/>
            <a:ext cx="15849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Clr>
                <a:schemeClr val="accent5"/>
              </a:buClr>
              <a:buNone/>
            </a:pPr>
            <a:r>
              <a:rPr lang="es-CO" sz="1200" dirty="0">
                <a:latin typeface="Arial Narrow" panose="020B0606020202030204" pitchFamily="34" charset="0"/>
              </a:rPr>
              <a:t>Mejor ajuste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B09363A2-7FFC-B298-20C2-216197E96C8B}"/>
              </a:ext>
            </a:extLst>
          </p:cNvPr>
          <p:cNvCxnSpPr>
            <a:cxnSpLocks/>
            <a:stCxn id="10" idx="3"/>
            <a:endCxn id="17" idx="1"/>
          </p:cNvCxnSpPr>
          <p:nvPr/>
        </p:nvCxnSpPr>
        <p:spPr>
          <a:xfrm>
            <a:off x="6573376" y="2214567"/>
            <a:ext cx="44312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55352106-D537-0239-3D52-D8A763E0E80A}"/>
              </a:ext>
            </a:extLst>
          </p:cNvPr>
          <p:cNvCxnSpPr>
            <a:cxnSpLocks/>
          </p:cNvCxnSpPr>
          <p:nvPr/>
        </p:nvCxnSpPr>
        <p:spPr>
          <a:xfrm>
            <a:off x="6572898" y="3287485"/>
            <a:ext cx="443603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2038397-2BDC-4116-5B24-1F8B41BE3B07}"/>
              </a:ext>
            </a:extLst>
          </p:cNvPr>
          <p:cNvSpPr/>
          <p:nvPr/>
        </p:nvSpPr>
        <p:spPr>
          <a:xfrm>
            <a:off x="477376" y="3606306"/>
            <a:ext cx="6096000" cy="281758"/>
          </a:xfrm>
          <a:prstGeom prst="rect">
            <a:avLst/>
          </a:prstGeom>
          <a:noFill/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D8D74636-BBE1-483D-01B7-35A9E22CD104}"/>
              </a:ext>
            </a:extLst>
          </p:cNvPr>
          <p:cNvCxnSpPr>
            <a:cxnSpLocks/>
          </p:cNvCxnSpPr>
          <p:nvPr/>
        </p:nvCxnSpPr>
        <p:spPr>
          <a:xfrm>
            <a:off x="6572897" y="3748726"/>
            <a:ext cx="443603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66E98C5-7309-B0FF-53B3-545E9F42ABD8}"/>
              </a:ext>
            </a:extLst>
          </p:cNvPr>
          <p:cNvSpPr txBox="1"/>
          <p:nvPr/>
        </p:nvSpPr>
        <p:spPr>
          <a:xfrm>
            <a:off x="7016500" y="3611065"/>
            <a:ext cx="20195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Clr>
                <a:schemeClr val="accent5"/>
              </a:buClr>
              <a:buNone/>
            </a:pPr>
            <a:r>
              <a:rPr lang="es-CO" sz="1200" dirty="0">
                <a:latin typeface="Arial Narrow" panose="020B0606020202030204" pitchFamily="34" charset="0"/>
              </a:rPr>
              <a:t>Detecta variabilidad espacial en regiones pero subestima los eventos </a:t>
            </a:r>
          </a:p>
        </p:txBody>
      </p:sp>
    </p:spTree>
    <p:extLst>
      <p:ext uri="{BB962C8B-B14F-4D97-AF65-F5344CB8AC3E}">
        <p14:creationId xmlns:p14="http://schemas.microsoft.com/office/powerpoint/2010/main" val="1374181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3CA4C9-D44E-093C-4F76-E6F34F7A5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314CF03-C5B4-208A-6585-3FC7960B83D9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Referencias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8E7539F-D54F-A325-4EC8-42766E7EC2B8}"/>
              </a:ext>
            </a:extLst>
          </p:cNvPr>
          <p:cNvSpPr txBox="1"/>
          <p:nvPr/>
        </p:nvSpPr>
        <p:spPr>
          <a:xfrm>
            <a:off x="561600" y="841643"/>
            <a:ext cx="807120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342900" indent="-342900">
              <a:buClr>
                <a:schemeClr val="accent5"/>
              </a:buClr>
              <a:buFont typeface="+mj-lt"/>
              <a:buAutoNum type="arabicPeriod"/>
            </a:pPr>
            <a:r>
              <a:rPr lang="es-ES" sz="1100" dirty="0">
                <a:latin typeface="Arial Narrow" panose="020B0606020202030204" pitchFamily="34" charset="0"/>
              </a:rPr>
              <a:t>Aristizábal, E. V., Correa, D., García, C., Valencia, A. M., &amp; Zabaleta, E. A. (2025). </a:t>
            </a:r>
            <a:r>
              <a:rPr lang="es-ES" sz="1100" dirty="0" err="1">
                <a:latin typeface="Arial Narrow" panose="020B0606020202030204" pitchFamily="34" charset="0"/>
              </a:rPr>
              <a:t>Geohazard</a:t>
            </a:r>
            <a:r>
              <a:rPr lang="es-ES" sz="1100" dirty="0">
                <a:latin typeface="Arial Narrow" panose="020B0606020202030204" pitchFamily="34" charset="0"/>
              </a:rPr>
              <a:t>: base de datos por movimientos en masa y avenidas torrenciales en Colombia y el departamento de Antioquia. Ciencia e Ingeniería Neogranadina, 35(1), 131-147. https://doi.org/10.18359/rcin.7786</a:t>
            </a:r>
            <a:endParaRPr lang="es-CO" sz="1100" dirty="0">
              <a:latin typeface="Arial Narrow" panose="020B0606020202030204" pitchFamily="34" charset="0"/>
            </a:endParaRPr>
          </a:p>
          <a:p>
            <a:pPr marL="342900" indent="-342900">
              <a:buClr>
                <a:schemeClr val="accent5"/>
              </a:buClr>
              <a:buFont typeface="+mj-lt"/>
              <a:buAutoNum type="arabicPeriod"/>
            </a:pPr>
            <a:r>
              <a:rPr lang="es-CO" sz="1100" dirty="0">
                <a:latin typeface="Arial Narrow" panose="020B0606020202030204" pitchFamily="34" charset="0"/>
              </a:rPr>
              <a:t>Aristizábal, E. V. (2026). Análisis Geoespacial. GitHub Pages. https://edieraristizabal.github.io/Libro_AnalisisGeoespacial/intro.html</a:t>
            </a:r>
          </a:p>
          <a:p>
            <a:pPr marL="342900" indent="-342900">
              <a:buClr>
                <a:schemeClr val="accent5"/>
              </a:buClr>
              <a:buFont typeface="+mj-lt"/>
              <a:buAutoNum type="arabicPeriod"/>
            </a:pPr>
            <a:r>
              <a:rPr lang="es-CO" sz="1100" dirty="0">
                <a:latin typeface="Arial Narrow" panose="020B0606020202030204" pitchFamily="34" charset="0"/>
              </a:rPr>
              <a:t>Departamento Administrativo de Gestión del Riesgo de Desastres de Antioquia. (s.f.). Inventario de eventos por inundaciones en el departamento de Antioquia [Base de datos]. Gobernación de Antioquia. https://www.antioquia.gov.co/gobernacion/departamentos-administrativos/dagran</a:t>
            </a:r>
          </a:p>
          <a:p>
            <a:pPr marL="342900" indent="-342900">
              <a:buClr>
                <a:schemeClr val="accent5"/>
              </a:buClr>
              <a:buFont typeface="+mj-lt"/>
              <a:buAutoNum type="arabicPeriod"/>
            </a:pPr>
            <a:r>
              <a:rPr lang="es-CO" sz="1100" dirty="0" err="1">
                <a:latin typeface="Arial Narrow" panose="020B0606020202030204" pitchFamily="34" charset="0"/>
              </a:rPr>
              <a:t>Kejing</a:t>
            </a:r>
            <a:r>
              <a:rPr lang="es-CO" sz="1100" dirty="0">
                <a:latin typeface="Arial Narrow" panose="020B0606020202030204" pitchFamily="34" charset="0"/>
              </a:rPr>
              <a:t> Zhou, </a:t>
            </a:r>
            <a:r>
              <a:rPr lang="es-CO" sz="1100" dirty="0" err="1">
                <a:latin typeface="Arial Narrow" panose="020B0606020202030204" pitchFamily="34" charset="0"/>
              </a:rPr>
              <a:t>Fanhua</a:t>
            </a:r>
            <a:r>
              <a:rPr lang="es-CO" sz="1100" dirty="0">
                <a:latin typeface="Arial Narrow" panose="020B0606020202030204" pitchFamily="34" charset="0"/>
              </a:rPr>
              <a:t> Kong, Haiwei Yin, Georgia </a:t>
            </a:r>
            <a:r>
              <a:rPr lang="es-CO" sz="1100" dirty="0" err="1">
                <a:latin typeface="Arial Narrow" panose="020B0606020202030204" pitchFamily="34" charset="0"/>
              </a:rPr>
              <a:t>Destouni</a:t>
            </a:r>
            <a:r>
              <a:rPr lang="es-CO" sz="1100" dirty="0">
                <a:latin typeface="Arial Narrow" panose="020B0606020202030204" pitchFamily="34" charset="0"/>
              </a:rPr>
              <a:t>, </a:t>
            </a:r>
            <a:r>
              <a:rPr lang="es-CO" sz="1100" dirty="0" err="1">
                <a:latin typeface="Arial Narrow" panose="020B0606020202030204" pitchFamily="34" charset="0"/>
              </a:rPr>
              <a:t>Xueying</a:t>
            </a:r>
            <a:r>
              <a:rPr lang="es-CO" sz="1100" dirty="0">
                <a:latin typeface="Arial Narrow" panose="020B0606020202030204" pitchFamily="34" charset="0"/>
              </a:rPr>
              <a:t> Zhuang, </a:t>
            </a:r>
            <a:r>
              <a:rPr lang="es-CO" sz="1100" dirty="0" err="1">
                <a:latin typeface="Arial Narrow" panose="020B0606020202030204" pitchFamily="34" charset="0"/>
              </a:rPr>
              <a:t>Yulong</a:t>
            </a:r>
            <a:r>
              <a:rPr lang="es-CO" sz="1100" dirty="0">
                <a:latin typeface="Arial Narrow" panose="020B0606020202030204" pitchFamily="34" charset="0"/>
              </a:rPr>
              <a:t> Ban, </a:t>
            </a:r>
            <a:r>
              <a:rPr lang="es-CO" sz="1100" dirty="0" err="1">
                <a:latin typeface="Arial Narrow" panose="020B0606020202030204" pitchFamily="34" charset="0"/>
              </a:rPr>
              <a:t>Liding</a:t>
            </a:r>
            <a:r>
              <a:rPr lang="es-CO" sz="1100" dirty="0">
                <a:latin typeface="Arial Narrow" panose="020B0606020202030204" pitchFamily="34" charset="0"/>
              </a:rPr>
              <a:t> Chen, Urban </a:t>
            </a:r>
            <a:r>
              <a:rPr lang="es-CO" sz="1100" dirty="0" err="1">
                <a:latin typeface="Arial Narrow" panose="020B0606020202030204" pitchFamily="34" charset="0"/>
              </a:rPr>
              <a:t>green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infrastructure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for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flood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resilience</a:t>
            </a:r>
            <a:r>
              <a:rPr lang="es-CO" sz="1100" dirty="0">
                <a:latin typeface="Arial Narrow" panose="020B0606020202030204" pitchFamily="34" charset="0"/>
              </a:rPr>
              <a:t>: </a:t>
            </a:r>
            <a:r>
              <a:rPr lang="es-CO" sz="1100" dirty="0" err="1">
                <a:latin typeface="Arial Narrow" panose="020B0606020202030204" pitchFamily="34" charset="0"/>
              </a:rPr>
              <a:t>Runoff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sink-source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regime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shifts</a:t>
            </a:r>
            <a:r>
              <a:rPr lang="es-CO" sz="1100" dirty="0">
                <a:latin typeface="Arial Narrow" panose="020B0606020202030204" pitchFamily="34" charset="0"/>
              </a:rPr>
              <a:t> and </a:t>
            </a:r>
            <a:r>
              <a:rPr lang="es-CO" sz="1100" dirty="0" err="1">
                <a:latin typeface="Arial Narrow" panose="020B0606020202030204" pitchFamily="34" charset="0"/>
              </a:rPr>
              <a:t>vegetation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structure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influences</a:t>
            </a:r>
            <a:r>
              <a:rPr lang="es-CO" sz="1100" dirty="0">
                <a:latin typeface="Arial Narrow" panose="020B0606020202030204" pitchFamily="34" charset="0"/>
              </a:rPr>
              <a:t>, </a:t>
            </a:r>
            <a:r>
              <a:rPr lang="es-CO" sz="1100" dirty="0" err="1">
                <a:latin typeface="Arial Narrow" panose="020B0606020202030204" pitchFamily="34" charset="0"/>
              </a:rPr>
              <a:t>Geography</a:t>
            </a:r>
            <a:r>
              <a:rPr lang="es-CO" sz="1100" dirty="0">
                <a:latin typeface="Arial Narrow" panose="020B0606020202030204" pitchFamily="34" charset="0"/>
              </a:rPr>
              <a:t> and </a:t>
            </a:r>
            <a:r>
              <a:rPr lang="es-CO" sz="1100" dirty="0" err="1">
                <a:latin typeface="Arial Narrow" panose="020B0606020202030204" pitchFamily="34" charset="0"/>
              </a:rPr>
              <a:t>Sustainability</a:t>
            </a:r>
            <a:r>
              <a:rPr lang="es-CO" sz="1100" dirty="0">
                <a:latin typeface="Arial Narrow" panose="020B0606020202030204" pitchFamily="34" charset="0"/>
              </a:rPr>
              <a:t>, </a:t>
            </a:r>
            <a:r>
              <a:rPr lang="es-CO" sz="1100" dirty="0" err="1">
                <a:latin typeface="Arial Narrow" panose="020B0606020202030204" pitchFamily="34" charset="0"/>
              </a:rPr>
              <a:t>Volume</a:t>
            </a:r>
            <a:r>
              <a:rPr lang="es-CO" sz="1100" dirty="0">
                <a:latin typeface="Arial Narrow" panose="020B0606020202030204" pitchFamily="34" charset="0"/>
              </a:rPr>
              <a:t> 6, </a:t>
            </a:r>
            <a:r>
              <a:rPr lang="es-CO" sz="1100" dirty="0" err="1">
                <a:latin typeface="Arial Narrow" panose="020B0606020202030204" pitchFamily="34" charset="0"/>
              </a:rPr>
              <a:t>Issue</a:t>
            </a:r>
            <a:r>
              <a:rPr lang="es-CO" sz="1100" dirty="0">
                <a:latin typeface="Arial Narrow" panose="020B0606020202030204" pitchFamily="34" charset="0"/>
              </a:rPr>
              <a:t> 5, 2025, 100333, ISSN 2666-6839, https://doi.org/10.1016/j.geosus.2025.100333.</a:t>
            </a:r>
          </a:p>
          <a:p>
            <a:pPr marL="342900" indent="-342900">
              <a:buClr>
                <a:schemeClr val="accent5"/>
              </a:buClr>
              <a:buFont typeface="+mj-lt"/>
              <a:buAutoNum type="arabicPeriod"/>
            </a:pPr>
            <a:r>
              <a:rPr lang="es-CO" sz="1100" dirty="0" err="1">
                <a:latin typeface="Arial Narrow" panose="020B0606020202030204" pitchFamily="34" charset="0"/>
              </a:rPr>
              <a:t>Laipelt</a:t>
            </a:r>
            <a:r>
              <a:rPr lang="es-CO" sz="1100" dirty="0">
                <a:latin typeface="Arial Narrow" panose="020B0606020202030204" pitchFamily="34" charset="0"/>
              </a:rPr>
              <a:t>, L., Comini de Andrade, B., </a:t>
            </a:r>
            <a:r>
              <a:rPr lang="es-CO" sz="1100" dirty="0" err="1">
                <a:latin typeface="Arial Narrow" panose="020B0606020202030204" pitchFamily="34" charset="0"/>
              </a:rPr>
              <a:t>Collischonn</a:t>
            </a:r>
            <a:r>
              <a:rPr lang="es-CO" sz="1100" dirty="0">
                <a:latin typeface="Arial Narrow" panose="020B0606020202030204" pitchFamily="34" charset="0"/>
              </a:rPr>
              <a:t>, W., de Amorim Teixeira, A., Paiva, R. C. D. d., &amp; Ruhoff, A. (2024). ANADEM: A Digital Terrain Model </a:t>
            </a:r>
            <a:r>
              <a:rPr lang="es-CO" sz="1100" dirty="0" err="1">
                <a:latin typeface="Arial Narrow" panose="020B0606020202030204" pitchFamily="34" charset="0"/>
              </a:rPr>
              <a:t>for</a:t>
            </a:r>
            <a:r>
              <a:rPr lang="es-CO" sz="1100" dirty="0">
                <a:latin typeface="Arial Narrow" panose="020B0606020202030204" pitchFamily="34" charset="0"/>
              </a:rPr>
              <a:t> South America. Remote Sensing, 16(13), 2321. https://doi.org/10.3390/rs16132321.</a:t>
            </a:r>
          </a:p>
          <a:p>
            <a:pPr marL="342900" indent="-342900">
              <a:buClr>
                <a:schemeClr val="accent5"/>
              </a:buClr>
              <a:buFont typeface="+mj-lt"/>
              <a:buAutoNum type="arabicPeriod"/>
            </a:pPr>
            <a:r>
              <a:rPr lang="es-CO" sz="1100" dirty="0" err="1">
                <a:latin typeface="Arial Narrow" panose="020B0606020202030204" pitchFamily="34" charset="0"/>
              </a:rPr>
              <a:t>National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Aeronautics</a:t>
            </a:r>
            <a:r>
              <a:rPr lang="es-CO" sz="1100" dirty="0">
                <a:latin typeface="Arial Narrow" panose="020B0606020202030204" pitchFamily="34" charset="0"/>
              </a:rPr>
              <a:t> and Space </a:t>
            </a:r>
            <a:r>
              <a:rPr lang="es-CO" sz="1100" dirty="0" err="1">
                <a:latin typeface="Arial Narrow" panose="020B0606020202030204" pitchFamily="34" charset="0"/>
              </a:rPr>
              <a:t>Administration</a:t>
            </a:r>
            <a:r>
              <a:rPr lang="es-CO" sz="1100" dirty="0">
                <a:latin typeface="Arial Narrow" panose="020B0606020202030204" pitchFamily="34" charset="0"/>
              </a:rPr>
              <a:t>. (2021). MOD15A2H MODIS/Terra </a:t>
            </a:r>
            <a:r>
              <a:rPr lang="es-CO" sz="1100" dirty="0" err="1">
                <a:latin typeface="Arial Narrow" panose="020B0606020202030204" pitchFamily="34" charset="0"/>
              </a:rPr>
              <a:t>leaf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area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index</a:t>
            </a:r>
            <a:r>
              <a:rPr lang="es-CO" sz="1100" dirty="0">
                <a:latin typeface="Arial Narrow" panose="020B0606020202030204" pitchFamily="34" charset="0"/>
              </a:rPr>
              <a:t>/FPAR 8-day L4 global 500 m SIN </a:t>
            </a:r>
            <a:r>
              <a:rPr lang="es-CO" sz="1100" dirty="0" err="1">
                <a:latin typeface="Arial Narrow" panose="020B0606020202030204" pitchFamily="34" charset="0"/>
              </a:rPr>
              <a:t>grid</a:t>
            </a:r>
            <a:r>
              <a:rPr lang="es-CO" sz="1100" dirty="0">
                <a:latin typeface="Arial Narrow" panose="020B0606020202030204" pitchFamily="34" charset="0"/>
              </a:rPr>
              <a:t> (</a:t>
            </a:r>
            <a:r>
              <a:rPr lang="es-CO" sz="1100" dirty="0" err="1">
                <a:latin typeface="Arial Narrow" panose="020B0606020202030204" pitchFamily="34" charset="0"/>
              </a:rPr>
              <a:t>Version</a:t>
            </a:r>
            <a:r>
              <a:rPr lang="es-CO" sz="1100" dirty="0">
                <a:latin typeface="Arial Narrow" panose="020B0606020202030204" pitchFamily="34" charset="0"/>
              </a:rPr>
              <a:t> 6.1) [Data set]. LP DAAC. https://www.earthdata.nasa.gov/data/catalog/lpcloud-mod15a2h-061</a:t>
            </a:r>
          </a:p>
          <a:p>
            <a:pPr marL="342900" indent="-342900">
              <a:buClr>
                <a:schemeClr val="accent5"/>
              </a:buClr>
              <a:buFont typeface="+mj-lt"/>
              <a:buAutoNum type="arabicPeriod"/>
            </a:pPr>
            <a:r>
              <a:rPr lang="es-CO" sz="1100" dirty="0" err="1">
                <a:latin typeface="Arial Narrow" panose="020B0606020202030204" pitchFamily="34" charset="0"/>
              </a:rPr>
              <a:t>National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Aeronautics</a:t>
            </a:r>
            <a:r>
              <a:rPr lang="es-CO" sz="1100" dirty="0">
                <a:latin typeface="Arial Narrow" panose="020B0606020202030204" pitchFamily="34" charset="0"/>
              </a:rPr>
              <a:t> and Space </a:t>
            </a:r>
            <a:r>
              <a:rPr lang="es-CO" sz="1100" dirty="0" err="1">
                <a:latin typeface="Arial Narrow" panose="020B0606020202030204" pitchFamily="34" charset="0"/>
              </a:rPr>
              <a:t>Administration</a:t>
            </a:r>
            <a:r>
              <a:rPr lang="es-CO" sz="1100" dirty="0">
                <a:latin typeface="Arial Narrow" panose="020B0606020202030204" pitchFamily="34" charset="0"/>
              </a:rPr>
              <a:t>. (s.f.). CMR concept ID C2764692443-ORNL_CLOUD [Data set]. </a:t>
            </a:r>
            <a:r>
              <a:rPr lang="es-CO" sz="1100" dirty="0" err="1">
                <a:latin typeface="Arial Narrow" panose="020B0606020202030204" pitchFamily="34" charset="0"/>
              </a:rPr>
              <a:t>Earthdata</a:t>
            </a:r>
            <a:r>
              <a:rPr lang="es-CO" sz="1100" dirty="0">
                <a:latin typeface="Arial Narrow" panose="020B0606020202030204" pitchFamily="34" charset="0"/>
              </a:rPr>
              <a:t> Search. https://cmr.earthdata.nasa.gov/search/concepts/C2764692443-ORNL_CLOUD.html</a:t>
            </a:r>
          </a:p>
          <a:p>
            <a:pPr marL="342900" indent="-342900">
              <a:buClr>
                <a:schemeClr val="accent5"/>
              </a:buClr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Rue, H., Martino, S., &amp; Chopin, N. (2009). Approximate Bayesian inference for latent Gaussian models using integrated nested Laplace approximations (with discussion). Journal of the Royal Statistical Society, Series B, 71(2), 319–392. http://www.r-inla.org</a:t>
            </a:r>
            <a:endParaRPr lang="es-CO" sz="1100" dirty="0">
              <a:latin typeface="Arial Narrow" panose="020B0606020202030204" pitchFamily="34" charset="0"/>
            </a:endParaRPr>
          </a:p>
          <a:p>
            <a:pPr marL="342900" indent="-342900">
              <a:buClr>
                <a:schemeClr val="accent5"/>
              </a:buClr>
              <a:buFont typeface="+mj-lt"/>
              <a:buAutoNum type="arabicPeriod"/>
            </a:pPr>
            <a:r>
              <a:rPr lang="es-CO" sz="1100" dirty="0">
                <a:latin typeface="Arial Narrow" panose="020B0606020202030204" pitchFamily="34" charset="0"/>
              </a:rPr>
              <a:t>Salazar, J. F., Villegas, J. C., Rendón, A. M., Rodríguez, E., Hoyos, I., Mercado-</a:t>
            </a:r>
            <a:r>
              <a:rPr lang="es-CO" sz="1100" dirty="0" err="1">
                <a:latin typeface="Arial Narrow" panose="020B0606020202030204" pitchFamily="34" charset="0"/>
              </a:rPr>
              <a:t>Bettín</a:t>
            </a:r>
            <a:r>
              <a:rPr lang="es-CO" sz="1100" dirty="0">
                <a:latin typeface="Arial Narrow" panose="020B0606020202030204" pitchFamily="34" charset="0"/>
              </a:rPr>
              <a:t>, D., &amp; Poveda, G. (2018). </a:t>
            </a:r>
            <a:r>
              <a:rPr lang="es-CO" sz="1100" dirty="0" err="1">
                <a:latin typeface="Arial Narrow" panose="020B0606020202030204" pitchFamily="34" charset="0"/>
              </a:rPr>
              <a:t>Scaling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properties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reveal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regulation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of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river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flows</a:t>
            </a:r>
            <a:r>
              <a:rPr lang="es-CO" sz="1100" dirty="0">
                <a:latin typeface="Arial Narrow" panose="020B0606020202030204" pitchFamily="34" charset="0"/>
              </a:rPr>
              <a:t> in </a:t>
            </a:r>
            <a:r>
              <a:rPr lang="es-CO" sz="1100" dirty="0" err="1">
                <a:latin typeface="Arial Narrow" panose="020B0606020202030204" pitchFamily="34" charset="0"/>
              </a:rPr>
              <a:t>the</a:t>
            </a:r>
            <a:r>
              <a:rPr lang="es-CO" sz="1100" dirty="0">
                <a:latin typeface="Arial Narrow" panose="020B0606020202030204" pitchFamily="34" charset="0"/>
              </a:rPr>
              <a:t> Amazon </a:t>
            </a:r>
            <a:r>
              <a:rPr lang="es-CO" sz="1100" dirty="0" err="1">
                <a:latin typeface="Arial Narrow" panose="020B0606020202030204" pitchFamily="34" charset="0"/>
              </a:rPr>
              <a:t>through</a:t>
            </a:r>
            <a:r>
              <a:rPr lang="es-CO" sz="1100" dirty="0">
                <a:latin typeface="Arial Narrow" panose="020B0606020202030204" pitchFamily="34" charset="0"/>
              </a:rPr>
              <a:t> a “</a:t>
            </a:r>
            <a:r>
              <a:rPr lang="es-CO" sz="1100" dirty="0" err="1">
                <a:latin typeface="Arial Narrow" panose="020B0606020202030204" pitchFamily="34" charset="0"/>
              </a:rPr>
              <a:t>forest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reservoir</a:t>
            </a:r>
            <a:r>
              <a:rPr lang="es-CO" sz="1100" dirty="0">
                <a:latin typeface="Arial Narrow" panose="020B0606020202030204" pitchFamily="34" charset="0"/>
              </a:rPr>
              <a:t>”. </a:t>
            </a:r>
            <a:r>
              <a:rPr lang="es-CO" sz="1100" dirty="0" err="1">
                <a:latin typeface="Arial Narrow" panose="020B0606020202030204" pitchFamily="34" charset="0"/>
              </a:rPr>
              <a:t>Hydrology</a:t>
            </a:r>
            <a:r>
              <a:rPr lang="es-CO" sz="1100" dirty="0">
                <a:latin typeface="Arial Narrow" panose="020B0606020202030204" pitchFamily="34" charset="0"/>
              </a:rPr>
              <a:t> and Earth </a:t>
            </a:r>
            <a:r>
              <a:rPr lang="es-CO" sz="1100" dirty="0" err="1">
                <a:latin typeface="Arial Narrow" panose="020B0606020202030204" pitchFamily="34" charset="0"/>
              </a:rPr>
              <a:t>System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Sciences</a:t>
            </a:r>
            <a:r>
              <a:rPr lang="es-CO" sz="1100" dirty="0">
                <a:latin typeface="Arial Narrow" panose="020B0606020202030204" pitchFamily="34" charset="0"/>
              </a:rPr>
              <a:t>, 22(3), 1735–1748. https://doi.org/10.5194/hess-22-1735-2018</a:t>
            </a:r>
          </a:p>
          <a:p>
            <a:pPr marL="342900" indent="-342900">
              <a:buClr>
                <a:schemeClr val="accent5"/>
              </a:buClr>
              <a:buFont typeface="+mj-lt"/>
              <a:buAutoNum type="arabicPeriod"/>
            </a:pPr>
            <a:r>
              <a:rPr lang="es-CO" sz="1100" dirty="0" err="1">
                <a:latin typeface="Arial Narrow" panose="020B0606020202030204" pitchFamily="34" charset="0"/>
              </a:rPr>
              <a:t>xDEM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Contributors</a:t>
            </a:r>
            <a:r>
              <a:rPr lang="es-CO" sz="1100" dirty="0">
                <a:latin typeface="Arial Narrow" panose="020B0606020202030204" pitchFamily="34" charset="0"/>
              </a:rPr>
              <a:t>. (2026). </a:t>
            </a:r>
            <a:r>
              <a:rPr lang="es-CO" sz="1100" dirty="0" err="1">
                <a:latin typeface="Arial Narrow" panose="020B0606020202030204" pitchFamily="34" charset="0"/>
              </a:rPr>
              <a:t>xDEM</a:t>
            </a:r>
            <a:r>
              <a:rPr lang="es-CO" sz="1100" dirty="0">
                <a:latin typeface="Arial Narrow" panose="020B0606020202030204" pitchFamily="34" charset="0"/>
              </a:rPr>
              <a:t>: </a:t>
            </a:r>
            <a:r>
              <a:rPr lang="es-CO" sz="1100" dirty="0" err="1">
                <a:latin typeface="Arial Narrow" panose="020B0606020202030204" pitchFamily="34" charset="0"/>
              </a:rPr>
              <a:t>Analysis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of</a:t>
            </a:r>
            <a:r>
              <a:rPr lang="es-CO" sz="1100" dirty="0">
                <a:latin typeface="Arial Narrow" panose="020B0606020202030204" pitchFamily="34" charset="0"/>
              </a:rPr>
              <a:t> digital </a:t>
            </a:r>
            <a:r>
              <a:rPr lang="es-CO" sz="1100" dirty="0" err="1">
                <a:latin typeface="Arial Narrow" panose="020B0606020202030204" pitchFamily="34" charset="0"/>
              </a:rPr>
              <a:t>elevation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models</a:t>
            </a:r>
            <a:r>
              <a:rPr lang="es-CO" sz="1100" dirty="0">
                <a:latin typeface="Arial Narrow" panose="020B0606020202030204" pitchFamily="34" charset="0"/>
              </a:rPr>
              <a:t> and </a:t>
            </a:r>
            <a:r>
              <a:rPr lang="es-CO" sz="1100" dirty="0" err="1">
                <a:latin typeface="Arial Narrow" panose="020B0606020202030204" pitchFamily="34" charset="0"/>
              </a:rPr>
              <a:t>elevation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point</a:t>
            </a:r>
            <a:r>
              <a:rPr lang="es-CO" sz="1100" dirty="0">
                <a:latin typeface="Arial Narrow" panose="020B0606020202030204" pitchFamily="34" charset="0"/>
              </a:rPr>
              <a:t> </a:t>
            </a:r>
            <a:r>
              <a:rPr lang="es-CO" sz="1100" dirty="0" err="1">
                <a:latin typeface="Arial Narrow" panose="020B0606020202030204" pitchFamily="34" charset="0"/>
              </a:rPr>
              <a:t>clouds</a:t>
            </a:r>
            <a:r>
              <a:rPr lang="es-CO" sz="1100" dirty="0">
                <a:latin typeface="Arial Narrow" panose="020B0606020202030204" pitchFamily="34" charset="0"/>
              </a:rPr>
              <a:t> in Python (</a:t>
            </a:r>
            <a:r>
              <a:rPr lang="es-CO" sz="1100" dirty="0" err="1">
                <a:latin typeface="Arial Narrow" panose="020B0606020202030204" pitchFamily="34" charset="0"/>
              </a:rPr>
              <a:t>Version</a:t>
            </a:r>
            <a:r>
              <a:rPr lang="es-CO" sz="1100" dirty="0">
                <a:latin typeface="Arial Narrow" panose="020B0606020202030204" pitchFamily="34" charset="0"/>
              </a:rPr>
              <a:t> 0.2.0) [Software]. </a:t>
            </a:r>
            <a:r>
              <a:rPr lang="es-CO" sz="1100" dirty="0" err="1">
                <a:latin typeface="Arial Narrow" panose="020B0606020202030204" pitchFamily="34" charset="0"/>
              </a:rPr>
              <a:t>Zenodo</a:t>
            </a:r>
            <a:r>
              <a:rPr lang="es-CO" sz="1100" dirty="0">
                <a:latin typeface="Arial Narrow" panose="020B0606020202030204" pitchFamily="34" charset="0"/>
              </a:rPr>
              <a:t>. https://doi.org/10.5281/zenodo.19636034</a:t>
            </a:r>
          </a:p>
          <a:p>
            <a:pPr marL="342900" indent="-342900">
              <a:buFont typeface="+mj-lt"/>
              <a:buAutoNum type="arabicPeriod"/>
            </a:pPr>
            <a:endParaRPr lang="es-CO" sz="1200" dirty="0">
              <a:latin typeface="Arial Narrow" panose="020B0606020202030204" pitchFamily="34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E0D6B7-E4DE-8090-098F-25CFD329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30</a:t>
            </a:fld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12B192B-6604-382F-766A-EB7386CE6E24}"/>
              </a:ext>
            </a:extLst>
          </p:cNvPr>
          <p:cNvSpPr txBox="1"/>
          <p:nvPr/>
        </p:nvSpPr>
        <p:spPr>
          <a:xfrm>
            <a:off x="230944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de Minas</a:t>
            </a:r>
          </a:p>
        </p:txBody>
      </p:sp>
    </p:spTree>
    <p:extLst>
      <p:ext uri="{BB962C8B-B14F-4D97-AF65-F5344CB8AC3E}">
        <p14:creationId xmlns:p14="http://schemas.microsoft.com/office/powerpoint/2010/main" val="2588573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3514723" y="2190490"/>
            <a:ext cx="2093483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o-RO" sz="3200" i="1" dirty="0">
                <a:solidFill>
                  <a:schemeClr val="bg2"/>
                </a:solidFill>
                <a:latin typeface="Ancizar Serif"/>
                <a:cs typeface="Ancizar Serif"/>
              </a:rPr>
              <a:t>Gracias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246A0C8-F2FD-4F7E-1C1F-1636098F9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2190908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-presentacion">
  <a:themeElements>
    <a:clrScheme name="UNAL 2024">
      <a:dk1>
        <a:srgbClr val="29272D"/>
      </a:dk1>
      <a:lt1>
        <a:srgbClr val="F7F5F2"/>
      </a:lt1>
      <a:dk2>
        <a:srgbClr val="481F63"/>
      </a:dk2>
      <a:lt2>
        <a:srgbClr val="F8ECCD"/>
      </a:lt2>
      <a:accent1>
        <a:srgbClr val="620C78"/>
      </a:accent1>
      <a:accent2>
        <a:srgbClr val="FFB93E"/>
      </a:accent2>
      <a:accent3>
        <a:srgbClr val="06784F"/>
      </a:accent3>
      <a:accent4>
        <a:srgbClr val="14C486"/>
      </a:accent4>
      <a:accent5>
        <a:srgbClr val="9F00C4"/>
      </a:accent5>
      <a:accent6>
        <a:srgbClr val="F79646"/>
      </a:accent6>
      <a:hlink>
        <a:srgbClr val="14C486"/>
      </a:hlink>
      <a:folHlink>
        <a:srgbClr val="9F00C4"/>
      </a:folHlink>
    </a:clrScheme>
    <a:fontScheme name="OCE">
      <a:majorFont>
        <a:latin typeface="Ancizar Serif Extrabold"/>
        <a:ea typeface=""/>
        <a:cs typeface=""/>
      </a:majorFont>
      <a:minorFont>
        <a:latin typeface="Ancizar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1586</TotalTime>
  <Words>1745</Words>
  <Application>Microsoft Office PowerPoint</Application>
  <PresentationFormat>Presentación en pantalla (16:9)</PresentationFormat>
  <Paragraphs>371</Paragraphs>
  <Slides>31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9" baseType="lpstr">
      <vt:lpstr>Ancizar Sans</vt:lpstr>
      <vt:lpstr>Ancizar Sans Light</vt:lpstr>
      <vt:lpstr>Ancizar Serif</vt:lpstr>
      <vt:lpstr>Ancizar Serif Extrabold</vt:lpstr>
      <vt:lpstr>Aptos</vt:lpstr>
      <vt:lpstr>Arial</vt:lpstr>
      <vt:lpstr>Arial Narrow</vt:lpstr>
      <vt:lpstr>Plantilla-presentacion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Paola</dc:creator>
  <cp:lastModifiedBy>Juan David  Zuluaga Ortiz</cp:lastModifiedBy>
  <cp:revision>12</cp:revision>
  <dcterms:created xsi:type="dcterms:W3CDTF">2024-06-25T17:03:54Z</dcterms:created>
  <dcterms:modified xsi:type="dcterms:W3CDTF">2026-07-15T06:23:01Z</dcterms:modified>
</cp:coreProperties>
</file>
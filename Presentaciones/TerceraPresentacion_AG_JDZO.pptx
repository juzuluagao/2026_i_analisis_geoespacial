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21"/>
  </p:notesMasterIdLst>
  <p:sldIdLst>
    <p:sldId id="264" r:id="rId2"/>
    <p:sldId id="266" r:id="rId3"/>
    <p:sldId id="280" r:id="rId4"/>
    <p:sldId id="275" r:id="rId5"/>
    <p:sldId id="290" r:id="rId6"/>
    <p:sldId id="291" r:id="rId7"/>
    <p:sldId id="292" r:id="rId8"/>
    <p:sldId id="293" r:id="rId9"/>
    <p:sldId id="295" r:id="rId10"/>
    <p:sldId id="294" r:id="rId11"/>
    <p:sldId id="296" r:id="rId12"/>
    <p:sldId id="297" r:id="rId13"/>
    <p:sldId id="298" r:id="rId14"/>
    <p:sldId id="299" r:id="rId15"/>
    <p:sldId id="300" r:id="rId16"/>
    <p:sldId id="301" r:id="rId17"/>
    <p:sldId id="302" r:id="rId18"/>
    <p:sldId id="289" r:id="rId19"/>
    <p:sldId id="260" r:id="rId20"/>
  </p:sldIdLst>
  <p:sldSz cx="9144000" cy="5143500" type="screen16x9"/>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E6CC"/>
    <a:srgbClr val="E03A00"/>
    <a:srgbClr val="172B7E"/>
    <a:srgbClr val="2BA287"/>
    <a:srgbClr val="19A78C"/>
    <a:srgbClr val="19937C"/>
    <a:srgbClr val="43AB97"/>
    <a:srgbClr val="CC008C"/>
    <a:srgbClr val="00A480"/>
    <a:srgbClr val="00A46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969" autoAdjust="0"/>
  </p:normalViewPr>
  <p:slideViewPr>
    <p:cSldViewPr snapToGrid="0" snapToObjects="1">
      <p:cViewPr>
        <p:scale>
          <a:sx n="125" d="100"/>
          <a:sy n="125" d="100"/>
        </p:scale>
        <p:origin x="504" y="456"/>
      </p:cViewPr>
      <p:guideLst>
        <p:guide orient="horz" pos="2160"/>
        <p:guide pos="2880"/>
        <p:guide orient="horz" pos="16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806D32-3F26-4A60-B79B-32791D3BB2C9}" type="datetimeFigureOut">
              <a:rPr lang="es-CO" smtClean="0"/>
              <a:t>30/07/2026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F695FE-B573-405B-994F-FAFC23062642}" type="slidenum">
              <a:rPr lang="es-CO" smtClean="0"/>
              <a:t>‹Nº›</a:t>
            </a:fld>
            <a:endParaRPr lang="es-CO"/>
          </a:p>
        </p:txBody>
      </p:sp>
    </p:spTree>
    <p:extLst>
      <p:ext uri="{BB962C8B-B14F-4D97-AF65-F5344CB8AC3E}">
        <p14:creationId xmlns:p14="http://schemas.microsoft.com/office/powerpoint/2010/main" val="2262910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1597819"/>
            <a:ext cx="7772400" cy="1102519"/>
          </a:xfrm>
        </p:spPr>
        <p:txBody>
          <a:bodyPr/>
          <a:lstStyle/>
          <a:p>
            <a:r>
              <a:rPr lang="es-ES"/>
              <a:t>Haga clic para modificar el estilo de título del patrón</a:t>
            </a:r>
          </a:p>
        </p:txBody>
      </p:sp>
      <p:sp>
        <p:nvSpPr>
          <p:cNvPr id="3" name="Subtítulo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833DC620-E659-49B0-9EFB-BB66AA813A77}" type="datetime1">
              <a:rPr lang="es-ES" smtClean="0"/>
              <a:t>30/07/2026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0BC2BA4-81C0-F544-BD72-C8CB9DA7C802}" type="slidenum">
              <a:rPr lang="es-ES" smtClean="0"/>
              <a:t>‹Nº›</a:t>
            </a:fld>
            <a:endParaRPr lang="es-ES"/>
          </a:p>
        </p:txBody>
      </p:sp>
    </p:spTree>
    <p:extLst>
      <p:ext uri="{BB962C8B-B14F-4D97-AF65-F5344CB8AC3E}">
        <p14:creationId xmlns:p14="http://schemas.microsoft.com/office/powerpoint/2010/main" val="208117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368595"/>
            <a:ext cx="8229600" cy="694634"/>
          </a:xfrm>
        </p:spPr>
        <p:txBody>
          <a:bodyPr>
            <a:noAutofit/>
          </a:bodyPr>
          <a:lstStyle>
            <a:lvl1pPr>
              <a:defRPr sz="2800">
                <a:solidFill>
                  <a:schemeClr val="tx2"/>
                </a:solidFill>
              </a:defRPr>
            </a:lvl1pPr>
          </a:lstStyle>
          <a:p>
            <a:r>
              <a:rPr lang="es-ES" dirty="0"/>
              <a:t>Haga clic para modificar el estilo de título del patrón</a:t>
            </a:r>
          </a:p>
        </p:txBody>
      </p:sp>
      <p:sp>
        <p:nvSpPr>
          <p:cNvPr id="3" name="Marcador de contenido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F477E6E-80CA-4637-84D1-CB00AA43C9A5}" type="datetime1">
              <a:rPr lang="es-ES" smtClean="0"/>
              <a:t>30/07/2026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a:xfrm>
            <a:off x="301256" y="18054"/>
            <a:ext cx="2133600" cy="273844"/>
          </a:xfrm>
        </p:spPr>
        <p:txBody>
          <a:bodyPr/>
          <a:lstStyle>
            <a:lvl1pPr algn="l">
              <a:defRPr sz="900"/>
            </a:lvl1pPr>
          </a:lstStyle>
          <a:p>
            <a:r>
              <a:rPr lang="es-ES" dirty="0"/>
              <a:t>Página </a:t>
            </a:r>
            <a:fld id="{90BC2BA4-81C0-F544-BD72-C8CB9DA7C802}" type="slidenum">
              <a:rPr lang="es-ES" smtClean="0"/>
              <a:pPr/>
              <a:t>‹Nº›</a:t>
            </a:fld>
            <a:r>
              <a:rPr lang="es-ES" dirty="0"/>
              <a:t> </a:t>
            </a:r>
          </a:p>
        </p:txBody>
      </p:sp>
    </p:spTree>
    <p:extLst>
      <p:ext uri="{BB962C8B-B14F-4D97-AF65-F5344CB8AC3E}">
        <p14:creationId xmlns:p14="http://schemas.microsoft.com/office/powerpoint/2010/main" val="3100552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2299790"/>
            <a:ext cx="7772400" cy="1021556"/>
          </a:xfrm>
        </p:spPr>
        <p:txBody>
          <a:bodyPr anchor="t"/>
          <a:lstStyle>
            <a:lvl1pPr algn="l">
              <a:defRPr sz="4000" b="1" cap="all"/>
            </a:lvl1pPr>
          </a:lstStyle>
          <a:p>
            <a:r>
              <a:rPr lang="es-ES" dirty="0"/>
              <a:t>Haga clic para modificar el estilo de título del patrón</a:t>
            </a:r>
          </a:p>
        </p:txBody>
      </p:sp>
      <p:sp>
        <p:nvSpPr>
          <p:cNvPr id="3" name="Marcador de texto 2"/>
          <p:cNvSpPr>
            <a:spLocks noGrp="1"/>
          </p:cNvSpPr>
          <p:nvPr>
            <p:ph type="body" idx="1"/>
          </p:nvPr>
        </p:nvSpPr>
        <p:spPr>
          <a:xfrm>
            <a:off x="722313" y="1174649"/>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Marcador de fecha 3"/>
          <p:cNvSpPr>
            <a:spLocks noGrp="1"/>
          </p:cNvSpPr>
          <p:nvPr>
            <p:ph type="dt" sz="half" idx="10"/>
          </p:nvPr>
        </p:nvSpPr>
        <p:spPr/>
        <p:txBody>
          <a:bodyPr/>
          <a:lstStyle/>
          <a:p>
            <a:fld id="{E72404BB-03C1-49D0-8ADB-9D0B173DA53B}" type="datetime1">
              <a:rPr lang="es-ES" smtClean="0"/>
              <a:t>30/07/2026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a:p>
        </p:txBody>
      </p:sp>
    </p:spTree>
    <p:extLst>
      <p:ext uri="{BB962C8B-B14F-4D97-AF65-F5344CB8AC3E}">
        <p14:creationId xmlns:p14="http://schemas.microsoft.com/office/powerpoint/2010/main" val="1840981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lvl1pPr>
              <a:defRPr sz="2800"/>
            </a:lvl1pPr>
          </a:lstStyle>
          <a:p>
            <a:r>
              <a:rPr lang="es-ES" dirty="0"/>
              <a:t>Haga clic para modificar el estilo de título del patrón</a:t>
            </a:r>
          </a:p>
        </p:txBody>
      </p:sp>
      <p:sp>
        <p:nvSpPr>
          <p:cNvPr id="3" name="Marcador de contenido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2328A97A-0D3F-47CA-A347-054B7FE5852E}" type="datetime1">
              <a:rPr lang="es-ES" smtClean="0"/>
              <a:t>30/07/2026</a:t>
            </a:fld>
            <a:endParaRPr lang="es-ES"/>
          </a:p>
        </p:txBody>
      </p:sp>
      <p:sp>
        <p:nvSpPr>
          <p:cNvPr id="6" name="Marcador de pie de página 5"/>
          <p:cNvSpPr>
            <a:spLocks noGrp="1"/>
          </p:cNvSpPr>
          <p:nvPr>
            <p:ph type="ftr" sz="quarter" idx="11"/>
          </p:nvPr>
        </p:nvSpPr>
        <p:spPr/>
        <p:txBody>
          <a:bodyPr/>
          <a:lstStyle/>
          <a:p>
            <a:endParaRPr lang="es-ES"/>
          </a:p>
        </p:txBody>
      </p:sp>
      <p:sp>
        <p:nvSpPr>
          <p:cNvPr id="8" name="Marcador de número de diapositiva 5">
            <a:extLst>
              <a:ext uri="{FF2B5EF4-FFF2-40B4-BE49-F238E27FC236}">
                <a16:creationId xmlns:a16="http://schemas.microsoft.com/office/drawing/2014/main" id="{1D78991F-287D-0639-B3A9-25B72B76217C}"/>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a:p>
        </p:txBody>
      </p:sp>
    </p:spTree>
    <p:extLst>
      <p:ext uri="{BB962C8B-B14F-4D97-AF65-F5344CB8AC3E}">
        <p14:creationId xmlns:p14="http://schemas.microsoft.com/office/powerpoint/2010/main" val="3563036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lvl1pPr>
              <a:defRPr sz="2800"/>
            </a:lvl1pPr>
          </a:lstStyle>
          <a:p>
            <a:r>
              <a:rPr lang="es-ES"/>
              <a:t>Haga clic para modificar el estilo de título del patrón</a:t>
            </a:r>
          </a:p>
        </p:txBody>
      </p:sp>
      <p:sp>
        <p:nvSpPr>
          <p:cNvPr id="3" name="Marcador de texto 2"/>
          <p:cNvSpPr>
            <a:spLocks noGrp="1"/>
          </p:cNvSpPr>
          <p:nvPr>
            <p:ph type="body" idx="1"/>
          </p:nvPr>
        </p:nvSpPr>
        <p:spPr>
          <a:xfrm>
            <a:off x="457200" y="1151335"/>
            <a:ext cx="4040188" cy="479822"/>
          </a:xfrm>
        </p:spPr>
        <p:txBody>
          <a:bodyPr anchor="b">
            <a:no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dirty="0"/>
              <a:t>Haga clic para modificar los estilos de texto del patrón</a:t>
            </a:r>
          </a:p>
        </p:txBody>
      </p:sp>
      <p:sp>
        <p:nvSpPr>
          <p:cNvPr id="4" name="Marcador de contenido 3"/>
          <p:cNvSpPr>
            <a:spLocks noGrp="1"/>
          </p:cNvSpPr>
          <p:nvPr>
            <p:ph sz="half" idx="2"/>
          </p:nvPr>
        </p:nvSpPr>
        <p:spPr>
          <a:xfrm>
            <a:off x="457200" y="1631156"/>
            <a:ext cx="4040188" cy="296346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5" name="Marcador de texto 4"/>
          <p:cNvSpPr>
            <a:spLocks noGrp="1"/>
          </p:cNvSpPr>
          <p:nvPr>
            <p:ph type="body" sz="quarter" idx="3"/>
          </p:nvPr>
        </p:nvSpPr>
        <p:spPr>
          <a:xfrm>
            <a:off x="4645026" y="1151335"/>
            <a:ext cx="4041775" cy="479822"/>
          </a:xfrm>
        </p:spPr>
        <p:txBody>
          <a:bodyPr anchor="b">
            <a:no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p:cNvSpPr>
            <a:spLocks noGrp="1"/>
          </p:cNvSpPr>
          <p:nvPr>
            <p:ph sz="quarter" idx="4"/>
          </p:nvPr>
        </p:nvSpPr>
        <p:spPr>
          <a:xfrm>
            <a:off x="4645026" y="1631156"/>
            <a:ext cx="4041775" cy="2963466"/>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791C8795-6BD1-4429-BD75-9B388C62CDEE}" type="datetime1">
              <a:rPr lang="es-ES" smtClean="0"/>
              <a:t>30/07/2026</a:t>
            </a:fld>
            <a:endParaRPr lang="es-ES"/>
          </a:p>
        </p:txBody>
      </p:sp>
      <p:sp>
        <p:nvSpPr>
          <p:cNvPr id="8" name="Marcador de pie de página 7"/>
          <p:cNvSpPr>
            <a:spLocks noGrp="1"/>
          </p:cNvSpPr>
          <p:nvPr>
            <p:ph type="ftr" sz="quarter" idx="11"/>
          </p:nvPr>
        </p:nvSpPr>
        <p:spPr/>
        <p:txBody>
          <a:bodyPr/>
          <a:lstStyle/>
          <a:p>
            <a:endParaRPr lang="es-ES"/>
          </a:p>
        </p:txBody>
      </p:sp>
      <p:sp>
        <p:nvSpPr>
          <p:cNvPr id="10" name="Marcador de número de diapositiva 5">
            <a:extLst>
              <a:ext uri="{FF2B5EF4-FFF2-40B4-BE49-F238E27FC236}">
                <a16:creationId xmlns:a16="http://schemas.microsoft.com/office/drawing/2014/main" id="{B2016B63-56CA-91C8-8D94-3736CC5DFAC1}"/>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a:p>
        </p:txBody>
      </p:sp>
    </p:spTree>
    <p:extLst>
      <p:ext uri="{BB962C8B-B14F-4D97-AF65-F5344CB8AC3E}">
        <p14:creationId xmlns:p14="http://schemas.microsoft.com/office/powerpoint/2010/main" val="1934548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lvl1pPr>
              <a:defRPr sz="2800"/>
            </a:lvl1pPr>
          </a:lstStyle>
          <a:p>
            <a:r>
              <a:rPr lang="es-ES" dirty="0"/>
              <a:t>Haga clic para modificar el estilo de título del patrón</a:t>
            </a:r>
          </a:p>
        </p:txBody>
      </p:sp>
      <p:sp>
        <p:nvSpPr>
          <p:cNvPr id="3" name="Marcador de fecha 2"/>
          <p:cNvSpPr>
            <a:spLocks noGrp="1"/>
          </p:cNvSpPr>
          <p:nvPr>
            <p:ph type="dt" sz="half" idx="10"/>
          </p:nvPr>
        </p:nvSpPr>
        <p:spPr/>
        <p:txBody>
          <a:bodyPr/>
          <a:lstStyle/>
          <a:p>
            <a:fld id="{B646A773-67CF-4861-89BB-2127413ABA21}" type="datetime1">
              <a:rPr lang="es-ES" smtClean="0"/>
              <a:t>30/07/2026</a:t>
            </a:fld>
            <a:endParaRPr lang="es-ES"/>
          </a:p>
        </p:txBody>
      </p:sp>
      <p:sp>
        <p:nvSpPr>
          <p:cNvPr id="4" name="Marcador de pie de página 3"/>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AED5BEC-1B11-157D-6B6B-7EC9DA3858D6}"/>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a:p>
        </p:txBody>
      </p:sp>
    </p:spTree>
    <p:extLst>
      <p:ext uri="{BB962C8B-B14F-4D97-AF65-F5344CB8AC3E}">
        <p14:creationId xmlns:p14="http://schemas.microsoft.com/office/powerpoint/2010/main" val="1268878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D8ADB17-4F6B-498B-894E-4985DAFC70C1}" type="datetime1">
              <a:rPr lang="es-ES" smtClean="0"/>
              <a:t>30/07/2026</a:t>
            </a:fld>
            <a:endParaRPr lang="es-ES"/>
          </a:p>
        </p:txBody>
      </p:sp>
      <p:sp>
        <p:nvSpPr>
          <p:cNvPr id="3" name="Marcador de pie de página 2"/>
          <p:cNvSpPr>
            <a:spLocks noGrp="1"/>
          </p:cNvSpPr>
          <p:nvPr>
            <p:ph type="ftr" sz="quarter" idx="11"/>
          </p:nvPr>
        </p:nvSpPr>
        <p:spPr/>
        <p:txBody>
          <a:bodyPr/>
          <a:lstStyle/>
          <a:p>
            <a:endParaRPr lang="es-ES"/>
          </a:p>
        </p:txBody>
      </p:sp>
      <p:sp>
        <p:nvSpPr>
          <p:cNvPr id="5" name="Marcador de número de diapositiva 5">
            <a:extLst>
              <a:ext uri="{FF2B5EF4-FFF2-40B4-BE49-F238E27FC236}">
                <a16:creationId xmlns:a16="http://schemas.microsoft.com/office/drawing/2014/main" id="{29E16D5E-FC12-627C-C32C-2D79CE9DAC8C}"/>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a:p>
        </p:txBody>
      </p:sp>
    </p:spTree>
    <p:extLst>
      <p:ext uri="{BB962C8B-B14F-4D97-AF65-F5344CB8AC3E}">
        <p14:creationId xmlns:p14="http://schemas.microsoft.com/office/powerpoint/2010/main" val="1818413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1" y="204787"/>
            <a:ext cx="3008313" cy="871538"/>
          </a:xfrm>
        </p:spPr>
        <p:txBody>
          <a:bodyPr anchor="b"/>
          <a:lstStyle>
            <a:lvl1pPr algn="l">
              <a:defRPr sz="2000" b="1"/>
            </a:lvl1pPr>
          </a:lstStyle>
          <a:p>
            <a:r>
              <a:rPr lang="es-ES"/>
              <a:t>Haga clic para modificar el estilo de título del patrón</a:t>
            </a:r>
          </a:p>
        </p:txBody>
      </p:sp>
      <p:sp>
        <p:nvSpPr>
          <p:cNvPr id="3" name="Marcador de contenido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Marcador de fecha 4"/>
          <p:cNvSpPr>
            <a:spLocks noGrp="1"/>
          </p:cNvSpPr>
          <p:nvPr>
            <p:ph type="dt" sz="half" idx="10"/>
          </p:nvPr>
        </p:nvSpPr>
        <p:spPr/>
        <p:txBody>
          <a:bodyPr/>
          <a:lstStyle/>
          <a:p>
            <a:fld id="{6E5F5D58-D3C6-4A98-BBED-E11D62DD4FB7}" type="datetime1">
              <a:rPr lang="es-ES" smtClean="0"/>
              <a:t>30/07/2026</a:t>
            </a:fld>
            <a:endParaRPr lang="es-ES"/>
          </a:p>
        </p:txBody>
      </p:sp>
      <p:sp>
        <p:nvSpPr>
          <p:cNvPr id="6" name="Marcador de pie de página 5"/>
          <p:cNvSpPr>
            <a:spLocks noGrp="1"/>
          </p:cNvSpPr>
          <p:nvPr>
            <p:ph type="ftr" sz="quarter" idx="11"/>
          </p:nvPr>
        </p:nvSpPr>
        <p:spPr/>
        <p:txBody>
          <a:bodyPr/>
          <a:lstStyle/>
          <a:p>
            <a:endParaRPr lang="es-ES"/>
          </a:p>
        </p:txBody>
      </p:sp>
      <p:sp>
        <p:nvSpPr>
          <p:cNvPr id="8" name="Marcador de número de diapositiva 5">
            <a:extLst>
              <a:ext uri="{FF2B5EF4-FFF2-40B4-BE49-F238E27FC236}">
                <a16:creationId xmlns:a16="http://schemas.microsoft.com/office/drawing/2014/main" id="{27E0BABE-B629-4063-8894-C3E903570FE1}"/>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a:p>
        </p:txBody>
      </p:sp>
    </p:spTree>
    <p:extLst>
      <p:ext uri="{BB962C8B-B14F-4D97-AF65-F5344CB8AC3E}">
        <p14:creationId xmlns:p14="http://schemas.microsoft.com/office/powerpoint/2010/main" val="3573977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3600450"/>
            <a:ext cx="5486400" cy="425054"/>
          </a:xfrm>
        </p:spPr>
        <p:txBody>
          <a:bodyPr anchor="b"/>
          <a:lstStyle>
            <a:lvl1pPr algn="l">
              <a:defRPr sz="2000" b="1"/>
            </a:lvl1pPr>
          </a:lstStyle>
          <a:p>
            <a:r>
              <a:rPr lang="es-ES"/>
              <a:t>Haga clic para modificar el estilo de título del patrón</a:t>
            </a:r>
          </a:p>
        </p:txBody>
      </p:sp>
      <p:sp>
        <p:nvSpPr>
          <p:cNvPr id="3" name="Marcador de posición de imagen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p>
        </p:txBody>
      </p:sp>
      <p:sp>
        <p:nvSpPr>
          <p:cNvPr id="4" name="Marcador de texto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Marcador de fecha 4"/>
          <p:cNvSpPr>
            <a:spLocks noGrp="1"/>
          </p:cNvSpPr>
          <p:nvPr>
            <p:ph type="dt" sz="half" idx="10"/>
          </p:nvPr>
        </p:nvSpPr>
        <p:spPr/>
        <p:txBody>
          <a:bodyPr/>
          <a:lstStyle/>
          <a:p>
            <a:fld id="{F6F8C981-BD54-46FE-919F-B5B29C8804F4}" type="datetime1">
              <a:rPr lang="es-ES" smtClean="0"/>
              <a:t>30/07/2026</a:t>
            </a:fld>
            <a:endParaRPr lang="es-ES"/>
          </a:p>
        </p:txBody>
      </p:sp>
      <p:sp>
        <p:nvSpPr>
          <p:cNvPr id="6" name="Marcador de pie de página 5"/>
          <p:cNvSpPr>
            <a:spLocks noGrp="1"/>
          </p:cNvSpPr>
          <p:nvPr>
            <p:ph type="ftr" sz="quarter" idx="11"/>
          </p:nvPr>
        </p:nvSpPr>
        <p:spPr/>
        <p:txBody>
          <a:bodyPr/>
          <a:lstStyle/>
          <a:p>
            <a:endParaRPr lang="es-ES"/>
          </a:p>
        </p:txBody>
      </p:sp>
      <p:sp>
        <p:nvSpPr>
          <p:cNvPr id="8" name="Marcador de número de diapositiva 5">
            <a:extLst>
              <a:ext uri="{FF2B5EF4-FFF2-40B4-BE49-F238E27FC236}">
                <a16:creationId xmlns:a16="http://schemas.microsoft.com/office/drawing/2014/main" id="{8F88F565-A7F0-7C19-A7F7-953C9727E2BF}"/>
              </a:ext>
            </a:extLst>
          </p:cNvPr>
          <p:cNvSpPr>
            <a:spLocks noGrp="1"/>
          </p:cNvSpPr>
          <p:nvPr>
            <p:ph type="sldNum" sz="quarter" idx="12"/>
          </p:nvPr>
        </p:nvSpPr>
        <p:spPr>
          <a:xfrm>
            <a:off x="343786" y="0"/>
            <a:ext cx="2133600" cy="273844"/>
          </a:xfrm>
        </p:spPr>
        <p:txBody>
          <a:bodyPr/>
          <a:lstStyle>
            <a:lvl1pPr algn="l">
              <a:defRPr/>
            </a:lvl1pPr>
          </a:lstStyle>
          <a:p>
            <a:fld id="{90BC2BA4-81C0-F544-BD72-C8CB9DA7C802}" type="slidenum">
              <a:rPr lang="es-ES" smtClean="0"/>
              <a:pPr/>
              <a:t>‹Nº›</a:t>
            </a:fld>
            <a:endParaRPr lang="es-ES"/>
          </a:p>
        </p:txBody>
      </p:sp>
    </p:spTree>
    <p:extLst>
      <p:ext uri="{BB962C8B-B14F-4D97-AF65-F5344CB8AC3E}">
        <p14:creationId xmlns:p14="http://schemas.microsoft.com/office/powerpoint/2010/main" val="74998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311887"/>
            <a:ext cx="8229600" cy="751341"/>
          </a:xfrm>
          <a:prstGeom prst="rect">
            <a:avLst/>
          </a:prstGeom>
        </p:spPr>
        <p:txBody>
          <a:bodyPr vert="horz" lIns="91440" tIns="45720" rIns="91440" bIns="45720"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DB30C37-EE32-4163-B0FE-3AD7FB21F6FB}" type="datetime1">
              <a:rPr lang="es-ES" smtClean="0"/>
              <a:t>30/07/2026</a:t>
            </a:fld>
            <a:endParaRPr lang="es-ES"/>
          </a:p>
        </p:txBody>
      </p:sp>
      <p:sp>
        <p:nvSpPr>
          <p:cNvPr id="5" name="Marcador de pie de página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90BC2BA4-81C0-F544-BD72-C8CB9DA7C802}" type="slidenum">
              <a:rPr lang="es-ES" smtClean="0"/>
              <a:t>‹Nº›</a:t>
            </a:fld>
            <a:endParaRPr lang="es-ES"/>
          </a:p>
        </p:txBody>
      </p:sp>
    </p:spTree>
    <p:extLst>
      <p:ext uri="{BB962C8B-B14F-4D97-AF65-F5344CB8AC3E}">
        <p14:creationId xmlns:p14="http://schemas.microsoft.com/office/powerpoint/2010/main" val="143161880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Lst>
  <p:hf hdr="0" ftr="0" dt="0"/>
  <p:txStyles>
    <p:titleStyle>
      <a:lvl1pPr algn="ctr" defTabSz="4572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457200" rtl="0" eaLnBrk="1" latinLnBrk="0" hangingPunct="1">
        <a:spcBef>
          <a:spcPct val="20000"/>
        </a:spcBef>
        <a:buFont typeface="Arial"/>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1767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p:cNvSpPr txBox="1">
            <a:spLocks/>
          </p:cNvSpPr>
          <p:nvPr/>
        </p:nvSpPr>
        <p:spPr>
          <a:xfrm>
            <a:off x="1469256" y="1025602"/>
            <a:ext cx="6201268" cy="72758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ES" sz="4000" dirty="0">
                <a:solidFill>
                  <a:schemeClr val="accent1"/>
                </a:solidFill>
                <a:latin typeface="Ancizar Serif"/>
                <a:cs typeface="Ancizar Serif"/>
              </a:rPr>
              <a:t>Procesos Gaussianos</a:t>
            </a:r>
          </a:p>
        </p:txBody>
      </p:sp>
      <p:cxnSp>
        <p:nvCxnSpPr>
          <p:cNvPr id="4" name="Conector recto 3"/>
          <p:cNvCxnSpPr/>
          <p:nvPr/>
        </p:nvCxnSpPr>
        <p:spPr>
          <a:xfrm>
            <a:off x="1678804" y="2533120"/>
            <a:ext cx="5810117" cy="0"/>
          </a:xfrm>
          <a:prstGeom prst="line">
            <a:avLst/>
          </a:prstGeom>
          <a:ln w="12700">
            <a:solidFill>
              <a:schemeClr val="accent1"/>
            </a:solidFill>
          </a:ln>
          <a:effectLst/>
        </p:spPr>
        <p:style>
          <a:lnRef idx="2">
            <a:schemeClr val="dk1"/>
          </a:lnRef>
          <a:fillRef idx="0">
            <a:schemeClr val="dk1"/>
          </a:fillRef>
          <a:effectRef idx="1">
            <a:schemeClr val="dk1"/>
          </a:effectRef>
          <a:fontRef idx="minor">
            <a:schemeClr val="tx1"/>
          </a:fontRef>
        </p:style>
      </p:cxnSp>
      <p:sp>
        <p:nvSpPr>
          <p:cNvPr id="5" name="CuadroTexto 4"/>
          <p:cNvSpPr txBox="1"/>
          <p:nvPr/>
        </p:nvSpPr>
        <p:spPr>
          <a:xfrm>
            <a:off x="2796652" y="2208024"/>
            <a:ext cx="3546477" cy="369332"/>
          </a:xfrm>
          <a:prstGeom prst="rect">
            <a:avLst/>
          </a:prstGeom>
          <a:noFill/>
        </p:spPr>
        <p:txBody>
          <a:bodyPr wrap="square" rtlCol="0">
            <a:spAutoFit/>
          </a:bodyPr>
          <a:lstStyle/>
          <a:p>
            <a:pPr algn="ctr"/>
            <a:r>
              <a:rPr lang="es-ES" b="1" dirty="0">
                <a:solidFill>
                  <a:schemeClr val="accent5"/>
                </a:solidFill>
                <a:latin typeface="Ancizar Sans"/>
                <a:cs typeface="Ancizar Sans"/>
              </a:rPr>
              <a:t>Juan David Zuluaga Ortiz</a:t>
            </a:r>
          </a:p>
        </p:txBody>
      </p:sp>
      <p:sp>
        <p:nvSpPr>
          <p:cNvPr id="7" name="Título 1"/>
          <p:cNvSpPr txBox="1">
            <a:spLocks/>
          </p:cNvSpPr>
          <p:nvPr/>
        </p:nvSpPr>
        <p:spPr>
          <a:xfrm>
            <a:off x="1471366" y="2956041"/>
            <a:ext cx="6201268" cy="1102481"/>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ES" sz="1800" dirty="0">
                <a:solidFill>
                  <a:schemeClr val="accent1"/>
                </a:solidFill>
                <a:latin typeface="Ancizar Serif"/>
                <a:cs typeface="Ancizar Serif"/>
              </a:rPr>
              <a:t>Análisis Geoespacial</a:t>
            </a:r>
          </a:p>
          <a:p>
            <a:r>
              <a:rPr lang="es-ES" sz="1800" dirty="0">
                <a:solidFill>
                  <a:schemeClr val="accent1"/>
                </a:solidFill>
                <a:latin typeface="Ancizar Serif"/>
                <a:cs typeface="Ancizar Serif"/>
              </a:rPr>
              <a:t>Facultad de Minas</a:t>
            </a:r>
          </a:p>
          <a:p>
            <a:r>
              <a:rPr lang="es-ES" sz="1800" dirty="0">
                <a:solidFill>
                  <a:schemeClr val="accent1"/>
                </a:solidFill>
                <a:latin typeface="Ancizar Serif"/>
                <a:cs typeface="Ancizar Serif"/>
              </a:rPr>
              <a:t>Medellín</a:t>
            </a:r>
          </a:p>
          <a:p>
            <a:r>
              <a:rPr lang="es-ES" sz="1800" dirty="0">
                <a:solidFill>
                  <a:schemeClr val="accent1"/>
                </a:solidFill>
                <a:latin typeface="Ancizar Serif"/>
                <a:cs typeface="Ancizar Serif"/>
              </a:rPr>
              <a:t>2026-1S</a:t>
            </a:r>
          </a:p>
        </p:txBody>
      </p:sp>
      <p:sp>
        <p:nvSpPr>
          <p:cNvPr id="6" name="Marcador de número de diapositiva 5">
            <a:extLst>
              <a:ext uri="{FF2B5EF4-FFF2-40B4-BE49-F238E27FC236}">
                <a16:creationId xmlns:a16="http://schemas.microsoft.com/office/drawing/2014/main" id="{3D185DE8-C48F-FD75-EF42-14FD2D299470}"/>
              </a:ext>
            </a:extLst>
          </p:cNvPr>
          <p:cNvSpPr>
            <a:spLocks noGrp="1"/>
          </p:cNvSpPr>
          <p:nvPr>
            <p:ph type="sldNum" sz="quarter" idx="12"/>
          </p:nvPr>
        </p:nvSpPr>
        <p:spPr/>
        <p:txBody>
          <a:bodyPr/>
          <a:lstStyle/>
          <a:p>
            <a:fld id="{90BC2BA4-81C0-F544-BD72-C8CB9DA7C802}" type="slidenum">
              <a:rPr lang="es-ES" smtClean="0"/>
              <a:pPr/>
              <a:t>2</a:t>
            </a:fld>
            <a:endParaRPr lang="es-ES" dirty="0"/>
          </a:p>
        </p:txBody>
      </p:sp>
    </p:spTree>
    <p:extLst>
      <p:ext uri="{BB962C8B-B14F-4D97-AF65-F5344CB8AC3E}">
        <p14:creationId xmlns:p14="http://schemas.microsoft.com/office/powerpoint/2010/main" val="220442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9FEBE-E251-ABD9-9617-A672C99EEC11}"/>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CA586214-D862-3276-A75F-4F7FDB0706F3}"/>
              </a:ext>
            </a:extLst>
          </p:cNvPr>
          <p:cNvSpPr txBox="1">
            <a:spLocks/>
          </p:cNvSpPr>
          <p:nvPr/>
        </p:nvSpPr>
        <p:spPr>
          <a:xfrm>
            <a:off x="477376" y="302401"/>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2200" dirty="0">
                <a:solidFill>
                  <a:schemeClr val="accent1"/>
                </a:solidFill>
                <a:latin typeface="Ancizar Serif Extrabold" panose="020A0902070300000003" pitchFamily="18" charset="0"/>
                <a:cs typeface="Ancizar Sans Extrabold"/>
              </a:rPr>
              <a:t>Inventario de inundaciones</a:t>
            </a:r>
            <a:endParaRPr lang="es-ES" sz="2200" dirty="0">
              <a:solidFill>
                <a:schemeClr val="accent1"/>
              </a:solidFill>
              <a:latin typeface="Ancizar Serif Extrabold" panose="020A0902070300000003" pitchFamily="18" charset="0"/>
              <a:cs typeface="Ancizar Sans Extrabold"/>
            </a:endParaRPr>
          </a:p>
        </p:txBody>
      </p:sp>
      <p:sp>
        <p:nvSpPr>
          <p:cNvPr id="10" name="CuadroTexto 9">
            <a:extLst>
              <a:ext uri="{FF2B5EF4-FFF2-40B4-BE49-F238E27FC236}">
                <a16:creationId xmlns:a16="http://schemas.microsoft.com/office/drawing/2014/main" id="{D5C836BE-A11F-AB67-E7CD-2D978F55C31D}"/>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sp>
        <p:nvSpPr>
          <p:cNvPr id="3" name="Marcador de número de diapositiva 2">
            <a:extLst>
              <a:ext uri="{FF2B5EF4-FFF2-40B4-BE49-F238E27FC236}">
                <a16:creationId xmlns:a16="http://schemas.microsoft.com/office/drawing/2014/main" id="{09809F40-B60F-B8AC-7896-5784CFABD1EF}"/>
              </a:ext>
            </a:extLst>
          </p:cNvPr>
          <p:cNvSpPr>
            <a:spLocks noGrp="1"/>
          </p:cNvSpPr>
          <p:nvPr>
            <p:ph type="sldNum" sz="quarter" idx="12"/>
          </p:nvPr>
        </p:nvSpPr>
        <p:spPr/>
        <p:txBody>
          <a:bodyPr/>
          <a:lstStyle/>
          <a:p>
            <a:fld id="{90BC2BA4-81C0-F544-BD72-C8CB9DA7C802}" type="slidenum">
              <a:rPr lang="es-ES" smtClean="0"/>
              <a:pPr/>
              <a:t>3</a:t>
            </a:fld>
            <a:endParaRPr lang="es-ES"/>
          </a:p>
        </p:txBody>
      </p:sp>
      <p:sp>
        <p:nvSpPr>
          <p:cNvPr id="6" name="CuadroTexto 5">
            <a:extLst>
              <a:ext uri="{FF2B5EF4-FFF2-40B4-BE49-F238E27FC236}">
                <a16:creationId xmlns:a16="http://schemas.microsoft.com/office/drawing/2014/main" id="{685C68D0-BEBF-E26C-CB01-8382B15AC1B6}"/>
              </a:ext>
            </a:extLst>
          </p:cNvPr>
          <p:cNvSpPr txBox="1"/>
          <p:nvPr/>
        </p:nvSpPr>
        <p:spPr>
          <a:xfrm>
            <a:off x="595424" y="797779"/>
            <a:ext cx="3834336" cy="3480889"/>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a:lnSpc>
                <a:spcPct val="150000"/>
              </a:lnSpc>
              <a:buClr>
                <a:schemeClr val="accent5"/>
              </a:buClr>
              <a:buFont typeface="Arial" panose="020B0604020202020204" pitchFamily="34" charset="0"/>
              <a:buChar char="•"/>
            </a:pPr>
            <a:r>
              <a:rPr lang="es-CO" sz="1350" dirty="0">
                <a:latin typeface="Arial Narrow" panose="020B0606020202030204" pitchFamily="34" charset="0"/>
              </a:rPr>
              <a:t>Base de datos DAGRAN:</a:t>
            </a:r>
          </a:p>
          <a:p>
            <a:pPr lvl="1">
              <a:lnSpc>
                <a:spcPct val="150000"/>
              </a:lnSpc>
              <a:buClr>
                <a:schemeClr val="accent5"/>
              </a:buClr>
              <a:buFont typeface="Arial" panose="020B0604020202020204" pitchFamily="34" charset="0"/>
              <a:buChar char="•"/>
            </a:pPr>
            <a:r>
              <a:rPr lang="es-CO" sz="1350" dirty="0">
                <a:latin typeface="Arial Narrow" panose="020B0606020202030204" pitchFamily="34" charset="0"/>
              </a:rPr>
              <a:t>    1073 eventos en total</a:t>
            </a:r>
          </a:p>
          <a:p>
            <a:pPr>
              <a:lnSpc>
                <a:spcPct val="150000"/>
              </a:lnSpc>
              <a:buClr>
                <a:schemeClr val="accent5"/>
              </a:buClr>
              <a:buFont typeface="Arial" panose="020B0604020202020204" pitchFamily="34" charset="0"/>
              <a:buChar char="•"/>
            </a:pPr>
            <a:r>
              <a:rPr lang="es-CO" sz="1350" dirty="0">
                <a:latin typeface="Arial Narrow" panose="020B0606020202030204" pitchFamily="34" charset="0"/>
              </a:rPr>
              <a:t>Base de datos GEOHAZARD:</a:t>
            </a:r>
          </a:p>
          <a:p>
            <a:pPr lvl="1">
              <a:lnSpc>
                <a:spcPct val="150000"/>
              </a:lnSpc>
              <a:buClr>
                <a:schemeClr val="accent5"/>
              </a:buClr>
              <a:buFont typeface="Arial" panose="020B0604020202020204" pitchFamily="34" charset="0"/>
              <a:buChar char="•"/>
            </a:pPr>
            <a:r>
              <a:rPr lang="es-CO" sz="1350" dirty="0">
                <a:latin typeface="Arial Narrow" panose="020B0606020202030204" pitchFamily="34" charset="0"/>
              </a:rPr>
              <a:t>    197 eventos en total asociados a inundaciones</a:t>
            </a:r>
          </a:p>
          <a:p>
            <a:pPr>
              <a:lnSpc>
                <a:spcPct val="150000"/>
              </a:lnSpc>
              <a:buClr>
                <a:schemeClr val="accent5"/>
              </a:buClr>
              <a:buFont typeface="Arial" panose="020B0604020202020204" pitchFamily="34" charset="0"/>
              <a:buChar char="•"/>
            </a:pPr>
            <a:r>
              <a:rPr lang="es-CO" sz="1350" dirty="0">
                <a:latin typeface="Arial Narrow" panose="020B0606020202030204" pitchFamily="34" charset="0"/>
              </a:rPr>
              <a:t>Total eventos: </a:t>
            </a:r>
            <a:r>
              <a:rPr lang="es-CO" sz="1350" b="1" dirty="0">
                <a:latin typeface="Arial Narrow" panose="020B0606020202030204" pitchFamily="34" charset="0"/>
              </a:rPr>
              <a:t>1270 inundaciones</a:t>
            </a:r>
          </a:p>
          <a:p>
            <a:pPr>
              <a:lnSpc>
                <a:spcPct val="150000"/>
              </a:lnSpc>
              <a:buClr>
                <a:schemeClr val="accent5"/>
              </a:buClr>
              <a:buFont typeface="Arial" panose="020B0604020202020204" pitchFamily="34" charset="0"/>
              <a:buChar char="•"/>
            </a:pPr>
            <a:r>
              <a:rPr lang="es-CO" sz="1350" dirty="0">
                <a:latin typeface="Arial Narrow" panose="020B0606020202030204" pitchFamily="34" charset="0"/>
              </a:rPr>
              <a:t>Procesamiento:</a:t>
            </a:r>
          </a:p>
          <a:p>
            <a:pPr lvl="1">
              <a:lnSpc>
                <a:spcPct val="150000"/>
              </a:lnSpc>
              <a:buClr>
                <a:schemeClr val="accent5"/>
              </a:buClr>
              <a:buFont typeface="Arial" panose="020B0604020202020204" pitchFamily="34" charset="0"/>
              <a:buChar char="•"/>
            </a:pPr>
            <a:r>
              <a:rPr lang="es-CO" sz="1350" dirty="0">
                <a:latin typeface="Arial Narrow" panose="020B0606020202030204" pitchFamily="34" charset="0"/>
              </a:rPr>
              <a:t> Eventos delimitados temporalmente a partir del año 2002.</a:t>
            </a:r>
          </a:p>
          <a:p>
            <a:pPr lvl="1">
              <a:lnSpc>
                <a:spcPct val="150000"/>
              </a:lnSpc>
              <a:buClr>
                <a:schemeClr val="accent5"/>
              </a:buClr>
              <a:buFont typeface="Arial" panose="020B0604020202020204" pitchFamily="34" charset="0"/>
              <a:buChar char="•"/>
            </a:pPr>
            <a:r>
              <a:rPr lang="es-CO" sz="1350" dirty="0">
                <a:latin typeface="Arial Narrow" panose="020B0606020202030204" pitchFamily="34" charset="0"/>
              </a:rPr>
              <a:t> Validación de coordenadas y localización</a:t>
            </a:r>
          </a:p>
          <a:p>
            <a:pPr lvl="1">
              <a:lnSpc>
                <a:spcPct val="150000"/>
              </a:lnSpc>
              <a:buClr>
                <a:schemeClr val="accent5"/>
              </a:buClr>
              <a:buFont typeface="Arial" panose="020B0604020202020204" pitchFamily="34" charset="0"/>
              <a:buChar char="•"/>
            </a:pPr>
            <a:r>
              <a:rPr lang="es-CO" sz="1350" dirty="0">
                <a:latin typeface="Arial Narrow" panose="020B0606020202030204" pitchFamily="34" charset="0"/>
              </a:rPr>
              <a:t> Validación de no repetición de eventos</a:t>
            </a:r>
          </a:p>
          <a:p>
            <a:pPr lvl="1">
              <a:lnSpc>
                <a:spcPct val="150000"/>
              </a:lnSpc>
              <a:buClr>
                <a:schemeClr val="accent5"/>
              </a:buClr>
              <a:buFont typeface="Arial" panose="020B0604020202020204" pitchFamily="34" charset="0"/>
              <a:buChar char="•"/>
            </a:pPr>
            <a:r>
              <a:rPr lang="es-CO" sz="1350" dirty="0">
                <a:latin typeface="Arial Narrow" panose="020B0606020202030204" pitchFamily="34" charset="0"/>
              </a:rPr>
              <a:t> Validación de eventos entre fuentes</a:t>
            </a:r>
          </a:p>
        </p:txBody>
      </p:sp>
      <p:pic>
        <p:nvPicPr>
          <p:cNvPr id="9" name="Imagen 8">
            <a:extLst>
              <a:ext uri="{FF2B5EF4-FFF2-40B4-BE49-F238E27FC236}">
                <a16:creationId xmlns:a16="http://schemas.microsoft.com/office/drawing/2014/main" id="{B104641C-AF0A-B382-B7CC-D76510AD2009}"/>
              </a:ext>
            </a:extLst>
          </p:cNvPr>
          <p:cNvPicPr>
            <a:picLocks noChangeAspect="1"/>
          </p:cNvPicPr>
          <p:nvPr/>
        </p:nvPicPr>
        <p:blipFill>
          <a:blip r:embed="rId2"/>
          <a:srcRect t="3142"/>
          <a:stretch>
            <a:fillRect/>
          </a:stretch>
        </p:blipFill>
        <p:spPr>
          <a:xfrm>
            <a:off x="4628272" y="405963"/>
            <a:ext cx="4132024" cy="4096243"/>
          </a:xfrm>
          <a:prstGeom prst="rect">
            <a:avLst/>
          </a:prstGeom>
        </p:spPr>
      </p:pic>
    </p:spTree>
    <p:extLst>
      <p:ext uri="{BB962C8B-B14F-4D97-AF65-F5344CB8AC3E}">
        <p14:creationId xmlns:p14="http://schemas.microsoft.com/office/powerpoint/2010/main" val="2407684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B804F-8DEC-E459-F7D1-A36ED382FFD1}"/>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81978C2C-7E21-CCBD-D032-566EF9D0662E}"/>
              </a:ext>
            </a:extLst>
          </p:cNvPr>
          <p:cNvSpPr txBox="1">
            <a:spLocks/>
          </p:cNvSpPr>
          <p:nvPr/>
        </p:nvSpPr>
        <p:spPr>
          <a:xfrm>
            <a:off x="477376" y="310707"/>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sz="2200" dirty="0">
                <a:solidFill>
                  <a:schemeClr val="accent1"/>
                </a:solidFill>
                <a:latin typeface="Ancizar Serif Extrabold" panose="020A0902070300000003" pitchFamily="18" charset="0"/>
                <a:cs typeface="Ancizar Sans Extrabold"/>
              </a:rPr>
              <a:t>Variabilidad</a:t>
            </a:r>
          </a:p>
        </p:txBody>
      </p:sp>
      <p:sp>
        <p:nvSpPr>
          <p:cNvPr id="3" name="Marcador de número de diapositiva 2">
            <a:extLst>
              <a:ext uri="{FF2B5EF4-FFF2-40B4-BE49-F238E27FC236}">
                <a16:creationId xmlns:a16="http://schemas.microsoft.com/office/drawing/2014/main" id="{09111759-899C-54D7-EFE6-49E85CB7BB5E}"/>
              </a:ext>
            </a:extLst>
          </p:cNvPr>
          <p:cNvSpPr>
            <a:spLocks noGrp="1"/>
          </p:cNvSpPr>
          <p:nvPr>
            <p:ph type="sldNum" sz="quarter" idx="12"/>
          </p:nvPr>
        </p:nvSpPr>
        <p:spPr/>
        <p:txBody>
          <a:bodyPr/>
          <a:lstStyle/>
          <a:p>
            <a:fld id="{90BC2BA4-81C0-F544-BD72-C8CB9DA7C802}" type="slidenum">
              <a:rPr lang="es-ES" smtClean="0"/>
              <a:pPr/>
              <a:t>4</a:t>
            </a:fld>
            <a:endParaRPr lang="es-ES"/>
          </a:p>
        </p:txBody>
      </p:sp>
      <p:sp>
        <p:nvSpPr>
          <p:cNvPr id="6" name="CuadroTexto 5">
            <a:extLst>
              <a:ext uri="{FF2B5EF4-FFF2-40B4-BE49-F238E27FC236}">
                <a16:creationId xmlns:a16="http://schemas.microsoft.com/office/drawing/2014/main" id="{D0EB0D30-915D-00F2-1329-84602008AEA1}"/>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sp>
        <p:nvSpPr>
          <p:cNvPr id="9" name="CuadroTexto 8">
            <a:extLst>
              <a:ext uri="{FF2B5EF4-FFF2-40B4-BE49-F238E27FC236}">
                <a16:creationId xmlns:a16="http://schemas.microsoft.com/office/drawing/2014/main" id="{DC003650-4437-B323-CA23-EC29BF45AA56}"/>
              </a:ext>
            </a:extLst>
          </p:cNvPr>
          <p:cNvSpPr txBox="1"/>
          <p:nvPr/>
        </p:nvSpPr>
        <p:spPr>
          <a:xfrm>
            <a:off x="2846544" y="746385"/>
            <a:ext cx="3625083" cy="495713"/>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marL="0" indent="0" algn="ctr">
              <a:lnSpc>
                <a:spcPct val="150000"/>
              </a:lnSpc>
              <a:buClr>
                <a:schemeClr val="accent5"/>
              </a:buClr>
              <a:buNone/>
            </a:pPr>
            <a:r>
              <a:rPr lang="es-CO" sz="2000" b="1" dirty="0">
                <a:latin typeface="Arial Narrow" panose="020B0606020202030204" pitchFamily="34" charset="0"/>
              </a:rPr>
              <a:t>Variables</a:t>
            </a:r>
            <a:endParaRPr lang="es-CO" sz="2000" dirty="0">
              <a:latin typeface="Arial Narrow" panose="020B0606020202030204" pitchFamily="34" charset="0"/>
            </a:endParaRPr>
          </a:p>
        </p:txBody>
      </p:sp>
      <p:sp>
        <p:nvSpPr>
          <p:cNvPr id="13" name="CuadroTexto 12">
            <a:extLst>
              <a:ext uri="{FF2B5EF4-FFF2-40B4-BE49-F238E27FC236}">
                <a16:creationId xmlns:a16="http://schemas.microsoft.com/office/drawing/2014/main" id="{4DA34678-A51D-984D-5598-DB53E12A2AC1}"/>
              </a:ext>
            </a:extLst>
          </p:cNvPr>
          <p:cNvSpPr txBox="1"/>
          <p:nvPr/>
        </p:nvSpPr>
        <p:spPr>
          <a:xfrm>
            <a:off x="830580" y="1435480"/>
            <a:ext cx="3395270" cy="340519"/>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400" b="1" noProof="0" dirty="0">
                <a:solidFill>
                  <a:schemeClr val="accent1"/>
                </a:solidFill>
                <a:latin typeface="Arial Narrow" panose="020B0606020202030204" pitchFamily="34" charset="0"/>
              </a:rPr>
              <a:t>Variables asociadas a la cuenca</a:t>
            </a:r>
            <a:endParaRPr lang="es-CO" sz="1400" dirty="0">
              <a:latin typeface="Arial Narrow" panose="020B0606020202030204" pitchFamily="34" charset="0"/>
            </a:endParaRPr>
          </a:p>
        </p:txBody>
      </p:sp>
      <p:sp>
        <p:nvSpPr>
          <p:cNvPr id="16" name="CuadroTexto 15">
            <a:extLst>
              <a:ext uri="{FF2B5EF4-FFF2-40B4-BE49-F238E27FC236}">
                <a16:creationId xmlns:a16="http://schemas.microsoft.com/office/drawing/2014/main" id="{7A3F9AAE-5C6E-E587-2506-2D421595D1AC}"/>
              </a:ext>
            </a:extLst>
          </p:cNvPr>
          <p:cNvSpPr txBox="1"/>
          <p:nvPr/>
        </p:nvSpPr>
        <p:spPr>
          <a:xfrm>
            <a:off x="5097780" y="1435713"/>
            <a:ext cx="3395270" cy="340519"/>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400" b="1" noProof="0" dirty="0">
                <a:solidFill>
                  <a:schemeClr val="accent1"/>
                </a:solidFill>
                <a:latin typeface="Arial Narrow" panose="020B0606020202030204" pitchFamily="34" charset="0"/>
              </a:rPr>
              <a:t>Variables asociadas a la condiciones locales</a:t>
            </a:r>
            <a:endParaRPr lang="es-CO" sz="1400" dirty="0">
              <a:latin typeface="Arial Narrow" panose="020B0606020202030204" pitchFamily="34" charset="0"/>
            </a:endParaRPr>
          </a:p>
        </p:txBody>
      </p:sp>
      <p:sp>
        <p:nvSpPr>
          <p:cNvPr id="18" name="CuadroTexto 17">
            <a:extLst>
              <a:ext uri="{FF2B5EF4-FFF2-40B4-BE49-F238E27FC236}">
                <a16:creationId xmlns:a16="http://schemas.microsoft.com/office/drawing/2014/main" id="{9AE9AD21-8717-2563-5C01-72D19CFBA465}"/>
              </a:ext>
            </a:extLst>
          </p:cNvPr>
          <p:cNvSpPr txBox="1"/>
          <p:nvPr/>
        </p:nvSpPr>
        <p:spPr>
          <a:xfrm>
            <a:off x="1391460" y="1984787"/>
            <a:ext cx="2086791" cy="306467"/>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200" noProof="0" dirty="0">
                <a:latin typeface="Arial Narrow" panose="020B0606020202030204" pitchFamily="34" charset="0"/>
              </a:rPr>
              <a:t>Area</a:t>
            </a:r>
            <a:endParaRPr lang="es-CO" sz="1200" dirty="0">
              <a:latin typeface="Arial Narrow" panose="020B0606020202030204" pitchFamily="34" charset="0"/>
            </a:endParaRPr>
          </a:p>
        </p:txBody>
      </p:sp>
      <p:sp>
        <p:nvSpPr>
          <p:cNvPr id="20" name="CuadroTexto 19">
            <a:extLst>
              <a:ext uri="{FF2B5EF4-FFF2-40B4-BE49-F238E27FC236}">
                <a16:creationId xmlns:a16="http://schemas.microsoft.com/office/drawing/2014/main" id="{97B37CD1-1FF0-C67D-034D-A2596FEF0666}"/>
              </a:ext>
            </a:extLst>
          </p:cNvPr>
          <p:cNvSpPr txBox="1"/>
          <p:nvPr/>
        </p:nvSpPr>
        <p:spPr>
          <a:xfrm>
            <a:off x="1391460" y="2437761"/>
            <a:ext cx="2086791" cy="306467"/>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200" dirty="0">
                <a:latin typeface="Arial Narrow" panose="020B0606020202030204" pitchFamily="34" charset="0"/>
              </a:rPr>
              <a:t>Pendiente media</a:t>
            </a:r>
          </a:p>
        </p:txBody>
      </p:sp>
      <p:sp>
        <p:nvSpPr>
          <p:cNvPr id="22" name="CuadroTexto 21">
            <a:extLst>
              <a:ext uri="{FF2B5EF4-FFF2-40B4-BE49-F238E27FC236}">
                <a16:creationId xmlns:a16="http://schemas.microsoft.com/office/drawing/2014/main" id="{A315AFAA-5034-B705-78EB-5E22D0946038}"/>
              </a:ext>
            </a:extLst>
          </p:cNvPr>
          <p:cNvSpPr txBox="1"/>
          <p:nvPr/>
        </p:nvSpPr>
        <p:spPr>
          <a:xfrm>
            <a:off x="1391460" y="2883478"/>
            <a:ext cx="2086791" cy="306467"/>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200" dirty="0">
                <a:latin typeface="Arial Narrow" panose="020B0606020202030204" pitchFamily="34" charset="0"/>
              </a:rPr>
              <a:t>LAI medio</a:t>
            </a:r>
          </a:p>
        </p:txBody>
      </p:sp>
      <p:sp>
        <p:nvSpPr>
          <p:cNvPr id="24" name="CuadroTexto 23">
            <a:extLst>
              <a:ext uri="{FF2B5EF4-FFF2-40B4-BE49-F238E27FC236}">
                <a16:creationId xmlns:a16="http://schemas.microsoft.com/office/drawing/2014/main" id="{3E1F4FF4-0A1E-1EBF-2C2F-17B11E25D99A}"/>
              </a:ext>
            </a:extLst>
          </p:cNvPr>
          <p:cNvSpPr txBox="1"/>
          <p:nvPr/>
        </p:nvSpPr>
        <p:spPr>
          <a:xfrm>
            <a:off x="5597438" y="1972442"/>
            <a:ext cx="2395953" cy="306467"/>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200" dirty="0">
                <a:latin typeface="Arial Narrow" panose="020B0606020202030204" pitchFamily="34" charset="0"/>
              </a:rPr>
              <a:t>Índice de posición topográfica (TPI)</a:t>
            </a:r>
          </a:p>
        </p:txBody>
      </p:sp>
      <p:sp>
        <p:nvSpPr>
          <p:cNvPr id="26" name="CuadroTexto 25">
            <a:extLst>
              <a:ext uri="{FF2B5EF4-FFF2-40B4-BE49-F238E27FC236}">
                <a16:creationId xmlns:a16="http://schemas.microsoft.com/office/drawing/2014/main" id="{3EF529B4-659E-C4D3-647F-15DBE7F88033}"/>
              </a:ext>
            </a:extLst>
          </p:cNvPr>
          <p:cNvSpPr txBox="1"/>
          <p:nvPr/>
        </p:nvSpPr>
        <p:spPr>
          <a:xfrm>
            <a:off x="5597438" y="2421314"/>
            <a:ext cx="2395953" cy="306467"/>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200" dirty="0">
                <a:latin typeface="Arial Narrow" panose="020B0606020202030204" pitchFamily="34" charset="0"/>
              </a:rPr>
              <a:t>Índice de rugosidad topográfica (TRI)</a:t>
            </a:r>
          </a:p>
        </p:txBody>
      </p:sp>
      <p:sp>
        <p:nvSpPr>
          <p:cNvPr id="30" name="CuadroTexto 29">
            <a:extLst>
              <a:ext uri="{FF2B5EF4-FFF2-40B4-BE49-F238E27FC236}">
                <a16:creationId xmlns:a16="http://schemas.microsoft.com/office/drawing/2014/main" id="{89EFA4B6-5F72-CF95-9071-4DD9814D055C}"/>
              </a:ext>
            </a:extLst>
          </p:cNvPr>
          <p:cNvSpPr txBox="1"/>
          <p:nvPr/>
        </p:nvSpPr>
        <p:spPr>
          <a:xfrm>
            <a:off x="5597437" y="2827572"/>
            <a:ext cx="2395953" cy="306467"/>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200" dirty="0">
                <a:latin typeface="Arial Narrow" panose="020B0606020202030204" pitchFamily="34" charset="0"/>
              </a:rPr>
              <a:t>Curvatura</a:t>
            </a:r>
          </a:p>
        </p:txBody>
      </p:sp>
      <p:sp>
        <p:nvSpPr>
          <p:cNvPr id="32" name="CuadroTexto 31">
            <a:extLst>
              <a:ext uri="{FF2B5EF4-FFF2-40B4-BE49-F238E27FC236}">
                <a16:creationId xmlns:a16="http://schemas.microsoft.com/office/drawing/2014/main" id="{EC3DA22A-EEC8-3389-68FC-5C9B596B2EA4}"/>
              </a:ext>
            </a:extLst>
          </p:cNvPr>
          <p:cNvSpPr txBox="1"/>
          <p:nvPr/>
        </p:nvSpPr>
        <p:spPr>
          <a:xfrm>
            <a:off x="5597438" y="3254747"/>
            <a:ext cx="2395953" cy="306467"/>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200" dirty="0">
                <a:latin typeface="Arial Narrow" panose="020B0606020202030204" pitchFamily="34" charset="0"/>
              </a:rPr>
              <a:t>Elevación</a:t>
            </a:r>
          </a:p>
        </p:txBody>
      </p:sp>
      <p:sp>
        <p:nvSpPr>
          <p:cNvPr id="34" name="CuadroTexto 33">
            <a:extLst>
              <a:ext uri="{FF2B5EF4-FFF2-40B4-BE49-F238E27FC236}">
                <a16:creationId xmlns:a16="http://schemas.microsoft.com/office/drawing/2014/main" id="{835F0187-2951-8858-3263-783134EBED4B}"/>
              </a:ext>
            </a:extLst>
          </p:cNvPr>
          <p:cNvSpPr txBox="1"/>
          <p:nvPr/>
        </p:nvSpPr>
        <p:spPr>
          <a:xfrm>
            <a:off x="622314" y="3367502"/>
            <a:ext cx="3625083" cy="492443"/>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marL="0" indent="0" algn="ctr">
              <a:buClr>
                <a:schemeClr val="accent5"/>
              </a:buClr>
              <a:buNone/>
            </a:pPr>
            <a:r>
              <a:rPr lang="es-CO" sz="1300" dirty="0">
                <a:latin typeface="Arial Narrow" panose="020B0606020202030204" pitchFamily="34" charset="0"/>
              </a:rPr>
              <a:t>Estas variables fueron generadas como el valor medio asociada a la cuenca de ocurrencia del evento.</a:t>
            </a:r>
          </a:p>
        </p:txBody>
      </p:sp>
      <p:sp>
        <p:nvSpPr>
          <p:cNvPr id="5" name="CuadroTexto 4">
            <a:extLst>
              <a:ext uri="{FF2B5EF4-FFF2-40B4-BE49-F238E27FC236}">
                <a16:creationId xmlns:a16="http://schemas.microsoft.com/office/drawing/2014/main" id="{8366E420-2B2A-5EC9-D4FE-0998F590381D}"/>
              </a:ext>
            </a:extLst>
          </p:cNvPr>
          <p:cNvSpPr txBox="1"/>
          <p:nvPr/>
        </p:nvSpPr>
        <p:spPr>
          <a:xfrm>
            <a:off x="5597436" y="3692512"/>
            <a:ext cx="2395953" cy="306467"/>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200" dirty="0">
                <a:latin typeface="Arial Narrow" panose="020B0606020202030204" pitchFamily="34" charset="0"/>
              </a:rPr>
              <a:t>Coordenadas (Espacialidad)</a:t>
            </a:r>
          </a:p>
        </p:txBody>
      </p:sp>
    </p:spTree>
    <p:extLst>
      <p:ext uri="{BB962C8B-B14F-4D97-AF65-F5344CB8AC3E}">
        <p14:creationId xmlns:p14="http://schemas.microsoft.com/office/powerpoint/2010/main" val="1849516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4E40F-9863-7587-A89A-3FA568072370}"/>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91B04ADB-91C7-5520-0E66-62D9B002B251}"/>
              </a:ext>
            </a:extLst>
          </p:cNvPr>
          <p:cNvSpPr txBox="1">
            <a:spLocks/>
          </p:cNvSpPr>
          <p:nvPr/>
        </p:nvSpPr>
        <p:spPr>
          <a:xfrm>
            <a:off x="477376" y="310707"/>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sz="2200" dirty="0">
                <a:solidFill>
                  <a:schemeClr val="accent1"/>
                </a:solidFill>
                <a:latin typeface="Ancizar Serif Extrabold" panose="020A0902070300000003" pitchFamily="18" charset="0"/>
                <a:cs typeface="Ancizar Sans Extrabold"/>
              </a:rPr>
              <a:t>Procesos Gaussianos: Análisis exploratorio</a:t>
            </a:r>
          </a:p>
        </p:txBody>
      </p:sp>
      <p:sp>
        <p:nvSpPr>
          <p:cNvPr id="3" name="Marcador de número de diapositiva 2">
            <a:extLst>
              <a:ext uri="{FF2B5EF4-FFF2-40B4-BE49-F238E27FC236}">
                <a16:creationId xmlns:a16="http://schemas.microsoft.com/office/drawing/2014/main" id="{528D724D-FF9F-94AE-5D58-3E9CF2C01B52}"/>
              </a:ext>
            </a:extLst>
          </p:cNvPr>
          <p:cNvSpPr>
            <a:spLocks noGrp="1"/>
          </p:cNvSpPr>
          <p:nvPr>
            <p:ph type="sldNum" sz="quarter" idx="12"/>
          </p:nvPr>
        </p:nvSpPr>
        <p:spPr/>
        <p:txBody>
          <a:bodyPr/>
          <a:lstStyle/>
          <a:p>
            <a:fld id="{90BC2BA4-81C0-F544-BD72-C8CB9DA7C802}" type="slidenum">
              <a:rPr lang="es-ES" smtClean="0"/>
              <a:pPr/>
              <a:t>5</a:t>
            </a:fld>
            <a:endParaRPr lang="es-ES"/>
          </a:p>
        </p:txBody>
      </p:sp>
      <p:sp>
        <p:nvSpPr>
          <p:cNvPr id="6" name="CuadroTexto 5">
            <a:extLst>
              <a:ext uri="{FF2B5EF4-FFF2-40B4-BE49-F238E27FC236}">
                <a16:creationId xmlns:a16="http://schemas.microsoft.com/office/drawing/2014/main" id="{BD52E2BB-AAF2-DEAA-41C4-27CAB6860BE9}"/>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sp>
        <p:nvSpPr>
          <p:cNvPr id="34" name="CuadroTexto 33">
            <a:extLst>
              <a:ext uri="{FF2B5EF4-FFF2-40B4-BE49-F238E27FC236}">
                <a16:creationId xmlns:a16="http://schemas.microsoft.com/office/drawing/2014/main" id="{2EEADE21-CEEA-C7E1-A75B-362A15EA01CE}"/>
              </a:ext>
            </a:extLst>
          </p:cNvPr>
          <p:cNvSpPr txBox="1"/>
          <p:nvPr/>
        </p:nvSpPr>
        <p:spPr>
          <a:xfrm>
            <a:off x="252045" y="817194"/>
            <a:ext cx="4996611" cy="1292662"/>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marL="0" indent="0" algn="ctr">
              <a:buClr>
                <a:schemeClr val="accent5"/>
              </a:buClr>
              <a:buNone/>
            </a:pPr>
            <a:r>
              <a:rPr lang="es-CO" sz="1300" dirty="0">
                <a:latin typeface="Arial Narrow" panose="020B0606020202030204" pitchFamily="34" charset="0"/>
              </a:rPr>
              <a:t>Proceso Gaussiano de Clasificación sin espacialidad</a:t>
            </a:r>
          </a:p>
          <a:p>
            <a:pPr marL="0" indent="0" algn="ctr">
              <a:buClr>
                <a:schemeClr val="accent5"/>
              </a:buClr>
              <a:buNone/>
            </a:pPr>
            <a:endParaRPr lang="es-CO" sz="1300" dirty="0">
              <a:latin typeface="Arial Narrow" panose="020B0606020202030204" pitchFamily="34" charset="0"/>
            </a:endParaRPr>
          </a:p>
          <a:p>
            <a:pPr marL="0" indent="0" algn="ctr">
              <a:buClr>
                <a:schemeClr val="accent5"/>
              </a:buClr>
              <a:buNone/>
            </a:pPr>
            <a:r>
              <a:rPr lang="es-CO" sz="1300" b="1" dirty="0">
                <a:latin typeface="Arial Narrow" panose="020B0606020202030204" pitchFamily="34" charset="0"/>
              </a:rPr>
              <a:t>Entrenamiento:</a:t>
            </a:r>
            <a:r>
              <a:rPr lang="es-CO" sz="1300" dirty="0">
                <a:latin typeface="Arial Narrow" panose="020B0606020202030204" pitchFamily="34" charset="0"/>
              </a:rPr>
              <a:t> 70%</a:t>
            </a:r>
          </a:p>
          <a:p>
            <a:pPr marL="0" indent="0" algn="ctr">
              <a:buClr>
                <a:schemeClr val="accent5"/>
              </a:buClr>
              <a:buNone/>
            </a:pPr>
            <a:r>
              <a:rPr lang="es-CO" sz="1300" b="1" dirty="0">
                <a:latin typeface="Arial Narrow" panose="020B0606020202030204" pitchFamily="34" charset="0"/>
              </a:rPr>
              <a:t>Validación:</a:t>
            </a:r>
            <a:r>
              <a:rPr lang="es-CO" sz="1300" dirty="0">
                <a:latin typeface="Arial Narrow" panose="020B0606020202030204" pitchFamily="34" charset="0"/>
              </a:rPr>
              <a:t> 30%</a:t>
            </a:r>
          </a:p>
          <a:p>
            <a:pPr marL="0" indent="0" algn="ctr">
              <a:buClr>
                <a:schemeClr val="accent5"/>
              </a:buClr>
              <a:buNone/>
            </a:pPr>
            <a:r>
              <a:rPr lang="es-CO" sz="1300" b="1" dirty="0" err="1">
                <a:latin typeface="Arial Narrow" panose="020B0606020202030204" pitchFamily="34" charset="0"/>
              </a:rPr>
              <a:t>Kernel</a:t>
            </a:r>
            <a:r>
              <a:rPr lang="es-CO" sz="1300" b="1" dirty="0">
                <a:latin typeface="Arial Narrow" panose="020B0606020202030204" pitchFamily="34" charset="0"/>
              </a:rPr>
              <a:t> RBF:</a:t>
            </a:r>
            <a:r>
              <a:rPr lang="es-CO" sz="1300" dirty="0">
                <a:latin typeface="Arial Narrow" panose="020B0606020202030204" pitchFamily="34" charset="0"/>
              </a:rPr>
              <a:t> </a:t>
            </a:r>
            <a:r>
              <a:rPr lang="es-CO" sz="1300" dirty="0" err="1">
                <a:latin typeface="Arial Narrow" panose="020B0606020202030204" pitchFamily="34" charset="0"/>
              </a:rPr>
              <a:t>Hiperparámetros</a:t>
            </a:r>
            <a:r>
              <a:rPr lang="es-CO" sz="1300" dirty="0">
                <a:latin typeface="Arial Narrow" panose="020B0606020202030204" pitchFamily="34" charset="0"/>
              </a:rPr>
              <a:t> iguales a 1. </a:t>
            </a:r>
          </a:p>
          <a:p>
            <a:pPr marL="0" indent="0" algn="ctr">
              <a:buClr>
                <a:schemeClr val="accent5"/>
              </a:buClr>
              <a:buNone/>
            </a:pPr>
            <a:r>
              <a:rPr lang="es-CO" sz="1300" dirty="0">
                <a:latin typeface="Arial Narrow" panose="020B0606020202030204" pitchFamily="34" charset="0"/>
              </a:rPr>
              <a:t>Se observa en matriz formación de bloques relacionado con las clases.</a:t>
            </a:r>
          </a:p>
        </p:txBody>
      </p:sp>
      <p:pic>
        <p:nvPicPr>
          <p:cNvPr id="10" name="Imagen 9">
            <a:extLst>
              <a:ext uri="{FF2B5EF4-FFF2-40B4-BE49-F238E27FC236}">
                <a16:creationId xmlns:a16="http://schemas.microsoft.com/office/drawing/2014/main" id="{21CC41EB-38B5-0205-68D8-22B60A6AD4B6}"/>
              </a:ext>
            </a:extLst>
          </p:cNvPr>
          <p:cNvPicPr>
            <a:picLocks noChangeAspect="1"/>
          </p:cNvPicPr>
          <p:nvPr/>
        </p:nvPicPr>
        <p:blipFill>
          <a:blip r:embed="rId2"/>
          <a:stretch>
            <a:fillRect/>
          </a:stretch>
        </p:blipFill>
        <p:spPr>
          <a:xfrm>
            <a:off x="5611533" y="387770"/>
            <a:ext cx="2931190" cy="2643818"/>
          </a:xfrm>
          <a:prstGeom prst="rect">
            <a:avLst/>
          </a:prstGeom>
        </p:spPr>
      </p:pic>
      <p:pic>
        <p:nvPicPr>
          <p:cNvPr id="15" name="Imagen 14">
            <a:extLst>
              <a:ext uri="{FF2B5EF4-FFF2-40B4-BE49-F238E27FC236}">
                <a16:creationId xmlns:a16="http://schemas.microsoft.com/office/drawing/2014/main" id="{4CCFB9C8-709B-705F-7F51-4B3B338E63E2}"/>
              </a:ext>
            </a:extLst>
          </p:cNvPr>
          <p:cNvPicPr>
            <a:picLocks noChangeAspect="1"/>
          </p:cNvPicPr>
          <p:nvPr/>
        </p:nvPicPr>
        <p:blipFill>
          <a:blip r:embed="rId3"/>
          <a:srcRect b="78701"/>
          <a:stretch>
            <a:fillRect/>
          </a:stretch>
        </p:blipFill>
        <p:spPr>
          <a:xfrm>
            <a:off x="3195512" y="2160626"/>
            <a:ext cx="2335237" cy="364579"/>
          </a:xfrm>
          <a:prstGeom prst="rect">
            <a:avLst/>
          </a:prstGeom>
        </p:spPr>
      </p:pic>
      <p:pic>
        <p:nvPicPr>
          <p:cNvPr id="23" name="Imagen 22">
            <a:extLst>
              <a:ext uri="{FF2B5EF4-FFF2-40B4-BE49-F238E27FC236}">
                <a16:creationId xmlns:a16="http://schemas.microsoft.com/office/drawing/2014/main" id="{BB239436-AF1B-7A03-15E0-CC06F5547D03}"/>
              </a:ext>
            </a:extLst>
          </p:cNvPr>
          <p:cNvPicPr>
            <a:picLocks noChangeAspect="1"/>
          </p:cNvPicPr>
          <p:nvPr/>
        </p:nvPicPr>
        <p:blipFill>
          <a:blip r:embed="rId4"/>
          <a:srcRect t="7830"/>
          <a:stretch>
            <a:fillRect/>
          </a:stretch>
        </p:blipFill>
        <p:spPr>
          <a:xfrm>
            <a:off x="3782281" y="3031588"/>
            <a:ext cx="4215137" cy="1554036"/>
          </a:xfrm>
          <a:prstGeom prst="rect">
            <a:avLst/>
          </a:prstGeom>
        </p:spPr>
      </p:pic>
      <p:pic>
        <p:nvPicPr>
          <p:cNvPr id="27" name="Imagen 26">
            <a:extLst>
              <a:ext uri="{FF2B5EF4-FFF2-40B4-BE49-F238E27FC236}">
                <a16:creationId xmlns:a16="http://schemas.microsoft.com/office/drawing/2014/main" id="{6AAD2FA4-6998-3BEA-7209-1695A232ACFF}"/>
              </a:ext>
            </a:extLst>
          </p:cNvPr>
          <p:cNvPicPr>
            <a:picLocks noChangeAspect="1"/>
          </p:cNvPicPr>
          <p:nvPr/>
        </p:nvPicPr>
        <p:blipFill>
          <a:blip r:embed="rId5"/>
          <a:stretch>
            <a:fillRect/>
          </a:stretch>
        </p:blipFill>
        <p:spPr>
          <a:xfrm>
            <a:off x="301256" y="2160626"/>
            <a:ext cx="2773269" cy="2303224"/>
          </a:xfrm>
          <a:prstGeom prst="rect">
            <a:avLst/>
          </a:prstGeom>
        </p:spPr>
      </p:pic>
      <p:pic>
        <p:nvPicPr>
          <p:cNvPr id="5" name="Imagen 4">
            <a:extLst>
              <a:ext uri="{FF2B5EF4-FFF2-40B4-BE49-F238E27FC236}">
                <a16:creationId xmlns:a16="http://schemas.microsoft.com/office/drawing/2014/main" id="{290A2995-935D-26BB-82CF-F2CB7CF7DA32}"/>
              </a:ext>
            </a:extLst>
          </p:cNvPr>
          <p:cNvPicPr>
            <a:picLocks noChangeAspect="1"/>
          </p:cNvPicPr>
          <p:nvPr/>
        </p:nvPicPr>
        <p:blipFill>
          <a:blip r:embed="rId3"/>
          <a:srcRect t="63831" b="15866"/>
          <a:stretch>
            <a:fillRect/>
          </a:stretch>
        </p:blipFill>
        <p:spPr>
          <a:xfrm>
            <a:off x="3199709" y="2525205"/>
            <a:ext cx="2335237" cy="347535"/>
          </a:xfrm>
          <a:prstGeom prst="rect">
            <a:avLst/>
          </a:prstGeom>
        </p:spPr>
      </p:pic>
    </p:spTree>
    <p:extLst>
      <p:ext uri="{BB962C8B-B14F-4D97-AF65-F5344CB8AC3E}">
        <p14:creationId xmlns:p14="http://schemas.microsoft.com/office/powerpoint/2010/main" val="2618559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2C34D-A4C7-CA23-B576-A2AF58E8CE7F}"/>
            </a:ext>
          </a:extLst>
        </p:cNvPr>
        <p:cNvGrpSpPr/>
        <p:nvPr/>
      </p:nvGrpSpPr>
      <p:grpSpPr>
        <a:xfrm>
          <a:off x="0" y="0"/>
          <a:ext cx="0" cy="0"/>
          <a:chOff x="0" y="0"/>
          <a:chExt cx="0" cy="0"/>
        </a:xfrm>
      </p:grpSpPr>
      <p:pic>
        <p:nvPicPr>
          <p:cNvPr id="23" name="Imagen 22">
            <a:extLst>
              <a:ext uri="{FF2B5EF4-FFF2-40B4-BE49-F238E27FC236}">
                <a16:creationId xmlns:a16="http://schemas.microsoft.com/office/drawing/2014/main" id="{2EE319A6-BCAA-FF2C-7A07-29D4E120D62B}"/>
              </a:ext>
            </a:extLst>
          </p:cNvPr>
          <p:cNvPicPr>
            <a:picLocks noChangeAspect="1"/>
          </p:cNvPicPr>
          <p:nvPr/>
        </p:nvPicPr>
        <p:blipFill>
          <a:blip r:embed="rId2"/>
          <a:srcRect t="7444" b="386"/>
          <a:stretch>
            <a:fillRect/>
          </a:stretch>
        </p:blipFill>
        <p:spPr>
          <a:xfrm>
            <a:off x="3706087" y="3031588"/>
            <a:ext cx="4215137" cy="1554036"/>
          </a:xfrm>
          <a:prstGeom prst="rect">
            <a:avLst/>
          </a:prstGeom>
        </p:spPr>
      </p:pic>
      <p:sp>
        <p:nvSpPr>
          <p:cNvPr id="4" name="Título 1">
            <a:extLst>
              <a:ext uri="{FF2B5EF4-FFF2-40B4-BE49-F238E27FC236}">
                <a16:creationId xmlns:a16="http://schemas.microsoft.com/office/drawing/2014/main" id="{3240C117-FDAF-8AD2-172C-D1565DBD5944}"/>
              </a:ext>
            </a:extLst>
          </p:cNvPr>
          <p:cNvSpPr txBox="1">
            <a:spLocks/>
          </p:cNvSpPr>
          <p:nvPr/>
        </p:nvSpPr>
        <p:spPr>
          <a:xfrm>
            <a:off x="477376" y="310707"/>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sz="2200" dirty="0">
                <a:solidFill>
                  <a:schemeClr val="accent1"/>
                </a:solidFill>
                <a:latin typeface="Ancizar Serif Extrabold" panose="020A0902070300000003" pitchFamily="18" charset="0"/>
                <a:cs typeface="Ancizar Sans Extrabold"/>
              </a:rPr>
              <a:t>Procesos Gaussianos: Análisis exploratorio</a:t>
            </a:r>
          </a:p>
        </p:txBody>
      </p:sp>
      <p:sp>
        <p:nvSpPr>
          <p:cNvPr id="3" name="Marcador de número de diapositiva 2">
            <a:extLst>
              <a:ext uri="{FF2B5EF4-FFF2-40B4-BE49-F238E27FC236}">
                <a16:creationId xmlns:a16="http://schemas.microsoft.com/office/drawing/2014/main" id="{55A2637F-937A-D5E6-14B1-58B996CAE756}"/>
              </a:ext>
            </a:extLst>
          </p:cNvPr>
          <p:cNvSpPr>
            <a:spLocks noGrp="1"/>
          </p:cNvSpPr>
          <p:nvPr>
            <p:ph type="sldNum" sz="quarter" idx="12"/>
          </p:nvPr>
        </p:nvSpPr>
        <p:spPr/>
        <p:txBody>
          <a:bodyPr/>
          <a:lstStyle/>
          <a:p>
            <a:fld id="{90BC2BA4-81C0-F544-BD72-C8CB9DA7C802}" type="slidenum">
              <a:rPr lang="es-ES" smtClean="0"/>
              <a:pPr/>
              <a:t>6</a:t>
            </a:fld>
            <a:endParaRPr lang="es-ES"/>
          </a:p>
        </p:txBody>
      </p:sp>
      <p:sp>
        <p:nvSpPr>
          <p:cNvPr id="6" name="CuadroTexto 5">
            <a:extLst>
              <a:ext uri="{FF2B5EF4-FFF2-40B4-BE49-F238E27FC236}">
                <a16:creationId xmlns:a16="http://schemas.microsoft.com/office/drawing/2014/main" id="{E2A54C26-1D25-5974-D1A3-E9B8B3B3F2EB}"/>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sp>
        <p:nvSpPr>
          <p:cNvPr id="34" name="CuadroTexto 33">
            <a:extLst>
              <a:ext uri="{FF2B5EF4-FFF2-40B4-BE49-F238E27FC236}">
                <a16:creationId xmlns:a16="http://schemas.microsoft.com/office/drawing/2014/main" id="{E0E5962F-B363-13FF-8284-EBE378D320F4}"/>
              </a:ext>
            </a:extLst>
          </p:cNvPr>
          <p:cNvSpPr txBox="1"/>
          <p:nvPr/>
        </p:nvSpPr>
        <p:spPr>
          <a:xfrm>
            <a:off x="484134" y="817194"/>
            <a:ext cx="4827005" cy="1092607"/>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marL="0" indent="0" algn="ctr">
              <a:buClr>
                <a:schemeClr val="accent5"/>
              </a:buClr>
              <a:buNone/>
            </a:pPr>
            <a:r>
              <a:rPr lang="es-CO" sz="1300" dirty="0">
                <a:latin typeface="Arial Narrow" panose="020B0606020202030204" pitchFamily="34" charset="0"/>
              </a:rPr>
              <a:t>Proceso Gaussiano de Clasificación </a:t>
            </a:r>
            <a:r>
              <a:rPr lang="es-CO" sz="1300" b="1" dirty="0">
                <a:latin typeface="Arial Narrow" panose="020B0606020202030204" pitchFamily="34" charset="0"/>
              </a:rPr>
              <a:t>con espacialidad (Coordenadas)</a:t>
            </a:r>
          </a:p>
          <a:p>
            <a:pPr marL="0" indent="0" algn="ctr">
              <a:buClr>
                <a:schemeClr val="accent5"/>
              </a:buClr>
              <a:buNone/>
            </a:pPr>
            <a:endParaRPr lang="es-CO" sz="1300" dirty="0">
              <a:latin typeface="Arial Narrow" panose="020B0606020202030204" pitchFamily="34" charset="0"/>
            </a:endParaRPr>
          </a:p>
          <a:p>
            <a:pPr marL="0" indent="0" algn="ctr">
              <a:buClr>
                <a:schemeClr val="accent5"/>
              </a:buClr>
              <a:buNone/>
            </a:pPr>
            <a:r>
              <a:rPr lang="es-CO" sz="1300" b="1" dirty="0">
                <a:latin typeface="Arial Narrow" panose="020B0606020202030204" pitchFamily="34" charset="0"/>
              </a:rPr>
              <a:t>Entrenamiento:</a:t>
            </a:r>
            <a:r>
              <a:rPr lang="es-CO" sz="1300" dirty="0">
                <a:latin typeface="Arial Narrow" panose="020B0606020202030204" pitchFamily="34" charset="0"/>
              </a:rPr>
              <a:t> 70%</a:t>
            </a:r>
          </a:p>
          <a:p>
            <a:pPr marL="0" indent="0" algn="ctr">
              <a:buClr>
                <a:schemeClr val="accent5"/>
              </a:buClr>
              <a:buNone/>
            </a:pPr>
            <a:r>
              <a:rPr lang="es-CO" sz="1300" b="1" dirty="0">
                <a:latin typeface="Arial Narrow" panose="020B0606020202030204" pitchFamily="34" charset="0"/>
              </a:rPr>
              <a:t>Validación:</a:t>
            </a:r>
            <a:r>
              <a:rPr lang="es-CO" sz="1300" dirty="0">
                <a:latin typeface="Arial Narrow" panose="020B0606020202030204" pitchFamily="34" charset="0"/>
              </a:rPr>
              <a:t> 30%</a:t>
            </a:r>
          </a:p>
          <a:p>
            <a:pPr marL="0" indent="0" algn="ctr">
              <a:buClr>
                <a:schemeClr val="accent5"/>
              </a:buClr>
              <a:buNone/>
            </a:pPr>
            <a:r>
              <a:rPr lang="es-CO" sz="1300" b="1" dirty="0" err="1">
                <a:latin typeface="Arial Narrow" panose="020B0606020202030204" pitchFamily="34" charset="0"/>
              </a:rPr>
              <a:t>Kernel</a:t>
            </a:r>
            <a:r>
              <a:rPr lang="es-CO" sz="1300" b="1" dirty="0">
                <a:latin typeface="Arial Narrow" panose="020B0606020202030204" pitchFamily="34" charset="0"/>
              </a:rPr>
              <a:t> RBF:</a:t>
            </a:r>
            <a:r>
              <a:rPr lang="es-CO" sz="1300" dirty="0">
                <a:latin typeface="Arial Narrow" panose="020B0606020202030204" pitchFamily="34" charset="0"/>
              </a:rPr>
              <a:t> </a:t>
            </a:r>
            <a:r>
              <a:rPr lang="es-CO" sz="1300" dirty="0" err="1">
                <a:latin typeface="Arial Narrow" panose="020B0606020202030204" pitchFamily="34" charset="0"/>
              </a:rPr>
              <a:t>Hiperparámetros</a:t>
            </a:r>
            <a:r>
              <a:rPr lang="es-CO" sz="1300" dirty="0">
                <a:latin typeface="Arial Narrow" panose="020B0606020202030204" pitchFamily="34" charset="0"/>
              </a:rPr>
              <a:t> iguales a 1.</a:t>
            </a:r>
          </a:p>
        </p:txBody>
      </p:sp>
      <p:pic>
        <p:nvPicPr>
          <p:cNvPr id="10" name="Imagen 9">
            <a:extLst>
              <a:ext uri="{FF2B5EF4-FFF2-40B4-BE49-F238E27FC236}">
                <a16:creationId xmlns:a16="http://schemas.microsoft.com/office/drawing/2014/main" id="{1F8095EE-8124-4144-E83F-F1C04010B6CB}"/>
              </a:ext>
            </a:extLst>
          </p:cNvPr>
          <p:cNvPicPr>
            <a:picLocks noChangeAspect="1"/>
          </p:cNvPicPr>
          <p:nvPr/>
        </p:nvPicPr>
        <p:blipFill>
          <a:blip r:embed="rId3"/>
          <a:srcRect/>
          <a:stretch/>
        </p:blipFill>
        <p:spPr>
          <a:xfrm>
            <a:off x="5611533" y="387770"/>
            <a:ext cx="2931189" cy="2643818"/>
          </a:xfrm>
          <a:prstGeom prst="rect">
            <a:avLst/>
          </a:prstGeom>
        </p:spPr>
      </p:pic>
      <p:pic>
        <p:nvPicPr>
          <p:cNvPr id="15" name="Imagen 14">
            <a:extLst>
              <a:ext uri="{FF2B5EF4-FFF2-40B4-BE49-F238E27FC236}">
                <a16:creationId xmlns:a16="http://schemas.microsoft.com/office/drawing/2014/main" id="{E93FCA06-0BF8-8F5B-A4EB-D9F40AE3327C}"/>
              </a:ext>
            </a:extLst>
          </p:cNvPr>
          <p:cNvPicPr>
            <a:picLocks noChangeAspect="1"/>
          </p:cNvPicPr>
          <p:nvPr/>
        </p:nvPicPr>
        <p:blipFill>
          <a:blip r:embed="rId4"/>
          <a:srcRect b="74990"/>
          <a:stretch>
            <a:fillRect/>
          </a:stretch>
        </p:blipFill>
        <p:spPr>
          <a:xfrm>
            <a:off x="3128669" y="2038140"/>
            <a:ext cx="2417522" cy="471825"/>
          </a:xfrm>
          <a:prstGeom prst="rect">
            <a:avLst/>
          </a:prstGeom>
        </p:spPr>
      </p:pic>
      <p:pic>
        <p:nvPicPr>
          <p:cNvPr id="27" name="Imagen 26">
            <a:extLst>
              <a:ext uri="{FF2B5EF4-FFF2-40B4-BE49-F238E27FC236}">
                <a16:creationId xmlns:a16="http://schemas.microsoft.com/office/drawing/2014/main" id="{329091B1-7FEF-1B0A-D9B6-1AC9115BE726}"/>
              </a:ext>
            </a:extLst>
          </p:cNvPr>
          <p:cNvPicPr>
            <a:picLocks noChangeAspect="1"/>
          </p:cNvPicPr>
          <p:nvPr/>
        </p:nvPicPr>
        <p:blipFill>
          <a:blip r:embed="rId5"/>
          <a:srcRect/>
          <a:stretch/>
        </p:blipFill>
        <p:spPr>
          <a:xfrm>
            <a:off x="252046" y="2127282"/>
            <a:ext cx="2788813" cy="2316134"/>
          </a:xfrm>
          <a:prstGeom prst="rect">
            <a:avLst/>
          </a:prstGeom>
        </p:spPr>
      </p:pic>
      <p:pic>
        <p:nvPicPr>
          <p:cNvPr id="5" name="Imagen 4">
            <a:extLst>
              <a:ext uri="{FF2B5EF4-FFF2-40B4-BE49-F238E27FC236}">
                <a16:creationId xmlns:a16="http://schemas.microsoft.com/office/drawing/2014/main" id="{38FA46D0-D807-718E-D26D-60E4D2B407FF}"/>
              </a:ext>
            </a:extLst>
          </p:cNvPr>
          <p:cNvPicPr>
            <a:picLocks noChangeAspect="1"/>
          </p:cNvPicPr>
          <p:nvPr/>
        </p:nvPicPr>
        <p:blipFill>
          <a:blip r:embed="rId4"/>
          <a:srcRect t="63026" b="17396"/>
          <a:stretch>
            <a:fillRect/>
          </a:stretch>
        </p:blipFill>
        <p:spPr>
          <a:xfrm>
            <a:off x="3128669" y="2487738"/>
            <a:ext cx="2417522" cy="369332"/>
          </a:xfrm>
          <a:prstGeom prst="rect">
            <a:avLst/>
          </a:prstGeom>
        </p:spPr>
      </p:pic>
    </p:spTree>
    <p:extLst>
      <p:ext uri="{BB962C8B-B14F-4D97-AF65-F5344CB8AC3E}">
        <p14:creationId xmlns:p14="http://schemas.microsoft.com/office/powerpoint/2010/main" val="1700059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86B41-95A4-2347-5921-DA9B73A00198}"/>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A03281F0-6BBD-0167-25E1-009C74870335}"/>
              </a:ext>
            </a:extLst>
          </p:cNvPr>
          <p:cNvSpPr txBox="1">
            <a:spLocks/>
          </p:cNvSpPr>
          <p:nvPr/>
        </p:nvSpPr>
        <p:spPr>
          <a:xfrm>
            <a:off x="477376" y="310707"/>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sz="2200" dirty="0">
                <a:solidFill>
                  <a:schemeClr val="accent1"/>
                </a:solidFill>
                <a:latin typeface="Ancizar Serif Extrabold" panose="020A0902070300000003" pitchFamily="18" charset="0"/>
                <a:cs typeface="Ancizar Sans Extrabold"/>
              </a:rPr>
              <a:t>Procesos Gaussianos: Análisis exploratorio</a:t>
            </a:r>
          </a:p>
        </p:txBody>
      </p:sp>
      <p:sp>
        <p:nvSpPr>
          <p:cNvPr id="3" name="Marcador de número de diapositiva 2">
            <a:extLst>
              <a:ext uri="{FF2B5EF4-FFF2-40B4-BE49-F238E27FC236}">
                <a16:creationId xmlns:a16="http://schemas.microsoft.com/office/drawing/2014/main" id="{6799B638-10C8-740F-EFB6-C3AF6072D303}"/>
              </a:ext>
            </a:extLst>
          </p:cNvPr>
          <p:cNvSpPr>
            <a:spLocks noGrp="1"/>
          </p:cNvSpPr>
          <p:nvPr>
            <p:ph type="sldNum" sz="quarter" idx="12"/>
          </p:nvPr>
        </p:nvSpPr>
        <p:spPr/>
        <p:txBody>
          <a:bodyPr/>
          <a:lstStyle/>
          <a:p>
            <a:fld id="{90BC2BA4-81C0-F544-BD72-C8CB9DA7C802}" type="slidenum">
              <a:rPr lang="es-ES" smtClean="0"/>
              <a:pPr/>
              <a:t>7</a:t>
            </a:fld>
            <a:endParaRPr lang="es-ES"/>
          </a:p>
        </p:txBody>
      </p:sp>
      <p:sp>
        <p:nvSpPr>
          <p:cNvPr id="6" name="CuadroTexto 5">
            <a:extLst>
              <a:ext uri="{FF2B5EF4-FFF2-40B4-BE49-F238E27FC236}">
                <a16:creationId xmlns:a16="http://schemas.microsoft.com/office/drawing/2014/main" id="{16E8F564-CF25-4CD7-3569-676BFA33669F}"/>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sp>
        <p:nvSpPr>
          <p:cNvPr id="34" name="CuadroTexto 33">
            <a:extLst>
              <a:ext uri="{FF2B5EF4-FFF2-40B4-BE49-F238E27FC236}">
                <a16:creationId xmlns:a16="http://schemas.microsoft.com/office/drawing/2014/main" id="{9250E24A-463B-3F29-3732-E0871DC2EB0B}"/>
              </a:ext>
            </a:extLst>
          </p:cNvPr>
          <p:cNvSpPr txBox="1"/>
          <p:nvPr/>
        </p:nvSpPr>
        <p:spPr>
          <a:xfrm>
            <a:off x="377953" y="927819"/>
            <a:ext cx="8016240" cy="892552"/>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marL="0" indent="0" algn="ctr">
              <a:buClr>
                <a:schemeClr val="accent5"/>
              </a:buClr>
              <a:buNone/>
            </a:pPr>
            <a:r>
              <a:rPr lang="es-CO" sz="1300" dirty="0">
                <a:latin typeface="Arial Narrow" panose="020B0606020202030204" pitchFamily="34" charset="0"/>
              </a:rPr>
              <a:t>Incorporar la espacialidad en el proceso Gaussiano mejora levemente el ajuste de las métricas de los modelos, aunque genera una subestimación de las zonas consideradas no inundables.  Sin embargo, se optó por no incluir las variables puesto que en la representación de inundaciones en zonas no instrumentadas, genera mayores desviaciones e incertidumbres de acuerdo con la curva de calibración.</a:t>
            </a:r>
          </a:p>
        </p:txBody>
      </p:sp>
      <p:pic>
        <p:nvPicPr>
          <p:cNvPr id="5" name="Imagen 4">
            <a:extLst>
              <a:ext uri="{FF2B5EF4-FFF2-40B4-BE49-F238E27FC236}">
                <a16:creationId xmlns:a16="http://schemas.microsoft.com/office/drawing/2014/main" id="{C80E3F46-D503-D9A1-2606-CB13089F4F47}"/>
              </a:ext>
            </a:extLst>
          </p:cNvPr>
          <p:cNvPicPr>
            <a:picLocks noChangeAspect="1"/>
          </p:cNvPicPr>
          <p:nvPr/>
        </p:nvPicPr>
        <p:blipFill>
          <a:blip r:embed="rId2"/>
          <a:stretch>
            <a:fillRect/>
          </a:stretch>
        </p:blipFill>
        <p:spPr>
          <a:xfrm>
            <a:off x="3255115" y="2031178"/>
            <a:ext cx="3031922" cy="2404477"/>
          </a:xfrm>
          <a:prstGeom prst="rect">
            <a:avLst/>
          </a:prstGeom>
        </p:spPr>
      </p:pic>
      <p:grpSp>
        <p:nvGrpSpPr>
          <p:cNvPr id="14" name="Grupo 13">
            <a:extLst>
              <a:ext uri="{FF2B5EF4-FFF2-40B4-BE49-F238E27FC236}">
                <a16:creationId xmlns:a16="http://schemas.microsoft.com/office/drawing/2014/main" id="{B56B4CBA-CA2F-5780-7618-15B752722248}"/>
              </a:ext>
            </a:extLst>
          </p:cNvPr>
          <p:cNvGrpSpPr/>
          <p:nvPr/>
        </p:nvGrpSpPr>
        <p:grpSpPr>
          <a:xfrm>
            <a:off x="138537" y="2004504"/>
            <a:ext cx="3116579" cy="1429158"/>
            <a:chOff x="252046" y="2509965"/>
            <a:chExt cx="4070277" cy="1845555"/>
          </a:xfrm>
        </p:grpSpPr>
        <p:pic>
          <p:nvPicPr>
            <p:cNvPr id="8" name="Imagen 7">
              <a:extLst>
                <a:ext uri="{FF2B5EF4-FFF2-40B4-BE49-F238E27FC236}">
                  <a16:creationId xmlns:a16="http://schemas.microsoft.com/office/drawing/2014/main" id="{5FA13022-8851-54E4-8B02-A8F7AA47A1EF}"/>
                </a:ext>
              </a:extLst>
            </p:cNvPr>
            <p:cNvPicPr>
              <a:picLocks noChangeAspect="1"/>
            </p:cNvPicPr>
            <p:nvPr/>
          </p:nvPicPr>
          <p:blipFill>
            <a:blip r:embed="rId3"/>
            <a:srcRect r="16202" b="51956"/>
            <a:stretch>
              <a:fillRect/>
            </a:stretch>
          </p:blipFill>
          <p:spPr>
            <a:xfrm>
              <a:off x="252047" y="2509965"/>
              <a:ext cx="3940126" cy="831112"/>
            </a:xfrm>
            <a:prstGeom prst="rect">
              <a:avLst/>
            </a:prstGeom>
          </p:spPr>
        </p:pic>
        <p:pic>
          <p:nvPicPr>
            <p:cNvPr id="11" name="Imagen 10">
              <a:extLst>
                <a:ext uri="{FF2B5EF4-FFF2-40B4-BE49-F238E27FC236}">
                  <a16:creationId xmlns:a16="http://schemas.microsoft.com/office/drawing/2014/main" id="{18D7497B-C812-87A9-A9B5-65CE683C6613}"/>
                </a:ext>
              </a:extLst>
            </p:cNvPr>
            <p:cNvPicPr>
              <a:picLocks noChangeAspect="1"/>
            </p:cNvPicPr>
            <p:nvPr/>
          </p:nvPicPr>
          <p:blipFill>
            <a:blip r:embed="rId3"/>
            <a:srcRect l="38505" t="51956"/>
            <a:stretch>
              <a:fillRect/>
            </a:stretch>
          </p:blipFill>
          <p:spPr>
            <a:xfrm>
              <a:off x="1430810" y="3521244"/>
              <a:ext cx="2891513" cy="831112"/>
            </a:xfrm>
            <a:prstGeom prst="rect">
              <a:avLst/>
            </a:prstGeom>
          </p:spPr>
        </p:pic>
        <p:pic>
          <p:nvPicPr>
            <p:cNvPr id="13" name="Imagen 12">
              <a:extLst>
                <a:ext uri="{FF2B5EF4-FFF2-40B4-BE49-F238E27FC236}">
                  <a16:creationId xmlns:a16="http://schemas.microsoft.com/office/drawing/2014/main" id="{38B4BC89-3F73-261D-A088-D6BF9B740738}"/>
                </a:ext>
              </a:extLst>
            </p:cNvPr>
            <p:cNvPicPr>
              <a:picLocks noChangeAspect="1"/>
            </p:cNvPicPr>
            <p:nvPr/>
          </p:nvPicPr>
          <p:blipFill>
            <a:blip r:embed="rId3"/>
            <a:srcRect r="75740" b="51956"/>
            <a:stretch>
              <a:fillRect/>
            </a:stretch>
          </p:blipFill>
          <p:spPr>
            <a:xfrm>
              <a:off x="252046" y="3524408"/>
              <a:ext cx="1140656" cy="831112"/>
            </a:xfrm>
            <a:prstGeom prst="rect">
              <a:avLst/>
            </a:prstGeom>
          </p:spPr>
        </p:pic>
      </p:grpSp>
      <p:pic>
        <p:nvPicPr>
          <p:cNvPr id="17" name="Imagen 16">
            <a:extLst>
              <a:ext uri="{FF2B5EF4-FFF2-40B4-BE49-F238E27FC236}">
                <a16:creationId xmlns:a16="http://schemas.microsoft.com/office/drawing/2014/main" id="{AE26E4FF-BB9E-7C3D-7ADD-F318C8D35F14}"/>
              </a:ext>
            </a:extLst>
          </p:cNvPr>
          <p:cNvPicPr>
            <a:picLocks noChangeAspect="1"/>
          </p:cNvPicPr>
          <p:nvPr/>
        </p:nvPicPr>
        <p:blipFill>
          <a:blip r:embed="rId4"/>
          <a:stretch>
            <a:fillRect/>
          </a:stretch>
        </p:blipFill>
        <p:spPr>
          <a:xfrm>
            <a:off x="6336086" y="2031178"/>
            <a:ext cx="2793281" cy="2388457"/>
          </a:xfrm>
          <a:prstGeom prst="rect">
            <a:avLst/>
          </a:prstGeom>
        </p:spPr>
      </p:pic>
      <p:pic>
        <p:nvPicPr>
          <p:cNvPr id="7" name="Imagen 6">
            <a:extLst>
              <a:ext uri="{FF2B5EF4-FFF2-40B4-BE49-F238E27FC236}">
                <a16:creationId xmlns:a16="http://schemas.microsoft.com/office/drawing/2014/main" id="{EBFEB916-4CFD-558C-7CEE-0A13ABCC1AD1}"/>
              </a:ext>
            </a:extLst>
          </p:cNvPr>
          <p:cNvPicPr>
            <a:picLocks noChangeAspect="1"/>
          </p:cNvPicPr>
          <p:nvPr/>
        </p:nvPicPr>
        <p:blipFill>
          <a:blip r:embed="rId5"/>
          <a:srcRect t="11392" b="82684"/>
          <a:stretch>
            <a:fillRect/>
          </a:stretch>
        </p:blipFill>
        <p:spPr>
          <a:xfrm>
            <a:off x="-496464" y="3761731"/>
            <a:ext cx="2417522" cy="111761"/>
          </a:xfrm>
          <a:prstGeom prst="rect">
            <a:avLst/>
          </a:prstGeom>
        </p:spPr>
      </p:pic>
      <p:pic>
        <p:nvPicPr>
          <p:cNvPr id="10" name="Imagen 9">
            <a:extLst>
              <a:ext uri="{FF2B5EF4-FFF2-40B4-BE49-F238E27FC236}">
                <a16:creationId xmlns:a16="http://schemas.microsoft.com/office/drawing/2014/main" id="{E2630E4B-8992-1653-FA69-50FAA8821FE8}"/>
              </a:ext>
            </a:extLst>
          </p:cNvPr>
          <p:cNvPicPr>
            <a:picLocks noChangeAspect="1"/>
          </p:cNvPicPr>
          <p:nvPr/>
        </p:nvPicPr>
        <p:blipFill>
          <a:blip r:embed="rId5"/>
          <a:srcRect t="63026" b="17396"/>
          <a:stretch>
            <a:fillRect/>
          </a:stretch>
        </p:blipFill>
        <p:spPr>
          <a:xfrm>
            <a:off x="-496463" y="3875942"/>
            <a:ext cx="2417522" cy="369332"/>
          </a:xfrm>
          <a:prstGeom prst="rect">
            <a:avLst/>
          </a:prstGeom>
        </p:spPr>
      </p:pic>
      <p:pic>
        <p:nvPicPr>
          <p:cNvPr id="18" name="Imagen 17">
            <a:extLst>
              <a:ext uri="{FF2B5EF4-FFF2-40B4-BE49-F238E27FC236}">
                <a16:creationId xmlns:a16="http://schemas.microsoft.com/office/drawing/2014/main" id="{F9A774DB-8E04-8836-F26D-52C54B6EA633}"/>
              </a:ext>
            </a:extLst>
          </p:cNvPr>
          <p:cNvPicPr>
            <a:picLocks noChangeAspect="1"/>
          </p:cNvPicPr>
          <p:nvPr/>
        </p:nvPicPr>
        <p:blipFill>
          <a:blip r:embed="rId6"/>
          <a:srcRect l="58771" t="63831" b="15866"/>
          <a:stretch>
            <a:fillRect/>
          </a:stretch>
        </p:blipFill>
        <p:spPr>
          <a:xfrm>
            <a:off x="2148111" y="3868146"/>
            <a:ext cx="962812" cy="347535"/>
          </a:xfrm>
          <a:prstGeom prst="rect">
            <a:avLst/>
          </a:prstGeom>
        </p:spPr>
      </p:pic>
      <p:pic>
        <p:nvPicPr>
          <p:cNvPr id="20" name="Imagen 19">
            <a:extLst>
              <a:ext uri="{FF2B5EF4-FFF2-40B4-BE49-F238E27FC236}">
                <a16:creationId xmlns:a16="http://schemas.microsoft.com/office/drawing/2014/main" id="{9798A393-F32C-601C-E047-CDFC6F0D2BF5}"/>
              </a:ext>
            </a:extLst>
          </p:cNvPr>
          <p:cNvPicPr>
            <a:picLocks noChangeAspect="1"/>
          </p:cNvPicPr>
          <p:nvPr/>
        </p:nvPicPr>
        <p:blipFill>
          <a:blip r:embed="rId5"/>
          <a:srcRect l="43976" t="11392" b="82684"/>
          <a:stretch>
            <a:fillRect/>
          </a:stretch>
        </p:blipFill>
        <p:spPr>
          <a:xfrm>
            <a:off x="1851661" y="3760498"/>
            <a:ext cx="1354405" cy="111761"/>
          </a:xfrm>
          <a:prstGeom prst="rect">
            <a:avLst/>
          </a:prstGeom>
        </p:spPr>
      </p:pic>
      <p:pic>
        <p:nvPicPr>
          <p:cNvPr id="22" name="Imagen 21">
            <a:extLst>
              <a:ext uri="{FF2B5EF4-FFF2-40B4-BE49-F238E27FC236}">
                <a16:creationId xmlns:a16="http://schemas.microsoft.com/office/drawing/2014/main" id="{5C877630-21FD-6E55-3545-88F6BF696F04}"/>
              </a:ext>
            </a:extLst>
          </p:cNvPr>
          <p:cNvPicPr>
            <a:picLocks noChangeAspect="1"/>
          </p:cNvPicPr>
          <p:nvPr/>
        </p:nvPicPr>
        <p:blipFill>
          <a:blip r:embed="rId3"/>
          <a:srcRect l="1236" t="36407" r="74504" b="55250"/>
          <a:stretch>
            <a:fillRect/>
          </a:stretch>
        </p:blipFill>
        <p:spPr>
          <a:xfrm>
            <a:off x="2092167" y="3627985"/>
            <a:ext cx="873391" cy="111761"/>
          </a:xfrm>
          <a:prstGeom prst="rect">
            <a:avLst/>
          </a:prstGeom>
        </p:spPr>
      </p:pic>
      <p:pic>
        <p:nvPicPr>
          <p:cNvPr id="24" name="Imagen 23">
            <a:extLst>
              <a:ext uri="{FF2B5EF4-FFF2-40B4-BE49-F238E27FC236}">
                <a16:creationId xmlns:a16="http://schemas.microsoft.com/office/drawing/2014/main" id="{0C378BF1-DFC4-5F35-8A9B-B59B057BD852}"/>
              </a:ext>
            </a:extLst>
          </p:cNvPr>
          <p:cNvPicPr>
            <a:picLocks noChangeAspect="1"/>
          </p:cNvPicPr>
          <p:nvPr/>
        </p:nvPicPr>
        <p:blipFill>
          <a:blip r:embed="rId3"/>
          <a:srcRect l="821" t="26441" r="74919" b="65216"/>
          <a:stretch>
            <a:fillRect/>
          </a:stretch>
        </p:blipFill>
        <p:spPr>
          <a:xfrm>
            <a:off x="812271" y="3626796"/>
            <a:ext cx="873391" cy="111761"/>
          </a:xfrm>
          <a:prstGeom prst="rect">
            <a:avLst/>
          </a:prstGeom>
        </p:spPr>
      </p:pic>
    </p:spTree>
    <p:extLst>
      <p:ext uri="{BB962C8B-B14F-4D97-AF65-F5344CB8AC3E}">
        <p14:creationId xmlns:p14="http://schemas.microsoft.com/office/powerpoint/2010/main" val="3091002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EC633-EF59-7E72-B4D2-724370D0C8C0}"/>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F7217550-A719-D564-1C29-EAC8E4DD60DC}"/>
              </a:ext>
            </a:extLst>
          </p:cNvPr>
          <p:cNvSpPr txBox="1">
            <a:spLocks/>
          </p:cNvSpPr>
          <p:nvPr/>
        </p:nvSpPr>
        <p:spPr>
          <a:xfrm>
            <a:off x="477376" y="310707"/>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sz="2200" dirty="0">
                <a:solidFill>
                  <a:schemeClr val="accent1"/>
                </a:solidFill>
                <a:latin typeface="Ancizar Serif Extrabold" panose="020A0902070300000003" pitchFamily="18" charset="0"/>
                <a:cs typeface="Ancizar Sans Extrabold"/>
              </a:rPr>
              <a:t>Procesos Gaussianos: </a:t>
            </a:r>
            <a:r>
              <a:rPr lang="es-ES" sz="2200" dirty="0" err="1">
                <a:solidFill>
                  <a:schemeClr val="accent1"/>
                </a:solidFill>
                <a:latin typeface="Ancizar Serif Extrabold" panose="020A0902070300000003" pitchFamily="18" charset="0"/>
                <a:cs typeface="Ancizar Sans Extrabold"/>
              </a:rPr>
              <a:t>Kernel</a:t>
            </a:r>
            <a:endParaRPr lang="es-ES" sz="2200" dirty="0">
              <a:solidFill>
                <a:schemeClr val="accent1"/>
              </a:solidFill>
              <a:latin typeface="Ancizar Serif Extrabold" panose="020A0902070300000003" pitchFamily="18" charset="0"/>
              <a:cs typeface="Ancizar Sans Extrabold"/>
            </a:endParaRPr>
          </a:p>
        </p:txBody>
      </p:sp>
      <p:sp>
        <p:nvSpPr>
          <p:cNvPr id="3" name="Marcador de número de diapositiva 2">
            <a:extLst>
              <a:ext uri="{FF2B5EF4-FFF2-40B4-BE49-F238E27FC236}">
                <a16:creationId xmlns:a16="http://schemas.microsoft.com/office/drawing/2014/main" id="{D0961EE8-4082-CFB1-77A6-0308F87EAA1F}"/>
              </a:ext>
            </a:extLst>
          </p:cNvPr>
          <p:cNvSpPr>
            <a:spLocks noGrp="1"/>
          </p:cNvSpPr>
          <p:nvPr>
            <p:ph type="sldNum" sz="quarter" idx="12"/>
          </p:nvPr>
        </p:nvSpPr>
        <p:spPr/>
        <p:txBody>
          <a:bodyPr/>
          <a:lstStyle/>
          <a:p>
            <a:fld id="{90BC2BA4-81C0-F544-BD72-C8CB9DA7C802}" type="slidenum">
              <a:rPr lang="es-ES" smtClean="0"/>
              <a:pPr/>
              <a:t>8</a:t>
            </a:fld>
            <a:endParaRPr lang="es-ES"/>
          </a:p>
        </p:txBody>
      </p:sp>
      <p:sp>
        <p:nvSpPr>
          <p:cNvPr id="6" name="CuadroTexto 5">
            <a:extLst>
              <a:ext uri="{FF2B5EF4-FFF2-40B4-BE49-F238E27FC236}">
                <a16:creationId xmlns:a16="http://schemas.microsoft.com/office/drawing/2014/main" id="{34E492BF-E0D2-2C07-9167-BE62288FF1DF}"/>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sp>
        <p:nvSpPr>
          <p:cNvPr id="7" name="CuadroTexto 6">
            <a:extLst>
              <a:ext uri="{FF2B5EF4-FFF2-40B4-BE49-F238E27FC236}">
                <a16:creationId xmlns:a16="http://schemas.microsoft.com/office/drawing/2014/main" id="{9E91AAC6-5B29-CE33-D071-8262894326E6}"/>
              </a:ext>
            </a:extLst>
          </p:cNvPr>
          <p:cNvSpPr txBox="1"/>
          <p:nvPr/>
        </p:nvSpPr>
        <p:spPr>
          <a:xfrm>
            <a:off x="891540" y="1110730"/>
            <a:ext cx="3395271" cy="715089"/>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4260126717">
                  <a:custGeom>
                    <a:avLst/>
                    <a:gdLst>
                      <a:gd name="csX0" fmla="*/ 0 w 3395271"/>
                      <a:gd name="csY0" fmla="*/ 0 h 1200329"/>
                      <a:gd name="csX1" fmla="*/ 531926 w 3395271"/>
                      <a:gd name="csY1" fmla="*/ 0 h 1200329"/>
                      <a:gd name="csX2" fmla="*/ 1063852 w 3395271"/>
                      <a:gd name="csY2" fmla="*/ 0 h 1200329"/>
                      <a:gd name="csX3" fmla="*/ 1527872 w 3395271"/>
                      <a:gd name="csY3" fmla="*/ 0 h 1200329"/>
                      <a:gd name="csX4" fmla="*/ 2059798 w 3395271"/>
                      <a:gd name="csY4" fmla="*/ 0 h 1200329"/>
                      <a:gd name="csX5" fmla="*/ 2557771 w 3395271"/>
                      <a:gd name="csY5" fmla="*/ 0 h 1200329"/>
                      <a:gd name="csX6" fmla="*/ 3395271 w 3395271"/>
                      <a:gd name="csY6" fmla="*/ 0 h 1200329"/>
                      <a:gd name="csX7" fmla="*/ 3395271 w 3395271"/>
                      <a:gd name="csY7" fmla="*/ 388106 h 1200329"/>
                      <a:gd name="csX8" fmla="*/ 3395271 w 3395271"/>
                      <a:gd name="csY8" fmla="*/ 752206 h 1200329"/>
                      <a:gd name="csX9" fmla="*/ 3395271 w 3395271"/>
                      <a:gd name="csY9" fmla="*/ 1200329 h 1200329"/>
                      <a:gd name="csX10" fmla="*/ 2863345 w 3395271"/>
                      <a:gd name="csY10" fmla="*/ 1200329 h 1200329"/>
                      <a:gd name="csX11" fmla="*/ 2331419 w 3395271"/>
                      <a:gd name="csY11" fmla="*/ 1200329 h 1200329"/>
                      <a:gd name="csX12" fmla="*/ 1697636 w 3395271"/>
                      <a:gd name="csY12" fmla="*/ 1200329 h 1200329"/>
                      <a:gd name="csX13" fmla="*/ 1063852 w 3395271"/>
                      <a:gd name="csY13" fmla="*/ 1200329 h 1200329"/>
                      <a:gd name="csX14" fmla="*/ 0 w 3395271"/>
                      <a:gd name="csY14" fmla="*/ 1200329 h 1200329"/>
                      <a:gd name="csX15" fmla="*/ 0 w 3395271"/>
                      <a:gd name="csY15" fmla="*/ 836229 h 1200329"/>
                      <a:gd name="csX16" fmla="*/ 0 w 3395271"/>
                      <a:gd name="csY16" fmla="*/ 460126 h 1200329"/>
                      <a:gd name="csX17" fmla="*/ 0 w 3395271"/>
                      <a:gd name="csY17"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395271" h="1200329" extrusionOk="0">
                        <a:moveTo>
                          <a:pt x="0" y="0"/>
                        </a:moveTo>
                        <a:cubicBezTo>
                          <a:pt x="228370" y="-45886"/>
                          <a:pt x="304674" y="52441"/>
                          <a:pt x="531926" y="0"/>
                        </a:cubicBezTo>
                        <a:cubicBezTo>
                          <a:pt x="759178" y="-52441"/>
                          <a:pt x="885416" y="32588"/>
                          <a:pt x="1063852" y="0"/>
                        </a:cubicBezTo>
                        <a:cubicBezTo>
                          <a:pt x="1242288" y="-32588"/>
                          <a:pt x="1344641" y="44362"/>
                          <a:pt x="1527872" y="0"/>
                        </a:cubicBezTo>
                        <a:cubicBezTo>
                          <a:pt x="1711103" y="-44362"/>
                          <a:pt x="1854330" y="50838"/>
                          <a:pt x="2059798" y="0"/>
                        </a:cubicBezTo>
                        <a:cubicBezTo>
                          <a:pt x="2265266" y="-50838"/>
                          <a:pt x="2319237" y="47860"/>
                          <a:pt x="2557771" y="0"/>
                        </a:cubicBezTo>
                        <a:cubicBezTo>
                          <a:pt x="2796305" y="-47860"/>
                          <a:pt x="3166200" y="7397"/>
                          <a:pt x="3395271" y="0"/>
                        </a:cubicBezTo>
                        <a:cubicBezTo>
                          <a:pt x="3409774" y="174650"/>
                          <a:pt x="3387139" y="198465"/>
                          <a:pt x="3395271" y="388106"/>
                        </a:cubicBezTo>
                        <a:cubicBezTo>
                          <a:pt x="3403403" y="577747"/>
                          <a:pt x="3379712" y="647037"/>
                          <a:pt x="3395271" y="752206"/>
                        </a:cubicBezTo>
                        <a:cubicBezTo>
                          <a:pt x="3410830" y="857375"/>
                          <a:pt x="3343972" y="983727"/>
                          <a:pt x="3395271" y="1200329"/>
                        </a:cubicBezTo>
                        <a:cubicBezTo>
                          <a:pt x="3169280" y="1237526"/>
                          <a:pt x="3039290" y="1179410"/>
                          <a:pt x="2863345" y="1200329"/>
                        </a:cubicBezTo>
                        <a:cubicBezTo>
                          <a:pt x="2687400" y="1221248"/>
                          <a:pt x="2442690" y="1175204"/>
                          <a:pt x="2331419" y="1200329"/>
                        </a:cubicBezTo>
                        <a:cubicBezTo>
                          <a:pt x="2220148" y="1225454"/>
                          <a:pt x="1861000" y="1179799"/>
                          <a:pt x="1697636" y="1200329"/>
                        </a:cubicBezTo>
                        <a:cubicBezTo>
                          <a:pt x="1534272" y="1220859"/>
                          <a:pt x="1261839" y="1177063"/>
                          <a:pt x="1063852" y="1200329"/>
                        </a:cubicBezTo>
                        <a:cubicBezTo>
                          <a:pt x="865865" y="1223595"/>
                          <a:pt x="460314" y="1186120"/>
                          <a:pt x="0" y="1200329"/>
                        </a:cubicBezTo>
                        <a:cubicBezTo>
                          <a:pt x="-16910" y="1041046"/>
                          <a:pt x="11209" y="1009314"/>
                          <a:pt x="0" y="836229"/>
                        </a:cubicBezTo>
                        <a:cubicBezTo>
                          <a:pt x="-11209" y="663144"/>
                          <a:pt x="12392" y="632192"/>
                          <a:pt x="0" y="460126"/>
                        </a:cubicBezTo>
                        <a:cubicBezTo>
                          <a:pt x="-12392" y="288060"/>
                          <a:pt x="50997" y="192721"/>
                          <a:pt x="0" y="0"/>
                        </a:cubicBezTo>
                        <a:close/>
                      </a:path>
                    </a:pathLst>
                  </a:custGeom>
                  <ask:type>
                    <ask:lineSketchNone/>
                  </ask:type>
                </ask:lineSketchStyleProps>
              </a:ext>
            </a:extLst>
          </a:ln>
        </p:spPr>
        <p:txBody>
          <a:bodyPr wrap="square" rtlCol="0">
            <a:spAutoFit/>
          </a:bodyPr>
          <a:lstStyle/>
          <a:p>
            <a:pPr algn="ctr"/>
            <a:r>
              <a:rPr lang="es-CO" sz="1200" b="1" noProof="0" dirty="0">
                <a:solidFill>
                  <a:schemeClr val="accent1"/>
                </a:solidFill>
                <a:latin typeface="Arial Narrow" panose="020B0606020202030204" pitchFamily="34" charset="0"/>
              </a:rPr>
              <a:t>RBF isotrópico</a:t>
            </a:r>
          </a:p>
          <a:p>
            <a:pPr algn="ctr"/>
            <a:r>
              <a:rPr lang="es-CO" sz="1200" noProof="0" dirty="0">
                <a:latin typeface="Arial Narrow" panose="020B0606020202030204" pitchFamily="34" charset="0"/>
              </a:rPr>
              <a:t>Basado en la distancia global de 2 elementos. Genera superficies suaves, continuas y graduales.</a:t>
            </a:r>
          </a:p>
        </p:txBody>
      </p:sp>
      <p:sp>
        <p:nvSpPr>
          <p:cNvPr id="10" name="CuadroTexto 9">
            <a:extLst>
              <a:ext uri="{FF2B5EF4-FFF2-40B4-BE49-F238E27FC236}">
                <a16:creationId xmlns:a16="http://schemas.microsoft.com/office/drawing/2014/main" id="{57BF4F86-23D6-DD17-20ED-DFB0ED236AEB}"/>
              </a:ext>
            </a:extLst>
          </p:cNvPr>
          <p:cNvSpPr txBox="1"/>
          <p:nvPr/>
        </p:nvSpPr>
        <p:spPr>
          <a:xfrm>
            <a:off x="4514289" y="1110729"/>
            <a:ext cx="3395270" cy="715089"/>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200" b="1" noProof="0" dirty="0">
                <a:solidFill>
                  <a:schemeClr val="accent1"/>
                </a:solidFill>
                <a:latin typeface="Arial Narrow" panose="020B0606020202030204" pitchFamily="34" charset="0"/>
              </a:rPr>
              <a:t>RBF anisotrópico</a:t>
            </a:r>
          </a:p>
          <a:p>
            <a:pPr algn="ctr"/>
            <a:r>
              <a:rPr lang="es-ES" sz="1200" dirty="0">
                <a:latin typeface="Arial Narrow" panose="020B0606020202030204" pitchFamily="34" charset="0"/>
              </a:rPr>
              <a:t>Cada variable presenta su propia escala, permitiendo dar diferentes influencias a cada variable</a:t>
            </a:r>
            <a:endParaRPr lang="es-CO" sz="1200" dirty="0">
              <a:latin typeface="Arial Narrow" panose="020B0606020202030204" pitchFamily="34" charset="0"/>
            </a:endParaRPr>
          </a:p>
        </p:txBody>
      </p:sp>
      <p:sp>
        <p:nvSpPr>
          <p:cNvPr id="15" name="CuadroTexto 14">
            <a:extLst>
              <a:ext uri="{FF2B5EF4-FFF2-40B4-BE49-F238E27FC236}">
                <a16:creationId xmlns:a16="http://schemas.microsoft.com/office/drawing/2014/main" id="{0F1D705D-78DC-A3F8-A6EB-C2816541D373}"/>
              </a:ext>
            </a:extLst>
          </p:cNvPr>
          <p:cNvSpPr txBox="1"/>
          <p:nvPr/>
        </p:nvSpPr>
        <p:spPr>
          <a:xfrm>
            <a:off x="4514289" y="2224636"/>
            <a:ext cx="3395270" cy="715089"/>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200" b="1" noProof="0" dirty="0" err="1">
                <a:solidFill>
                  <a:schemeClr val="accent1"/>
                </a:solidFill>
                <a:latin typeface="Arial Narrow" panose="020B0606020202030204" pitchFamily="34" charset="0"/>
              </a:rPr>
              <a:t>Matérn</a:t>
            </a:r>
            <a:r>
              <a:rPr lang="es-CO" sz="1200" b="1" noProof="0" dirty="0">
                <a:solidFill>
                  <a:schemeClr val="accent1"/>
                </a:solidFill>
                <a:latin typeface="Arial Narrow" panose="020B0606020202030204" pitchFamily="34" charset="0"/>
              </a:rPr>
              <a:t> 0.5</a:t>
            </a:r>
          </a:p>
          <a:p>
            <a:pPr algn="ctr"/>
            <a:r>
              <a:rPr lang="es-ES" sz="1200" dirty="0">
                <a:latin typeface="Arial Narrow" panose="020B0606020202030204" pitchFamily="34" charset="0"/>
              </a:rPr>
              <a:t>Capta cambios abruptos en la superficie interpolada, y mayores rugosidades</a:t>
            </a:r>
            <a:endParaRPr lang="es-CO" sz="1200" dirty="0">
              <a:latin typeface="Arial Narrow" panose="020B0606020202030204" pitchFamily="34" charset="0"/>
            </a:endParaRPr>
          </a:p>
        </p:txBody>
      </p:sp>
      <p:sp>
        <p:nvSpPr>
          <p:cNvPr id="18" name="CuadroTexto 17">
            <a:extLst>
              <a:ext uri="{FF2B5EF4-FFF2-40B4-BE49-F238E27FC236}">
                <a16:creationId xmlns:a16="http://schemas.microsoft.com/office/drawing/2014/main" id="{3C9280FE-1FD4-165D-7904-C2D605C1FA4D}"/>
              </a:ext>
            </a:extLst>
          </p:cNvPr>
          <p:cNvSpPr txBox="1"/>
          <p:nvPr/>
        </p:nvSpPr>
        <p:spPr>
          <a:xfrm>
            <a:off x="891540" y="2224636"/>
            <a:ext cx="3395270" cy="715089"/>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200" b="1" noProof="0" dirty="0" err="1">
                <a:solidFill>
                  <a:schemeClr val="accent1"/>
                </a:solidFill>
                <a:latin typeface="Arial Narrow" panose="020B0606020202030204" pitchFamily="34" charset="0"/>
              </a:rPr>
              <a:t>Rational</a:t>
            </a:r>
            <a:r>
              <a:rPr lang="es-CO" sz="1200" b="1" noProof="0" dirty="0">
                <a:solidFill>
                  <a:schemeClr val="accent1"/>
                </a:solidFill>
                <a:latin typeface="Arial Narrow" panose="020B0606020202030204" pitchFamily="34" charset="0"/>
              </a:rPr>
              <a:t> </a:t>
            </a:r>
            <a:r>
              <a:rPr lang="es-CO" sz="1200" b="1" noProof="0" dirty="0" err="1">
                <a:solidFill>
                  <a:schemeClr val="accent1"/>
                </a:solidFill>
                <a:latin typeface="Arial Narrow" panose="020B0606020202030204" pitchFamily="34" charset="0"/>
              </a:rPr>
              <a:t>Quadratic</a:t>
            </a:r>
            <a:endParaRPr lang="es-CO" sz="1200" b="1" noProof="0" dirty="0">
              <a:solidFill>
                <a:schemeClr val="accent1"/>
              </a:solidFill>
              <a:latin typeface="Arial Narrow" panose="020B0606020202030204" pitchFamily="34" charset="0"/>
            </a:endParaRPr>
          </a:p>
          <a:p>
            <a:pPr algn="ctr"/>
            <a:r>
              <a:rPr lang="es-ES" sz="1200" dirty="0">
                <a:latin typeface="Arial Narrow" panose="020B0606020202030204" pitchFamily="34" charset="0"/>
              </a:rPr>
              <a:t>Permite captar procesos en múltiples escalas: regionales o locales, presentado alta flexibilidad</a:t>
            </a:r>
            <a:endParaRPr lang="es-CO" sz="1200" dirty="0">
              <a:latin typeface="Arial Narrow" panose="020B0606020202030204" pitchFamily="34" charset="0"/>
            </a:endParaRPr>
          </a:p>
        </p:txBody>
      </p:sp>
      <p:sp>
        <p:nvSpPr>
          <p:cNvPr id="22" name="CuadroTexto 21">
            <a:extLst>
              <a:ext uri="{FF2B5EF4-FFF2-40B4-BE49-F238E27FC236}">
                <a16:creationId xmlns:a16="http://schemas.microsoft.com/office/drawing/2014/main" id="{A7E93987-93E1-302B-E381-4775A9DAC447}"/>
              </a:ext>
            </a:extLst>
          </p:cNvPr>
          <p:cNvSpPr txBox="1"/>
          <p:nvPr/>
        </p:nvSpPr>
        <p:spPr>
          <a:xfrm>
            <a:off x="891541" y="3277272"/>
            <a:ext cx="3395270" cy="715089"/>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200" b="1" noProof="0" dirty="0" err="1">
                <a:solidFill>
                  <a:schemeClr val="accent1"/>
                </a:solidFill>
                <a:latin typeface="Arial Narrow" panose="020B0606020202030204" pitchFamily="34" charset="0"/>
              </a:rPr>
              <a:t>Matérn</a:t>
            </a:r>
            <a:r>
              <a:rPr lang="es-CO" sz="1200" b="1" noProof="0" dirty="0">
                <a:solidFill>
                  <a:schemeClr val="accent1"/>
                </a:solidFill>
                <a:latin typeface="Arial Narrow" panose="020B0606020202030204" pitchFamily="34" charset="0"/>
              </a:rPr>
              <a:t> </a:t>
            </a:r>
            <a:r>
              <a:rPr lang="es-CO" sz="1200" b="1" dirty="0">
                <a:solidFill>
                  <a:schemeClr val="accent1"/>
                </a:solidFill>
                <a:latin typeface="Arial Narrow" panose="020B0606020202030204" pitchFamily="34" charset="0"/>
              </a:rPr>
              <a:t>1.5</a:t>
            </a:r>
            <a:endParaRPr lang="es-CO" sz="1200" b="1" noProof="0" dirty="0">
              <a:solidFill>
                <a:schemeClr val="accent1"/>
              </a:solidFill>
              <a:latin typeface="Arial Narrow" panose="020B0606020202030204" pitchFamily="34" charset="0"/>
            </a:endParaRPr>
          </a:p>
          <a:p>
            <a:pPr algn="ctr"/>
            <a:r>
              <a:rPr lang="es-ES" sz="1200" dirty="0">
                <a:latin typeface="Arial Narrow" panose="020B0606020202030204" pitchFamily="34" charset="0"/>
              </a:rPr>
              <a:t>Permite cambios abruptos, pero con un grado de continuidad espacial</a:t>
            </a:r>
            <a:endParaRPr lang="es-CO" sz="1200" dirty="0">
              <a:latin typeface="Arial Narrow" panose="020B0606020202030204" pitchFamily="34" charset="0"/>
            </a:endParaRPr>
          </a:p>
        </p:txBody>
      </p:sp>
      <p:sp>
        <p:nvSpPr>
          <p:cNvPr id="24" name="CuadroTexto 23">
            <a:extLst>
              <a:ext uri="{FF2B5EF4-FFF2-40B4-BE49-F238E27FC236}">
                <a16:creationId xmlns:a16="http://schemas.microsoft.com/office/drawing/2014/main" id="{07B27D78-0E18-9D78-2136-72D13FAA3D2F}"/>
              </a:ext>
            </a:extLst>
          </p:cNvPr>
          <p:cNvSpPr txBox="1"/>
          <p:nvPr/>
        </p:nvSpPr>
        <p:spPr>
          <a:xfrm>
            <a:off x="4514289" y="3261462"/>
            <a:ext cx="3395270" cy="715089"/>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244743324">
                  <a:custGeom>
                    <a:avLst/>
                    <a:gdLst>
                      <a:gd name="csX0" fmla="*/ 0 w 3395270"/>
                      <a:gd name="csY0" fmla="*/ 0 h 1200329"/>
                      <a:gd name="csX1" fmla="*/ 679054 w 3395270"/>
                      <a:gd name="csY1" fmla="*/ 0 h 1200329"/>
                      <a:gd name="csX2" fmla="*/ 1392061 w 3395270"/>
                      <a:gd name="csY2" fmla="*/ 0 h 1200329"/>
                      <a:gd name="csX3" fmla="*/ 2071115 w 3395270"/>
                      <a:gd name="csY3" fmla="*/ 0 h 1200329"/>
                      <a:gd name="csX4" fmla="*/ 2682263 w 3395270"/>
                      <a:gd name="csY4" fmla="*/ 0 h 1200329"/>
                      <a:gd name="csX5" fmla="*/ 3395270 w 3395270"/>
                      <a:gd name="csY5" fmla="*/ 0 h 1200329"/>
                      <a:gd name="csX6" fmla="*/ 3395270 w 3395270"/>
                      <a:gd name="csY6" fmla="*/ 600165 h 1200329"/>
                      <a:gd name="csX7" fmla="*/ 3395270 w 3395270"/>
                      <a:gd name="csY7" fmla="*/ 1200329 h 1200329"/>
                      <a:gd name="csX8" fmla="*/ 2784121 w 3395270"/>
                      <a:gd name="csY8" fmla="*/ 1200329 h 1200329"/>
                      <a:gd name="csX9" fmla="*/ 2139020 w 3395270"/>
                      <a:gd name="csY9" fmla="*/ 1200329 h 1200329"/>
                      <a:gd name="csX10" fmla="*/ 1527871 w 3395270"/>
                      <a:gd name="csY10" fmla="*/ 1200329 h 1200329"/>
                      <a:gd name="csX11" fmla="*/ 780912 w 3395270"/>
                      <a:gd name="csY11" fmla="*/ 1200329 h 1200329"/>
                      <a:gd name="csX12" fmla="*/ 0 w 3395270"/>
                      <a:gd name="csY12" fmla="*/ 1200329 h 1200329"/>
                      <a:gd name="csX13" fmla="*/ 0 w 3395270"/>
                      <a:gd name="csY13" fmla="*/ 600165 h 1200329"/>
                      <a:gd name="csX14" fmla="*/ 0 w 3395270"/>
                      <a:gd name="csY14"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395270" h="1200329" extrusionOk="0">
                        <a:moveTo>
                          <a:pt x="0" y="0"/>
                        </a:moveTo>
                        <a:cubicBezTo>
                          <a:pt x="156698" y="2474"/>
                          <a:pt x="508065" y="-7165"/>
                          <a:pt x="679054" y="0"/>
                        </a:cubicBezTo>
                        <a:cubicBezTo>
                          <a:pt x="850043" y="7165"/>
                          <a:pt x="1220829" y="16545"/>
                          <a:pt x="1392061" y="0"/>
                        </a:cubicBezTo>
                        <a:cubicBezTo>
                          <a:pt x="1563293" y="-16545"/>
                          <a:pt x="1895588" y="23955"/>
                          <a:pt x="2071115" y="0"/>
                        </a:cubicBezTo>
                        <a:cubicBezTo>
                          <a:pt x="2246642" y="-23955"/>
                          <a:pt x="2425562" y="-16560"/>
                          <a:pt x="2682263" y="0"/>
                        </a:cubicBezTo>
                        <a:cubicBezTo>
                          <a:pt x="2938964" y="16560"/>
                          <a:pt x="3056881" y="15622"/>
                          <a:pt x="3395270" y="0"/>
                        </a:cubicBezTo>
                        <a:cubicBezTo>
                          <a:pt x="3404770" y="293432"/>
                          <a:pt x="3370391" y="467579"/>
                          <a:pt x="3395270" y="600165"/>
                        </a:cubicBezTo>
                        <a:cubicBezTo>
                          <a:pt x="3420149" y="732751"/>
                          <a:pt x="3367148" y="909028"/>
                          <a:pt x="3395270" y="1200329"/>
                        </a:cubicBezTo>
                        <a:cubicBezTo>
                          <a:pt x="3253156" y="1220349"/>
                          <a:pt x="2978416" y="1217144"/>
                          <a:pt x="2784121" y="1200329"/>
                        </a:cubicBezTo>
                        <a:cubicBezTo>
                          <a:pt x="2589826" y="1183514"/>
                          <a:pt x="2330254" y="1222221"/>
                          <a:pt x="2139020" y="1200329"/>
                        </a:cubicBezTo>
                        <a:cubicBezTo>
                          <a:pt x="1947786" y="1178437"/>
                          <a:pt x="1826137" y="1192799"/>
                          <a:pt x="1527871" y="1200329"/>
                        </a:cubicBezTo>
                        <a:cubicBezTo>
                          <a:pt x="1229605" y="1207859"/>
                          <a:pt x="1049015" y="1205294"/>
                          <a:pt x="780912" y="1200329"/>
                        </a:cubicBezTo>
                        <a:cubicBezTo>
                          <a:pt x="512809" y="1195364"/>
                          <a:pt x="366896" y="1231262"/>
                          <a:pt x="0" y="1200329"/>
                        </a:cubicBezTo>
                        <a:cubicBezTo>
                          <a:pt x="-29216" y="963343"/>
                          <a:pt x="-1358" y="789589"/>
                          <a:pt x="0" y="600165"/>
                        </a:cubicBezTo>
                        <a:cubicBezTo>
                          <a:pt x="1358" y="410741"/>
                          <a:pt x="-24653" y="292420"/>
                          <a:pt x="0" y="0"/>
                        </a:cubicBezTo>
                        <a:close/>
                      </a:path>
                    </a:pathLst>
                  </a:custGeom>
                  <ask:type>
                    <ask:lineSketchNone/>
                  </ask:type>
                </ask:lineSketchStyleProps>
              </a:ext>
            </a:extLst>
          </a:ln>
        </p:spPr>
        <p:txBody>
          <a:bodyPr wrap="square" rtlCol="0">
            <a:spAutoFit/>
          </a:bodyPr>
          <a:lstStyle/>
          <a:p>
            <a:pPr algn="ctr"/>
            <a:r>
              <a:rPr lang="es-CO" sz="1200" b="1" noProof="0" dirty="0" err="1">
                <a:solidFill>
                  <a:schemeClr val="accent1"/>
                </a:solidFill>
                <a:latin typeface="Arial Narrow" panose="020B0606020202030204" pitchFamily="34" charset="0"/>
              </a:rPr>
              <a:t>Matérn</a:t>
            </a:r>
            <a:r>
              <a:rPr lang="es-CO" sz="1200" b="1" noProof="0" dirty="0">
                <a:solidFill>
                  <a:schemeClr val="accent1"/>
                </a:solidFill>
                <a:latin typeface="Arial Narrow" panose="020B0606020202030204" pitchFamily="34" charset="0"/>
              </a:rPr>
              <a:t> 2.5</a:t>
            </a:r>
          </a:p>
          <a:p>
            <a:pPr algn="ctr"/>
            <a:r>
              <a:rPr lang="es-ES" sz="1200" dirty="0">
                <a:latin typeface="Arial Narrow" panose="020B0606020202030204" pitchFamily="34" charset="0"/>
              </a:rPr>
              <a:t>Describe procesos muy suaves como precipitación o humedad en el suelo</a:t>
            </a:r>
            <a:endParaRPr lang="es-CO" sz="1200" dirty="0">
              <a:latin typeface="Arial Narrow" panose="020B0606020202030204" pitchFamily="34" charset="0"/>
            </a:endParaRPr>
          </a:p>
        </p:txBody>
      </p:sp>
    </p:spTree>
    <p:extLst>
      <p:ext uri="{BB962C8B-B14F-4D97-AF65-F5344CB8AC3E}">
        <p14:creationId xmlns:p14="http://schemas.microsoft.com/office/powerpoint/2010/main" val="1254332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DA54F-730B-0CF5-3B23-1F110F0BE06E}"/>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0C216D75-0D86-2D2E-A79A-1382E8394DC3}"/>
              </a:ext>
            </a:extLst>
          </p:cNvPr>
          <p:cNvSpPr txBox="1">
            <a:spLocks/>
          </p:cNvSpPr>
          <p:nvPr/>
        </p:nvSpPr>
        <p:spPr>
          <a:xfrm>
            <a:off x="477376" y="310707"/>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sz="2200" dirty="0">
                <a:solidFill>
                  <a:schemeClr val="accent1"/>
                </a:solidFill>
                <a:latin typeface="Ancizar Serif Extrabold" panose="020A0902070300000003" pitchFamily="18" charset="0"/>
                <a:cs typeface="Ancizar Sans Extrabold"/>
              </a:rPr>
              <a:t>Procesos Gaussianos: </a:t>
            </a:r>
            <a:r>
              <a:rPr lang="es-ES" sz="2200" dirty="0" err="1">
                <a:solidFill>
                  <a:schemeClr val="accent1"/>
                </a:solidFill>
                <a:latin typeface="Ancizar Serif Extrabold" panose="020A0902070300000003" pitchFamily="18" charset="0"/>
                <a:cs typeface="Ancizar Sans Extrabold"/>
              </a:rPr>
              <a:t>Kernel</a:t>
            </a:r>
            <a:endParaRPr lang="es-ES" sz="2200" dirty="0">
              <a:solidFill>
                <a:schemeClr val="accent1"/>
              </a:solidFill>
              <a:latin typeface="Ancizar Serif Extrabold" panose="020A0902070300000003" pitchFamily="18" charset="0"/>
              <a:cs typeface="Ancizar Sans Extrabold"/>
            </a:endParaRPr>
          </a:p>
        </p:txBody>
      </p:sp>
      <p:sp>
        <p:nvSpPr>
          <p:cNvPr id="3" name="Marcador de número de diapositiva 2">
            <a:extLst>
              <a:ext uri="{FF2B5EF4-FFF2-40B4-BE49-F238E27FC236}">
                <a16:creationId xmlns:a16="http://schemas.microsoft.com/office/drawing/2014/main" id="{79B78579-86FD-C2FD-8E22-5936FD59F295}"/>
              </a:ext>
            </a:extLst>
          </p:cNvPr>
          <p:cNvSpPr>
            <a:spLocks noGrp="1"/>
          </p:cNvSpPr>
          <p:nvPr>
            <p:ph type="sldNum" sz="quarter" idx="12"/>
          </p:nvPr>
        </p:nvSpPr>
        <p:spPr/>
        <p:txBody>
          <a:bodyPr/>
          <a:lstStyle/>
          <a:p>
            <a:fld id="{90BC2BA4-81C0-F544-BD72-C8CB9DA7C802}" type="slidenum">
              <a:rPr lang="es-ES" smtClean="0"/>
              <a:pPr/>
              <a:t>9</a:t>
            </a:fld>
            <a:endParaRPr lang="es-ES"/>
          </a:p>
        </p:txBody>
      </p:sp>
      <p:sp>
        <p:nvSpPr>
          <p:cNvPr id="6" name="CuadroTexto 5">
            <a:extLst>
              <a:ext uri="{FF2B5EF4-FFF2-40B4-BE49-F238E27FC236}">
                <a16:creationId xmlns:a16="http://schemas.microsoft.com/office/drawing/2014/main" id="{1945B5A7-1A32-71A6-70A1-56BB6DA090B6}"/>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pic>
        <p:nvPicPr>
          <p:cNvPr id="5" name="Imagen 4">
            <a:extLst>
              <a:ext uri="{FF2B5EF4-FFF2-40B4-BE49-F238E27FC236}">
                <a16:creationId xmlns:a16="http://schemas.microsoft.com/office/drawing/2014/main" id="{459DF3EB-DE5C-4CCD-8C88-ED944BD4516B}"/>
              </a:ext>
            </a:extLst>
          </p:cNvPr>
          <p:cNvPicPr>
            <a:picLocks noChangeAspect="1"/>
          </p:cNvPicPr>
          <p:nvPr/>
        </p:nvPicPr>
        <p:blipFill>
          <a:blip r:embed="rId2"/>
          <a:stretch>
            <a:fillRect/>
          </a:stretch>
        </p:blipFill>
        <p:spPr>
          <a:xfrm>
            <a:off x="2991436" y="2445366"/>
            <a:ext cx="2918460" cy="2179610"/>
          </a:xfrm>
          <a:prstGeom prst="rect">
            <a:avLst/>
          </a:prstGeom>
        </p:spPr>
      </p:pic>
      <p:pic>
        <p:nvPicPr>
          <p:cNvPr id="9" name="Imagen 8">
            <a:extLst>
              <a:ext uri="{FF2B5EF4-FFF2-40B4-BE49-F238E27FC236}">
                <a16:creationId xmlns:a16="http://schemas.microsoft.com/office/drawing/2014/main" id="{B137AAC3-09BD-577D-4474-3BF35B47BE66}"/>
              </a:ext>
            </a:extLst>
          </p:cNvPr>
          <p:cNvPicPr>
            <a:picLocks noChangeAspect="1"/>
          </p:cNvPicPr>
          <p:nvPr/>
        </p:nvPicPr>
        <p:blipFill>
          <a:blip r:embed="rId3"/>
          <a:stretch>
            <a:fillRect/>
          </a:stretch>
        </p:blipFill>
        <p:spPr>
          <a:xfrm>
            <a:off x="6149341" y="2513087"/>
            <a:ext cx="2827783" cy="2111889"/>
          </a:xfrm>
          <a:prstGeom prst="rect">
            <a:avLst/>
          </a:prstGeom>
        </p:spPr>
      </p:pic>
      <p:grpSp>
        <p:nvGrpSpPr>
          <p:cNvPr id="23" name="Grupo 22">
            <a:extLst>
              <a:ext uri="{FF2B5EF4-FFF2-40B4-BE49-F238E27FC236}">
                <a16:creationId xmlns:a16="http://schemas.microsoft.com/office/drawing/2014/main" id="{D841E67C-294B-D1AC-FD6D-1B891593B2A5}"/>
              </a:ext>
            </a:extLst>
          </p:cNvPr>
          <p:cNvGrpSpPr/>
          <p:nvPr/>
        </p:nvGrpSpPr>
        <p:grpSpPr>
          <a:xfrm>
            <a:off x="4448761" y="468111"/>
            <a:ext cx="3781284" cy="1647997"/>
            <a:chOff x="2717117" y="805233"/>
            <a:chExt cx="3781284" cy="1647997"/>
          </a:xfrm>
        </p:grpSpPr>
        <p:pic>
          <p:nvPicPr>
            <p:cNvPr id="12" name="Imagen 11">
              <a:extLst>
                <a:ext uri="{FF2B5EF4-FFF2-40B4-BE49-F238E27FC236}">
                  <a16:creationId xmlns:a16="http://schemas.microsoft.com/office/drawing/2014/main" id="{F56DE550-1B14-BD73-F38B-CFD49A3EBF27}"/>
                </a:ext>
              </a:extLst>
            </p:cNvPr>
            <p:cNvPicPr>
              <a:picLocks noChangeAspect="1"/>
            </p:cNvPicPr>
            <p:nvPr/>
          </p:nvPicPr>
          <p:blipFill>
            <a:blip r:embed="rId4"/>
            <a:srcRect r="67873"/>
            <a:stretch>
              <a:fillRect/>
            </a:stretch>
          </p:blipFill>
          <p:spPr>
            <a:xfrm>
              <a:off x="2717117" y="805906"/>
              <a:ext cx="1941243" cy="1647324"/>
            </a:xfrm>
            <a:prstGeom prst="rect">
              <a:avLst/>
            </a:prstGeom>
          </p:spPr>
        </p:pic>
        <p:pic>
          <p:nvPicPr>
            <p:cNvPr id="14" name="Imagen 13">
              <a:extLst>
                <a:ext uri="{FF2B5EF4-FFF2-40B4-BE49-F238E27FC236}">
                  <a16:creationId xmlns:a16="http://schemas.microsoft.com/office/drawing/2014/main" id="{AC12CAB2-2BA4-5488-E33A-4BE86F0354F7}"/>
                </a:ext>
              </a:extLst>
            </p:cNvPr>
            <p:cNvPicPr>
              <a:picLocks noChangeAspect="1"/>
            </p:cNvPicPr>
            <p:nvPr/>
          </p:nvPicPr>
          <p:blipFill>
            <a:blip r:embed="rId4"/>
            <a:srcRect l="70262"/>
            <a:stretch>
              <a:fillRect/>
            </a:stretch>
          </p:blipFill>
          <p:spPr>
            <a:xfrm>
              <a:off x="4701539" y="805233"/>
              <a:ext cx="1796862" cy="1647324"/>
            </a:xfrm>
            <a:prstGeom prst="rect">
              <a:avLst/>
            </a:prstGeom>
          </p:spPr>
        </p:pic>
        <p:sp>
          <p:nvSpPr>
            <p:cNvPr id="16" name="Rectángulo 15">
              <a:extLst>
                <a:ext uri="{FF2B5EF4-FFF2-40B4-BE49-F238E27FC236}">
                  <a16:creationId xmlns:a16="http://schemas.microsoft.com/office/drawing/2014/main" id="{F4E1D52D-6A3A-3B36-5249-C694CE74CF65}"/>
                </a:ext>
              </a:extLst>
            </p:cNvPr>
            <p:cNvSpPr/>
            <p:nvPr/>
          </p:nvSpPr>
          <p:spPr>
            <a:xfrm>
              <a:off x="2717117" y="1592802"/>
              <a:ext cx="3781284" cy="200438"/>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s-ES"/>
            </a:p>
          </p:txBody>
        </p:sp>
        <p:sp>
          <p:nvSpPr>
            <p:cNvPr id="19" name="Rectángulo 18">
              <a:extLst>
                <a:ext uri="{FF2B5EF4-FFF2-40B4-BE49-F238E27FC236}">
                  <a16:creationId xmlns:a16="http://schemas.microsoft.com/office/drawing/2014/main" id="{BEBC915F-54A3-7F5B-E1A4-BAFC668D4703}"/>
                </a:ext>
              </a:extLst>
            </p:cNvPr>
            <p:cNvSpPr/>
            <p:nvPr/>
          </p:nvSpPr>
          <p:spPr>
            <a:xfrm>
              <a:off x="2717117" y="1791977"/>
              <a:ext cx="3781284" cy="200438"/>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s-ES"/>
            </a:p>
          </p:txBody>
        </p:sp>
        <p:sp>
          <p:nvSpPr>
            <p:cNvPr id="21" name="Rectángulo 20">
              <a:extLst>
                <a:ext uri="{FF2B5EF4-FFF2-40B4-BE49-F238E27FC236}">
                  <a16:creationId xmlns:a16="http://schemas.microsoft.com/office/drawing/2014/main" id="{BD142BE3-5045-7FE5-6C2B-4A311A90D69C}"/>
                </a:ext>
              </a:extLst>
            </p:cNvPr>
            <p:cNvSpPr/>
            <p:nvPr/>
          </p:nvSpPr>
          <p:spPr>
            <a:xfrm>
              <a:off x="2717117" y="1990097"/>
              <a:ext cx="3781284" cy="200438"/>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s-ES"/>
            </a:p>
          </p:txBody>
        </p:sp>
      </p:grpSp>
      <p:sp>
        <p:nvSpPr>
          <p:cNvPr id="26" name="CuadroTexto 25">
            <a:extLst>
              <a:ext uri="{FF2B5EF4-FFF2-40B4-BE49-F238E27FC236}">
                <a16:creationId xmlns:a16="http://schemas.microsoft.com/office/drawing/2014/main" id="{5EE0ABAC-2689-9A2D-6FC1-E39CF005CCB3}"/>
              </a:ext>
            </a:extLst>
          </p:cNvPr>
          <p:cNvSpPr txBox="1"/>
          <p:nvPr/>
        </p:nvSpPr>
        <p:spPr>
          <a:xfrm>
            <a:off x="72977" y="808149"/>
            <a:ext cx="2918459" cy="3693319"/>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marL="0" indent="0" algn="just">
              <a:buClr>
                <a:schemeClr val="accent5"/>
              </a:buClr>
              <a:buNone/>
            </a:pPr>
            <a:r>
              <a:rPr lang="es-CO" sz="1300" dirty="0">
                <a:latin typeface="Arial Narrow" panose="020B0606020202030204" pitchFamily="34" charset="0"/>
              </a:rPr>
              <a:t>Al ajustar los parámetros óptimos mediante máxima verosimilitud, muestra que los </a:t>
            </a:r>
            <a:r>
              <a:rPr lang="es-CO" sz="1300" dirty="0" err="1">
                <a:latin typeface="Arial Narrow" panose="020B0606020202030204" pitchFamily="34" charset="0"/>
              </a:rPr>
              <a:t>kernel</a:t>
            </a:r>
            <a:r>
              <a:rPr lang="es-CO" sz="1300" dirty="0">
                <a:latin typeface="Arial Narrow" panose="020B0606020202030204" pitchFamily="34" charset="0"/>
              </a:rPr>
              <a:t> con mejor desempeño equivalen a:</a:t>
            </a:r>
          </a:p>
          <a:p>
            <a:pPr marL="0" indent="0" algn="ctr">
              <a:buClr>
                <a:schemeClr val="accent5"/>
              </a:buClr>
              <a:buNone/>
            </a:pPr>
            <a:endParaRPr lang="es-CO" sz="1300" dirty="0">
              <a:latin typeface="Arial Narrow" panose="020B0606020202030204" pitchFamily="34" charset="0"/>
            </a:endParaRPr>
          </a:p>
          <a:p>
            <a:pPr marL="342900" indent="-342900" algn="ctr">
              <a:buClr>
                <a:schemeClr val="accent5"/>
              </a:buClr>
              <a:buAutoNum type="arabicPeriod"/>
            </a:pPr>
            <a:r>
              <a:rPr lang="es-CO" sz="1300" dirty="0" err="1">
                <a:latin typeface="Arial Narrow" panose="020B0606020202030204" pitchFamily="34" charset="0"/>
              </a:rPr>
              <a:t>Matérn</a:t>
            </a:r>
            <a:r>
              <a:rPr lang="es-CO" sz="1300" dirty="0">
                <a:latin typeface="Arial Narrow" panose="020B0606020202030204" pitchFamily="34" charset="0"/>
              </a:rPr>
              <a:t> 0.5 </a:t>
            </a:r>
          </a:p>
          <a:p>
            <a:pPr marL="342900" indent="-342900" algn="ctr">
              <a:buClr>
                <a:schemeClr val="accent5"/>
              </a:buClr>
              <a:buAutoNum type="arabicPeriod"/>
            </a:pPr>
            <a:endParaRPr lang="es-CO" sz="1300" dirty="0">
              <a:latin typeface="Arial Narrow" panose="020B0606020202030204" pitchFamily="34" charset="0"/>
            </a:endParaRPr>
          </a:p>
          <a:p>
            <a:pPr marL="342900" indent="-342900" algn="ctr">
              <a:buClr>
                <a:schemeClr val="accent5"/>
              </a:buClr>
              <a:buAutoNum type="arabicPeriod"/>
            </a:pPr>
            <a:endParaRPr lang="es-CO" sz="1300" dirty="0">
              <a:latin typeface="Arial Narrow" panose="020B0606020202030204" pitchFamily="34" charset="0"/>
            </a:endParaRPr>
          </a:p>
          <a:p>
            <a:pPr marL="342900" indent="-342900" algn="ctr">
              <a:buClr>
                <a:schemeClr val="accent5"/>
              </a:buClr>
              <a:buAutoNum type="arabicPeriod"/>
            </a:pPr>
            <a:r>
              <a:rPr lang="es-CO" sz="1300" dirty="0" err="1">
                <a:latin typeface="Arial Narrow" panose="020B0606020202030204" pitchFamily="34" charset="0"/>
              </a:rPr>
              <a:t>Rational</a:t>
            </a:r>
            <a:r>
              <a:rPr lang="es-CO" sz="1300" dirty="0">
                <a:latin typeface="Arial Narrow" panose="020B0606020202030204" pitchFamily="34" charset="0"/>
              </a:rPr>
              <a:t> </a:t>
            </a:r>
            <a:r>
              <a:rPr lang="es-CO" sz="1300" dirty="0" err="1">
                <a:latin typeface="Arial Narrow" panose="020B0606020202030204" pitchFamily="34" charset="0"/>
              </a:rPr>
              <a:t>Quadratic</a:t>
            </a:r>
            <a:endParaRPr lang="es-CO" sz="1300" dirty="0">
              <a:latin typeface="Arial Narrow" panose="020B0606020202030204" pitchFamily="34" charset="0"/>
            </a:endParaRPr>
          </a:p>
          <a:p>
            <a:pPr marL="342900" indent="-342900" algn="ctr">
              <a:buClr>
                <a:schemeClr val="accent5"/>
              </a:buClr>
              <a:buAutoNum type="arabicPeriod"/>
            </a:pPr>
            <a:endParaRPr lang="es-CO" sz="1300" dirty="0">
              <a:latin typeface="Arial Narrow" panose="020B0606020202030204" pitchFamily="34" charset="0"/>
            </a:endParaRPr>
          </a:p>
          <a:p>
            <a:pPr marL="342900" indent="-342900" algn="ctr">
              <a:buClr>
                <a:schemeClr val="accent5"/>
              </a:buClr>
              <a:buAutoNum type="arabicPeriod"/>
            </a:pPr>
            <a:endParaRPr lang="es-CO" sz="1300" dirty="0">
              <a:latin typeface="Arial Narrow" panose="020B0606020202030204" pitchFamily="34" charset="0"/>
            </a:endParaRPr>
          </a:p>
          <a:p>
            <a:pPr marL="342900" indent="-342900" algn="ctr">
              <a:buClr>
                <a:schemeClr val="accent5"/>
              </a:buClr>
              <a:buAutoNum type="arabicPeriod"/>
            </a:pPr>
            <a:r>
              <a:rPr lang="es-CO" sz="1300" dirty="0" err="1">
                <a:latin typeface="Arial Narrow" panose="020B0606020202030204" pitchFamily="34" charset="0"/>
              </a:rPr>
              <a:t>Matérn</a:t>
            </a:r>
            <a:r>
              <a:rPr lang="es-CO" sz="1300" dirty="0">
                <a:latin typeface="Arial Narrow" panose="020B0606020202030204" pitchFamily="34" charset="0"/>
              </a:rPr>
              <a:t> 1.5</a:t>
            </a:r>
          </a:p>
          <a:p>
            <a:pPr marL="0" indent="0">
              <a:buClr>
                <a:schemeClr val="accent5"/>
              </a:buClr>
              <a:buNone/>
            </a:pPr>
            <a:endParaRPr lang="es-CO" sz="1300" dirty="0">
              <a:latin typeface="Arial Narrow" panose="020B0606020202030204" pitchFamily="34" charset="0"/>
            </a:endParaRPr>
          </a:p>
          <a:p>
            <a:pPr marL="0" indent="0">
              <a:buClr>
                <a:schemeClr val="accent5"/>
              </a:buClr>
              <a:buNone/>
            </a:pPr>
            <a:endParaRPr lang="es-CO" sz="1300" dirty="0">
              <a:latin typeface="Arial Narrow" panose="020B0606020202030204" pitchFamily="34" charset="0"/>
            </a:endParaRPr>
          </a:p>
          <a:p>
            <a:pPr marL="0" indent="0" algn="just">
              <a:buClr>
                <a:schemeClr val="accent5"/>
              </a:buClr>
              <a:buNone/>
            </a:pPr>
            <a:r>
              <a:rPr lang="es-CO" sz="1300" dirty="0">
                <a:latin typeface="Arial Narrow" panose="020B0606020202030204" pitchFamily="34" charset="0"/>
              </a:rPr>
              <a:t>Los </a:t>
            </a:r>
            <a:r>
              <a:rPr lang="es-CO" sz="1300" dirty="0" err="1">
                <a:latin typeface="Arial Narrow" panose="020B0606020202030204" pitchFamily="34" charset="0"/>
              </a:rPr>
              <a:t>Kernel</a:t>
            </a:r>
            <a:r>
              <a:rPr lang="es-CO" sz="1300" dirty="0">
                <a:latin typeface="Arial Narrow" panose="020B0606020202030204" pitchFamily="34" charset="0"/>
              </a:rPr>
              <a:t> de </a:t>
            </a:r>
            <a:r>
              <a:rPr lang="es-CO" sz="1300" dirty="0" err="1">
                <a:latin typeface="Arial Narrow" panose="020B0606020202030204" pitchFamily="34" charset="0"/>
              </a:rPr>
              <a:t>Matérn</a:t>
            </a:r>
            <a:r>
              <a:rPr lang="es-CO" sz="1300" dirty="0">
                <a:latin typeface="Arial Narrow" panose="020B0606020202030204" pitchFamily="34" charset="0"/>
              </a:rPr>
              <a:t> y </a:t>
            </a:r>
            <a:r>
              <a:rPr lang="es-CO" sz="1300" dirty="0" err="1">
                <a:latin typeface="Arial Narrow" panose="020B0606020202030204" pitchFamily="34" charset="0"/>
              </a:rPr>
              <a:t>Rational</a:t>
            </a:r>
            <a:r>
              <a:rPr lang="es-CO" sz="1300" dirty="0">
                <a:latin typeface="Arial Narrow" panose="020B0606020202030204" pitchFamily="34" charset="0"/>
              </a:rPr>
              <a:t> </a:t>
            </a:r>
            <a:r>
              <a:rPr lang="es-CO" sz="1300" dirty="0" err="1">
                <a:latin typeface="Arial Narrow" panose="020B0606020202030204" pitchFamily="34" charset="0"/>
              </a:rPr>
              <a:t>Quadratic</a:t>
            </a:r>
            <a:r>
              <a:rPr lang="es-CO" sz="1300" dirty="0">
                <a:latin typeface="Arial Narrow" panose="020B0606020202030204" pitchFamily="34" charset="0"/>
              </a:rPr>
              <a:t> tiene un decaimiento de 0.03 en el AUC entre calibración y validación, mientras que en el R² muestra decaimientos de 0.172, siendo indicios de sobreajustes moderados.</a:t>
            </a:r>
          </a:p>
        </p:txBody>
      </p:sp>
      <p:sp>
        <p:nvSpPr>
          <p:cNvPr id="27" name="Rectángulo 26">
            <a:extLst>
              <a:ext uri="{FF2B5EF4-FFF2-40B4-BE49-F238E27FC236}">
                <a16:creationId xmlns:a16="http://schemas.microsoft.com/office/drawing/2014/main" id="{037C6644-08CC-23E0-D699-111AADF2E937}"/>
              </a:ext>
            </a:extLst>
          </p:cNvPr>
          <p:cNvSpPr/>
          <p:nvPr/>
        </p:nvSpPr>
        <p:spPr>
          <a:xfrm>
            <a:off x="6699250" y="742241"/>
            <a:ext cx="283845" cy="1316736"/>
          </a:xfrm>
          <a:prstGeom prst="rect">
            <a:avLst/>
          </a:prstGeom>
          <a:solidFill>
            <a:srgbClr val="FFFF00">
              <a:alpha val="30000"/>
            </a:srgb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s-ES"/>
          </a:p>
        </p:txBody>
      </p:sp>
      <p:pic>
        <p:nvPicPr>
          <p:cNvPr id="7" name="Imagen 6">
            <a:extLst>
              <a:ext uri="{FF2B5EF4-FFF2-40B4-BE49-F238E27FC236}">
                <a16:creationId xmlns:a16="http://schemas.microsoft.com/office/drawing/2014/main" id="{64A4409F-F104-C192-B083-3913D98CA34D}"/>
              </a:ext>
            </a:extLst>
          </p:cNvPr>
          <p:cNvPicPr>
            <a:picLocks noChangeAspect="1"/>
          </p:cNvPicPr>
          <p:nvPr/>
        </p:nvPicPr>
        <p:blipFill>
          <a:blip r:embed="rId5"/>
          <a:stretch>
            <a:fillRect/>
          </a:stretch>
        </p:blipFill>
        <p:spPr>
          <a:xfrm>
            <a:off x="252046" y="2513087"/>
            <a:ext cx="2556755" cy="268460"/>
          </a:xfrm>
          <a:prstGeom prst="rect">
            <a:avLst/>
          </a:prstGeom>
        </p:spPr>
      </p:pic>
      <p:pic>
        <p:nvPicPr>
          <p:cNvPr id="10" name="Imagen 9">
            <a:extLst>
              <a:ext uri="{FF2B5EF4-FFF2-40B4-BE49-F238E27FC236}">
                <a16:creationId xmlns:a16="http://schemas.microsoft.com/office/drawing/2014/main" id="{A65B90A2-8348-61F3-739D-9A3ED8538498}"/>
              </a:ext>
            </a:extLst>
          </p:cNvPr>
          <p:cNvPicPr>
            <a:picLocks noChangeAspect="1"/>
          </p:cNvPicPr>
          <p:nvPr/>
        </p:nvPicPr>
        <p:blipFill>
          <a:blip r:embed="rId6"/>
          <a:stretch>
            <a:fillRect/>
          </a:stretch>
        </p:blipFill>
        <p:spPr>
          <a:xfrm>
            <a:off x="509392" y="1906564"/>
            <a:ext cx="2110923" cy="304826"/>
          </a:xfrm>
          <a:prstGeom prst="rect">
            <a:avLst/>
          </a:prstGeom>
        </p:spPr>
      </p:pic>
      <p:pic>
        <p:nvPicPr>
          <p:cNvPr id="13" name="Imagen 12">
            <a:extLst>
              <a:ext uri="{FF2B5EF4-FFF2-40B4-BE49-F238E27FC236}">
                <a16:creationId xmlns:a16="http://schemas.microsoft.com/office/drawing/2014/main" id="{4D5814F0-094F-6318-820B-370E7FB673AD}"/>
              </a:ext>
            </a:extLst>
          </p:cNvPr>
          <p:cNvPicPr>
            <a:picLocks noChangeAspect="1"/>
          </p:cNvPicPr>
          <p:nvPr/>
        </p:nvPicPr>
        <p:blipFill>
          <a:blip r:embed="rId7"/>
          <a:stretch>
            <a:fillRect/>
          </a:stretch>
        </p:blipFill>
        <p:spPr>
          <a:xfrm>
            <a:off x="478909" y="3083244"/>
            <a:ext cx="2171888" cy="274344"/>
          </a:xfrm>
          <a:prstGeom prst="rect">
            <a:avLst/>
          </a:prstGeom>
        </p:spPr>
      </p:pic>
    </p:spTree>
    <p:extLst>
      <p:ext uri="{BB962C8B-B14F-4D97-AF65-F5344CB8AC3E}">
        <p14:creationId xmlns:p14="http://schemas.microsoft.com/office/powerpoint/2010/main" val="3521843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942BC-4525-4A0F-4AA6-01C3379AF413}"/>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2331D74D-740E-E1DC-992E-5811D2712143}"/>
              </a:ext>
            </a:extLst>
          </p:cNvPr>
          <p:cNvSpPr txBox="1">
            <a:spLocks/>
          </p:cNvSpPr>
          <p:nvPr/>
        </p:nvSpPr>
        <p:spPr>
          <a:xfrm>
            <a:off x="477376" y="310707"/>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sz="2200" dirty="0">
                <a:solidFill>
                  <a:schemeClr val="accent1"/>
                </a:solidFill>
                <a:latin typeface="Ancizar Serif Extrabold" panose="020A0902070300000003" pitchFamily="18" charset="0"/>
                <a:cs typeface="Ancizar Sans Extrabold"/>
              </a:rPr>
              <a:t>Procesos Gaussianos: Selección </a:t>
            </a:r>
            <a:r>
              <a:rPr lang="es-ES" sz="2200" dirty="0" err="1">
                <a:solidFill>
                  <a:schemeClr val="accent1"/>
                </a:solidFill>
                <a:latin typeface="Ancizar Serif Extrabold" panose="020A0902070300000003" pitchFamily="18" charset="0"/>
                <a:cs typeface="Ancizar Sans Extrabold"/>
              </a:rPr>
              <a:t>Kernel</a:t>
            </a:r>
            <a:endParaRPr lang="es-ES" sz="2200" dirty="0">
              <a:solidFill>
                <a:schemeClr val="accent1"/>
              </a:solidFill>
              <a:latin typeface="Ancizar Serif Extrabold" panose="020A0902070300000003" pitchFamily="18" charset="0"/>
              <a:cs typeface="Ancizar Sans Extrabold"/>
            </a:endParaRPr>
          </a:p>
        </p:txBody>
      </p:sp>
      <p:sp>
        <p:nvSpPr>
          <p:cNvPr id="3" name="Marcador de número de diapositiva 2">
            <a:extLst>
              <a:ext uri="{FF2B5EF4-FFF2-40B4-BE49-F238E27FC236}">
                <a16:creationId xmlns:a16="http://schemas.microsoft.com/office/drawing/2014/main" id="{19B0B925-12EA-E76C-DEC0-42F199E72478}"/>
              </a:ext>
            </a:extLst>
          </p:cNvPr>
          <p:cNvSpPr>
            <a:spLocks noGrp="1"/>
          </p:cNvSpPr>
          <p:nvPr>
            <p:ph type="sldNum" sz="quarter" idx="12"/>
          </p:nvPr>
        </p:nvSpPr>
        <p:spPr/>
        <p:txBody>
          <a:bodyPr/>
          <a:lstStyle/>
          <a:p>
            <a:fld id="{90BC2BA4-81C0-F544-BD72-C8CB9DA7C802}" type="slidenum">
              <a:rPr lang="es-ES" smtClean="0"/>
              <a:pPr/>
              <a:t>10</a:t>
            </a:fld>
            <a:endParaRPr lang="es-ES"/>
          </a:p>
        </p:txBody>
      </p:sp>
      <p:sp>
        <p:nvSpPr>
          <p:cNvPr id="6" name="CuadroTexto 5">
            <a:extLst>
              <a:ext uri="{FF2B5EF4-FFF2-40B4-BE49-F238E27FC236}">
                <a16:creationId xmlns:a16="http://schemas.microsoft.com/office/drawing/2014/main" id="{84A155EA-7F78-3015-4212-BCC5B547831F}"/>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sp>
        <p:nvSpPr>
          <p:cNvPr id="31" name="CuadroTexto 30">
            <a:extLst>
              <a:ext uri="{FF2B5EF4-FFF2-40B4-BE49-F238E27FC236}">
                <a16:creationId xmlns:a16="http://schemas.microsoft.com/office/drawing/2014/main" id="{613CD234-823D-80C8-0D49-5AC4BCB9A458}"/>
              </a:ext>
            </a:extLst>
          </p:cNvPr>
          <p:cNvSpPr txBox="1"/>
          <p:nvPr/>
        </p:nvSpPr>
        <p:spPr>
          <a:xfrm>
            <a:off x="1005478" y="752558"/>
            <a:ext cx="1604276" cy="306467"/>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4260126717">
                  <a:custGeom>
                    <a:avLst/>
                    <a:gdLst>
                      <a:gd name="csX0" fmla="*/ 0 w 3395271"/>
                      <a:gd name="csY0" fmla="*/ 0 h 1200329"/>
                      <a:gd name="csX1" fmla="*/ 531926 w 3395271"/>
                      <a:gd name="csY1" fmla="*/ 0 h 1200329"/>
                      <a:gd name="csX2" fmla="*/ 1063852 w 3395271"/>
                      <a:gd name="csY2" fmla="*/ 0 h 1200329"/>
                      <a:gd name="csX3" fmla="*/ 1527872 w 3395271"/>
                      <a:gd name="csY3" fmla="*/ 0 h 1200329"/>
                      <a:gd name="csX4" fmla="*/ 2059798 w 3395271"/>
                      <a:gd name="csY4" fmla="*/ 0 h 1200329"/>
                      <a:gd name="csX5" fmla="*/ 2557771 w 3395271"/>
                      <a:gd name="csY5" fmla="*/ 0 h 1200329"/>
                      <a:gd name="csX6" fmla="*/ 3395271 w 3395271"/>
                      <a:gd name="csY6" fmla="*/ 0 h 1200329"/>
                      <a:gd name="csX7" fmla="*/ 3395271 w 3395271"/>
                      <a:gd name="csY7" fmla="*/ 388106 h 1200329"/>
                      <a:gd name="csX8" fmla="*/ 3395271 w 3395271"/>
                      <a:gd name="csY8" fmla="*/ 752206 h 1200329"/>
                      <a:gd name="csX9" fmla="*/ 3395271 w 3395271"/>
                      <a:gd name="csY9" fmla="*/ 1200329 h 1200329"/>
                      <a:gd name="csX10" fmla="*/ 2863345 w 3395271"/>
                      <a:gd name="csY10" fmla="*/ 1200329 h 1200329"/>
                      <a:gd name="csX11" fmla="*/ 2331419 w 3395271"/>
                      <a:gd name="csY11" fmla="*/ 1200329 h 1200329"/>
                      <a:gd name="csX12" fmla="*/ 1697636 w 3395271"/>
                      <a:gd name="csY12" fmla="*/ 1200329 h 1200329"/>
                      <a:gd name="csX13" fmla="*/ 1063852 w 3395271"/>
                      <a:gd name="csY13" fmla="*/ 1200329 h 1200329"/>
                      <a:gd name="csX14" fmla="*/ 0 w 3395271"/>
                      <a:gd name="csY14" fmla="*/ 1200329 h 1200329"/>
                      <a:gd name="csX15" fmla="*/ 0 w 3395271"/>
                      <a:gd name="csY15" fmla="*/ 836229 h 1200329"/>
                      <a:gd name="csX16" fmla="*/ 0 w 3395271"/>
                      <a:gd name="csY16" fmla="*/ 460126 h 1200329"/>
                      <a:gd name="csX17" fmla="*/ 0 w 3395271"/>
                      <a:gd name="csY17"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395271" h="1200329" extrusionOk="0">
                        <a:moveTo>
                          <a:pt x="0" y="0"/>
                        </a:moveTo>
                        <a:cubicBezTo>
                          <a:pt x="228370" y="-45886"/>
                          <a:pt x="304674" y="52441"/>
                          <a:pt x="531926" y="0"/>
                        </a:cubicBezTo>
                        <a:cubicBezTo>
                          <a:pt x="759178" y="-52441"/>
                          <a:pt x="885416" y="32588"/>
                          <a:pt x="1063852" y="0"/>
                        </a:cubicBezTo>
                        <a:cubicBezTo>
                          <a:pt x="1242288" y="-32588"/>
                          <a:pt x="1344641" y="44362"/>
                          <a:pt x="1527872" y="0"/>
                        </a:cubicBezTo>
                        <a:cubicBezTo>
                          <a:pt x="1711103" y="-44362"/>
                          <a:pt x="1854330" y="50838"/>
                          <a:pt x="2059798" y="0"/>
                        </a:cubicBezTo>
                        <a:cubicBezTo>
                          <a:pt x="2265266" y="-50838"/>
                          <a:pt x="2319237" y="47860"/>
                          <a:pt x="2557771" y="0"/>
                        </a:cubicBezTo>
                        <a:cubicBezTo>
                          <a:pt x="2796305" y="-47860"/>
                          <a:pt x="3166200" y="7397"/>
                          <a:pt x="3395271" y="0"/>
                        </a:cubicBezTo>
                        <a:cubicBezTo>
                          <a:pt x="3409774" y="174650"/>
                          <a:pt x="3387139" y="198465"/>
                          <a:pt x="3395271" y="388106"/>
                        </a:cubicBezTo>
                        <a:cubicBezTo>
                          <a:pt x="3403403" y="577747"/>
                          <a:pt x="3379712" y="647037"/>
                          <a:pt x="3395271" y="752206"/>
                        </a:cubicBezTo>
                        <a:cubicBezTo>
                          <a:pt x="3410830" y="857375"/>
                          <a:pt x="3343972" y="983727"/>
                          <a:pt x="3395271" y="1200329"/>
                        </a:cubicBezTo>
                        <a:cubicBezTo>
                          <a:pt x="3169280" y="1237526"/>
                          <a:pt x="3039290" y="1179410"/>
                          <a:pt x="2863345" y="1200329"/>
                        </a:cubicBezTo>
                        <a:cubicBezTo>
                          <a:pt x="2687400" y="1221248"/>
                          <a:pt x="2442690" y="1175204"/>
                          <a:pt x="2331419" y="1200329"/>
                        </a:cubicBezTo>
                        <a:cubicBezTo>
                          <a:pt x="2220148" y="1225454"/>
                          <a:pt x="1861000" y="1179799"/>
                          <a:pt x="1697636" y="1200329"/>
                        </a:cubicBezTo>
                        <a:cubicBezTo>
                          <a:pt x="1534272" y="1220859"/>
                          <a:pt x="1261839" y="1177063"/>
                          <a:pt x="1063852" y="1200329"/>
                        </a:cubicBezTo>
                        <a:cubicBezTo>
                          <a:pt x="865865" y="1223595"/>
                          <a:pt x="460314" y="1186120"/>
                          <a:pt x="0" y="1200329"/>
                        </a:cubicBezTo>
                        <a:cubicBezTo>
                          <a:pt x="-16910" y="1041046"/>
                          <a:pt x="11209" y="1009314"/>
                          <a:pt x="0" y="836229"/>
                        </a:cubicBezTo>
                        <a:cubicBezTo>
                          <a:pt x="-11209" y="663144"/>
                          <a:pt x="12392" y="632192"/>
                          <a:pt x="0" y="460126"/>
                        </a:cubicBezTo>
                        <a:cubicBezTo>
                          <a:pt x="-12392" y="288060"/>
                          <a:pt x="50997" y="192721"/>
                          <a:pt x="0" y="0"/>
                        </a:cubicBezTo>
                        <a:close/>
                      </a:path>
                    </a:pathLst>
                  </a:custGeom>
                  <ask:type>
                    <ask:lineSketchNone/>
                  </ask:type>
                </ask:lineSketchStyleProps>
              </a:ext>
            </a:extLst>
          </a:ln>
        </p:spPr>
        <p:txBody>
          <a:bodyPr wrap="square" rtlCol="0">
            <a:spAutoFit/>
          </a:bodyPr>
          <a:lstStyle/>
          <a:p>
            <a:pPr algn="ctr"/>
            <a:r>
              <a:rPr lang="es-CO" sz="1200" b="1" noProof="0" dirty="0" err="1">
                <a:solidFill>
                  <a:schemeClr val="accent1"/>
                </a:solidFill>
                <a:latin typeface="Arial Narrow" panose="020B0606020202030204" pitchFamily="34" charset="0"/>
              </a:rPr>
              <a:t>Rational</a:t>
            </a:r>
            <a:r>
              <a:rPr lang="es-CO" sz="1200" b="1" noProof="0" dirty="0">
                <a:solidFill>
                  <a:schemeClr val="accent1"/>
                </a:solidFill>
                <a:latin typeface="Arial Narrow" panose="020B0606020202030204" pitchFamily="34" charset="0"/>
              </a:rPr>
              <a:t> </a:t>
            </a:r>
            <a:r>
              <a:rPr lang="es-CO" sz="1200" b="1" noProof="0" dirty="0" err="1">
                <a:solidFill>
                  <a:schemeClr val="accent1"/>
                </a:solidFill>
                <a:latin typeface="Arial Narrow" panose="020B0606020202030204" pitchFamily="34" charset="0"/>
              </a:rPr>
              <a:t>Quadratic</a:t>
            </a:r>
            <a:endParaRPr lang="es-CO" sz="1200" noProof="0" dirty="0">
              <a:latin typeface="Arial Narrow" panose="020B0606020202030204" pitchFamily="34" charset="0"/>
            </a:endParaRPr>
          </a:p>
        </p:txBody>
      </p:sp>
      <p:sp>
        <p:nvSpPr>
          <p:cNvPr id="33" name="CuadroTexto 32">
            <a:extLst>
              <a:ext uri="{FF2B5EF4-FFF2-40B4-BE49-F238E27FC236}">
                <a16:creationId xmlns:a16="http://schemas.microsoft.com/office/drawing/2014/main" id="{1C1133E3-0D51-D528-3468-DD63D76D27FB}"/>
              </a:ext>
            </a:extLst>
          </p:cNvPr>
          <p:cNvSpPr txBox="1"/>
          <p:nvPr/>
        </p:nvSpPr>
        <p:spPr>
          <a:xfrm>
            <a:off x="3937364" y="763793"/>
            <a:ext cx="1604276" cy="306467"/>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4260126717">
                  <a:custGeom>
                    <a:avLst/>
                    <a:gdLst>
                      <a:gd name="csX0" fmla="*/ 0 w 3395271"/>
                      <a:gd name="csY0" fmla="*/ 0 h 1200329"/>
                      <a:gd name="csX1" fmla="*/ 531926 w 3395271"/>
                      <a:gd name="csY1" fmla="*/ 0 h 1200329"/>
                      <a:gd name="csX2" fmla="*/ 1063852 w 3395271"/>
                      <a:gd name="csY2" fmla="*/ 0 h 1200329"/>
                      <a:gd name="csX3" fmla="*/ 1527872 w 3395271"/>
                      <a:gd name="csY3" fmla="*/ 0 h 1200329"/>
                      <a:gd name="csX4" fmla="*/ 2059798 w 3395271"/>
                      <a:gd name="csY4" fmla="*/ 0 h 1200329"/>
                      <a:gd name="csX5" fmla="*/ 2557771 w 3395271"/>
                      <a:gd name="csY5" fmla="*/ 0 h 1200329"/>
                      <a:gd name="csX6" fmla="*/ 3395271 w 3395271"/>
                      <a:gd name="csY6" fmla="*/ 0 h 1200329"/>
                      <a:gd name="csX7" fmla="*/ 3395271 w 3395271"/>
                      <a:gd name="csY7" fmla="*/ 388106 h 1200329"/>
                      <a:gd name="csX8" fmla="*/ 3395271 w 3395271"/>
                      <a:gd name="csY8" fmla="*/ 752206 h 1200329"/>
                      <a:gd name="csX9" fmla="*/ 3395271 w 3395271"/>
                      <a:gd name="csY9" fmla="*/ 1200329 h 1200329"/>
                      <a:gd name="csX10" fmla="*/ 2863345 w 3395271"/>
                      <a:gd name="csY10" fmla="*/ 1200329 h 1200329"/>
                      <a:gd name="csX11" fmla="*/ 2331419 w 3395271"/>
                      <a:gd name="csY11" fmla="*/ 1200329 h 1200329"/>
                      <a:gd name="csX12" fmla="*/ 1697636 w 3395271"/>
                      <a:gd name="csY12" fmla="*/ 1200329 h 1200329"/>
                      <a:gd name="csX13" fmla="*/ 1063852 w 3395271"/>
                      <a:gd name="csY13" fmla="*/ 1200329 h 1200329"/>
                      <a:gd name="csX14" fmla="*/ 0 w 3395271"/>
                      <a:gd name="csY14" fmla="*/ 1200329 h 1200329"/>
                      <a:gd name="csX15" fmla="*/ 0 w 3395271"/>
                      <a:gd name="csY15" fmla="*/ 836229 h 1200329"/>
                      <a:gd name="csX16" fmla="*/ 0 w 3395271"/>
                      <a:gd name="csY16" fmla="*/ 460126 h 1200329"/>
                      <a:gd name="csX17" fmla="*/ 0 w 3395271"/>
                      <a:gd name="csY17"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395271" h="1200329" extrusionOk="0">
                        <a:moveTo>
                          <a:pt x="0" y="0"/>
                        </a:moveTo>
                        <a:cubicBezTo>
                          <a:pt x="228370" y="-45886"/>
                          <a:pt x="304674" y="52441"/>
                          <a:pt x="531926" y="0"/>
                        </a:cubicBezTo>
                        <a:cubicBezTo>
                          <a:pt x="759178" y="-52441"/>
                          <a:pt x="885416" y="32588"/>
                          <a:pt x="1063852" y="0"/>
                        </a:cubicBezTo>
                        <a:cubicBezTo>
                          <a:pt x="1242288" y="-32588"/>
                          <a:pt x="1344641" y="44362"/>
                          <a:pt x="1527872" y="0"/>
                        </a:cubicBezTo>
                        <a:cubicBezTo>
                          <a:pt x="1711103" y="-44362"/>
                          <a:pt x="1854330" y="50838"/>
                          <a:pt x="2059798" y="0"/>
                        </a:cubicBezTo>
                        <a:cubicBezTo>
                          <a:pt x="2265266" y="-50838"/>
                          <a:pt x="2319237" y="47860"/>
                          <a:pt x="2557771" y="0"/>
                        </a:cubicBezTo>
                        <a:cubicBezTo>
                          <a:pt x="2796305" y="-47860"/>
                          <a:pt x="3166200" y="7397"/>
                          <a:pt x="3395271" y="0"/>
                        </a:cubicBezTo>
                        <a:cubicBezTo>
                          <a:pt x="3409774" y="174650"/>
                          <a:pt x="3387139" y="198465"/>
                          <a:pt x="3395271" y="388106"/>
                        </a:cubicBezTo>
                        <a:cubicBezTo>
                          <a:pt x="3403403" y="577747"/>
                          <a:pt x="3379712" y="647037"/>
                          <a:pt x="3395271" y="752206"/>
                        </a:cubicBezTo>
                        <a:cubicBezTo>
                          <a:pt x="3410830" y="857375"/>
                          <a:pt x="3343972" y="983727"/>
                          <a:pt x="3395271" y="1200329"/>
                        </a:cubicBezTo>
                        <a:cubicBezTo>
                          <a:pt x="3169280" y="1237526"/>
                          <a:pt x="3039290" y="1179410"/>
                          <a:pt x="2863345" y="1200329"/>
                        </a:cubicBezTo>
                        <a:cubicBezTo>
                          <a:pt x="2687400" y="1221248"/>
                          <a:pt x="2442690" y="1175204"/>
                          <a:pt x="2331419" y="1200329"/>
                        </a:cubicBezTo>
                        <a:cubicBezTo>
                          <a:pt x="2220148" y="1225454"/>
                          <a:pt x="1861000" y="1179799"/>
                          <a:pt x="1697636" y="1200329"/>
                        </a:cubicBezTo>
                        <a:cubicBezTo>
                          <a:pt x="1534272" y="1220859"/>
                          <a:pt x="1261839" y="1177063"/>
                          <a:pt x="1063852" y="1200329"/>
                        </a:cubicBezTo>
                        <a:cubicBezTo>
                          <a:pt x="865865" y="1223595"/>
                          <a:pt x="460314" y="1186120"/>
                          <a:pt x="0" y="1200329"/>
                        </a:cubicBezTo>
                        <a:cubicBezTo>
                          <a:pt x="-16910" y="1041046"/>
                          <a:pt x="11209" y="1009314"/>
                          <a:pt x="0" y="836229"/>
                        </a:cubicBezTo>
                        <a:cubicBezTo>
                          <a:pt x="-11209" y="663144"/>
                          <a:pt x="12392" y="632192"/>
                          <a:pt x="0" y="460126"/>
                        </a:cubicBezTo>
                        <a:cubicBezTo>
                          <a:pt x="-12392" y="288060"/>
                          <a:pt x="50997" y="192721"/>
                          <a:pt x="0" y="0"/>
                        </a:cubicBezTo>
                        <a:close/>
                      </a:path>
                    </a:pathLst>
                  </a:custGeom>
                  <ask:type>
                    <ask:lineSketchNone/>
                  </ask:type>
                </ask:lineSketchStyleProps>
              </a:ext>
            </a:extLst>
          </a:ln>
        </p:spPr>
        <p:txBody>
          <a:bodyPr wrap="square" rtlCol="0">
            <a:spAutoFit/>
          </a:bodyPr>
          <a:lstStyle/>
          <a:p>
            <a:pPr algn="ctr"/>
            <a:r>
              <a:rPr lang="es-CO" sz="1200" b="1" noProof="0" dirty="0" err="1">
                <a:solidFill>
                  <a:schemeClr val="accent1"/>
                </a:solidFill>
                <a:latin typeface="Arial Narrow" panose="020B0606020202030204" pitchFamily="34" charset="0"/>
              </a:rPr>
              <a:t>Matérn</a:t>
            </a:r>
            <a:r>
              <a:rPr lang="es-CO" sz="1200" b="1" noProof="0" dirty="0">
                <a:solidFill>
                  <a:schemeClr val="accent1"/>
                </a:solidFill>
                <a:latin typeface="Arial Narrow" panose="020B0606020202030204" pitchFamily="34" charset="0"/>
              </a:rPr>
              <a:t> 0.5</a:t>
            </a:r>
            <a:endParaRPr lang="es-CO" sz="1200" noProof="0" dirty="0">
              <a:latin typeface="Arial Narrow" panose="020B0606020202030204" pitchFamily="34" charset="0"/>
            </a:endParaRPr>
          </a:p>
        </p:txBody>
      </p:sp>
      <p:sp>
        <p:nvSpPr>
          <p:cNvPr id="35" name="CuadroTexto 34">
            <a:extLst>
              <a:ext uri="{FF2B5EF4-FFF2-40B4-BE49-F238E27FC236}">
                <a16:creationId xmlns:a16="http://schemas.microsoft.com/office/drawing/2014/main" id="{3BE5D4DA-F848-92D8-0730-042CFD774DD1}"/>
              </a:ext>
            </a:extLst>
          </p:cNvPr>
          <p:cNvSpPr txBox="1"/>
          <p:nvPr/>
        </p:nvSpPr>
        <p:spPr>
          <a:xfrm>
            <a:off x="6869250" y="761135"/>
            <a:ext cx="1604276" cy="306467"/>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4260126717">
                  <a:custGeom>
                    <a:avLst/>
                    <a:gdLst>
                      <a:gd name="csX0" fmla="*/ 0 w 3395271"/>
                      <a:gd name="csY0" fmla="*/ 0 h 1200329"/>
                      <a:gd name="csX1" fmla="*/ 531926 w 3395271"/>
                      <a:gd name="csY1" fmla="*/ 0 h 1200329"/>
                      <a:gd name="csX2" fmla="*/ 1063852 w 3395271"/>
                      <a:gd name="csY2" fmla="*/ 0 h 1200329"/>
                      <a:gd name="csX3" fmla="*/ 1527872 w 3395271"/>
                      <a:gd name="csY3" fmla="*/ 0 h 1200329"/>
                      <a:gd name="csX4" fmla="*/ 2059798 w 3395271"/>
                      <a:gd name="csY4" fmla="*/ 0 h 1200329"/>
                      <a:gd name="csX5" fmla="*/ 2557771 w 3395271"/>
                      <a:gd name="csY5" fmla="*/ 0 h 1200329"/>
                      <a:gd name="csX6" fmla="*/ 3395271 w 3395271"/>
                      <a:gd name="csY6" fmla="*/ 0 h 1200329"/>
                      <a:gd name="csX7" fmla="*/ 3395271 w 3395271"/>
                      <a:gd name="csY7" fmla="*/ 388106 h 1200329"/>
                      <a:gd name="csX8" fmla="*/ 3395271 w 3395271"/>
                      <a:gd name="csY8" fmla="*/ 752206 h 1200329"/>
                      <a:gd name="csX9" fmla="*/ 3395271 w 3395271"/>
                      <a:gd name="csY9" fmla="*/ 1200329 h 1200329"/>
                      <a:gd name="csX10" fmla="*/ 2863345 w 3395271"/>
                      <a:gd name="csY10" fmla="*/ 1200329 h 1200329"/>
                      <a:gd name="csX11" fmla="*/ 2331419 w 3395271"/>
                      <a:gd name="csY11" fmla="*/ 1200329 h 1200329"/>
                      <a:gd name="csX12" fmla="*/ 1697636 w 3395271"/>
                      <a:gd name="csY12" fmla="*/ 1200329 h 1200329"/>
                      <a:gd name="csX13" fmla="*/ 1063852 w 3395271"/>
                      <a:gd name="csY13" fmla="*/ 1200329 h 1200329"/>
                      <a:gd name="csX14" fmla="*/ 0 w 3395271"/>
                      <a:gd name="csY14" fmla="*/ 1200329 h 1200329"/>
                      <a:gd name="csX15" fmla="*/ 0 w 3395271"/>
                      <a:gd name="csY15" fmla="*/ 836229 h 1200329"/>
                      <a:gd name="csX16" fmla="*/ 0 w 3395271"/>
                      <a:gd name="csY16" fmla="*/ 460126 h 1200329"/>
                      <a:gd name="csX17" fmla="*/ 0 w 3395271"/>
                      <a:gd name="csY17"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395271" h="1200329" extrusionOk="0">
                        <a:moveTo>
                          <a:pt x="0" y="0"/>
                        </a:moveTo>
                        <a:cubicBezTo>
                          <a:pt x="228370" y="-45886"/>
                          <a:pt x="304674" y="52441"/>
                          <a:pt x="531926" y="0"/>
                        </a:cubicBezTo>
                        <a:cubicBezTo>
                          <a:pt x="759178" y="-52441"/>
                          <a:pt x="885416" y="32588"/>
                          <a:pt x="1063852" y="0"/>
                        </a:cubicBezTo>
                        <a:cubicBezTo>
                          <a:pt x="1242288" y="-32588"/>
                          <a:pt x="1344641" y="44362"/>
                          <a:pt x="1527872" y="0"/>
                        </a:cubicBezTo>
                        <a:cubicBezTo>
                          <a:pt x="1711103" y="-44362"/>
                          <a:pt x="1854330" y="50838"/>
                          <a:pt x="2059798" y="0"/>
                        </a:cubicBezTo>
                        <a:cubicBezTo>
                          <a:pt x="2265266" y="-50838"/>
                          <a:pt x="2319237" y="47860"/>
                          <a:pt x="2557771" y="0"/>
                        </a:cubicBezTo>
                        <a:cubicBezTo>
                          <a:pt x="2796305" y="-47860"/>
                          <a:pt x="3166200" y="7397"/>
                          <a:pt x="3395271" y="0"/>
                        </a:cubicBezTo>
                        <a:cubicBezTo>
                          <a:pt x="3409774" y="174650"/>
                          <a:pt x="3387139" y="198465"/>
                          <a:pt x="3395271" y="388106"/>
                        </a:cubicBezTo>
                        <a:cubicBezTo>
                          <a:pt x="3403403" y="577747"/>
                          <a:pt x="3379712" y="647037"/>
                          <a:pt x="3395271" y="752206"/>
                        </a:cubicBezTo>
                        <a:cubicBezTo>
                          <a:pt x="3410830" y="857375"/>
                          <a:pt x="3343972" y="983727"/>
                          <a:pt x="3395271" y="1200329"/>
                        </a:cubicBezTo>
                        <a:cubicBezTo>
                          <a:pt x="3169280" y="1237526"/>
                          <a:pt x="3039290" y="1179410"/>
                          <a:pt x="2863345" y="1200329"/>
                        </a:cubicBezTo>
                        <a:cubicBezTo>
                          <a:pt x="2687400" y="1221248"/>
                          <a:pt x="2442690" y="1175204"/>
                          <a:pt x="2331419" y="1200329"/>
                        </a:cubicBezTo>
                        <a:cubicBezTo>
                          <a:pt x="2220148" y="1225454"/>
                          <a:pt x="1861000" y="1179799"/>
                          <a:pt x="1697636" y="1200329"/>
                        </a:cubicBezTo>
                        <a:cubicBezTo>
                          <a:pt x="1534272" y="1220859"/>
                          <a:pt x="1261839" y="1177063"/>
                          <a:pt x="1063852" y="1200329"/>
                        </a:cubicBezTo>
                        <a:cubicBezTo>
                          <a:pt x="865865" y="1223595"/>
                          <a:pt x="460314" y="1186120"/>
                          <a:pt x="0" y="1200329"/>
                        </a:cubicBezTo>
                        <a:cubicBezTo>
                          <a:pt x="-16910" y="1041046"/>
                          <a:pt x="11209" y="1009314"/>
                          <a:pt x="0" y="836229"/>
                        </a:cubicBezTo>
                        <a:cubicBezTo>
                          <a:pt x="-11209" y="663144"/>
                          <a:pt x="12392" y="632192"/>
                          <a:pt x="0" y="460126"/>
                        </a:cubicBezTo>
                        <a:cubicBezTo>
                          <a:pt x="-12392" y="288060"/>
                          <a:pt x="50997" y="192721"/>
                          <a:pt x="0" y="0"/>
                        </a:cubicBezTo>
                        <a:close/>
                      </a:path>
                    </a:pathLst>
                  </a:custGeom>
                  <ask:type>
                    <ask:lineSketchNone/>
                  </ask:type>
                </ask:lineSketchStyleProps>
              </a:ext>
            </a:extLst>
          </a:ln>
        </p:spPr>
        <p:txBody>
          <a:bodyPr wrap="square" rtlCol="0">
            <a:spAutoFit/>
          </a:bodyPr>
          <a:lstStyle/>
          <a:p>
            <a:pPr algn="ctr"/>
            <a:r>
              <a:rPr lang="es-CO" sz="1200" b="1" noProof="0" dirty="0" err="1">
                <a:solidFill>
                  <a:schemeClr val="accent1"/>
                </a:solidFill>
                <a:latin typeface="Arial Narrow" panose="020B0606020202030204" pitchFamily="34" charset="0"/>
              </a:rPr>
              <a:t>Matérn</a:t>
            </a:r>
            <a:r>
              <a:rPr lang="es-CO" sz="1200" b="1" noProof="0" dirty="0">
                <a:solidFill>
                  <a:schemeClr val="accent1"/>
                </a:solidFill>
                <a:latin typeface="Arial Narrow" panose="020B0606020202030204" pitchFamily="34" charset="0"/>
              </a:rPr>
              <a:t> 1.5</a:t>
            </a:r>
            <a:endParaRPr lang="es-CO" sz="1200" noProof="0" dirty="0">
              <a:latin typeface="Arial Narrow" panose="020B0606020202030204" pitchFamily="34" charset="0"/>
            </a:endParaRPr>
          </a:p>
        </p:txBody>
      </p:sp>
      <p:pic>
        <p:nvPicPr>
          <p:cNvPr id="37" name="Imagen 36">
            <a:extLst>
              <a:ext uri="{FF2B5EF4-FFF2-40B4-BE49-F238E27FC236}">
                <a16:creationId xmlns:a16="http://schemas.microsoft.com/office/drawing/2014/main" id="{086C109A-5EE8-A68B-1E89-5C9B81F66F72}"/>
              </a:ext>
            </a:extLst>
          </p:cNvPr>
          <p:cNvPicPr>
            <a:picLocks noChangeAspect="1"/>
          </p:cNvPicPr>
          <p:nvPr/>
        </p:nvPicPr>
        <p:blipFill>
          <a:blip r:embed="rId2"/>
          <a:stretch>
            <a:fillRect/>
          </a:stretch>
        </p:blipFill>
        <p:spPr>
          <a:xfrm>
            <a:off x="390194" y="1096791"/>
            <a:ext cx="2414742" cy="1437193"/>
          </a:xfrm>
          <a:prstGeom prst="rect">
            <a:avLst/>
          </a:prstGeom>
        </p:spPr>
      </p:pic>
      <p:pic>
        <p:nvPicPr>
          <p:cNvPr id="39" name="Imagen 38">
            <a:extLst>
              <a:ext uri="{FF2B5EF4-FFF2-40B4-BE49-F238E27FC236}">
                <a16:creationId xmlns:a16="http://schemas.microsoft.com/office/drawing/2014/main" id="{6C724A64-98A5-9164-312F-17ECCC716770}"/>
              </a:ext>
            </a:extLst>
          </p:cNvPr>
          <p:cNvPicPr>
            <a:picLocks noChangeAspect="1"/>
          </p:cNvPicPr>
          <p:nvPr/>
        </p:nvPicPr>
        <p:blipFill>
          <a:blip r:embed="rId3"/>
          <a:stretch>
            <a:fillRect/>
          </a:stretch>
        </p:blipFill>
        <p:spPr>
          <a:xfrm>
            <a:off x="390194" y="2571750"/>
            <a:ext cx="2336636" cy="2000893"/>
          </a:xfrm>
          <a:prstGeom prst="rect">
            <a:avLst/>
          </a:prstGeom>
        </p:spPr>
      </p:pic>
      <p:pic>
        <p:nvPicPr>
          <p:cNvPr id="43" name="Imagen 42">
            <a:extLst>
              <a:ext uri="{FF2B5EF4-FFF2-40B4-BE49-F238E27FC236}">
                <a16:creationId xmlns:a16="http://schemas.microsoft.com/office/drawing/2014/main" id="{8B4F29BA-288D-0DBE-EAE0-1A21B60B703F}"/>
              </a:ext>
            </a:extLst>
          </p:cNvPr>
          <p:cNvPicPr>
            <a:picLocks noChangeAspect="1"/>
          </p:cNvPicPr>
          <p:nvPr/>
        </p:nvPicPr>
        <p:blipFill>
          <a:blip r:embed="rId4"/>
          <a:stretch>
            <a:fillRect/>
          </a:stretch>
        </p:blipFill>
        <p:spPr>
          <a:xfrm>
            <a:off x="3495642" y="1096790"/>
            <a:ext cx="2355224" cy="1437193"/>
          </a:xfrm>
          <a:prstGeom prst="rect">
            <a:avLst/>
          </a:prstGeom>
        </p:spPr>
      </p:pic>
      <p:pic>
        <p:nvPicPr>
          <p:cNvPr id="45" name="Imagen 44">
            <a:extLst>
              <a:ext uri="{FF2B5EF4-FFF2-40B4-BE49-F238E27FC236}">
                <a16:creationId xmlns:a16="http://schemas.microsoft.com/office/drawing/2014/main" id="{A442CEDC-5E0F-7930-5E0E-1E210E9DD69E}"/>
              </a:ext>
            </a:extLst>
          </p:cNvPr>
          <p:cNvPicPr>
            <a:picLocks noChangeAspect="1"/>
          </p:cNvPicPr>
          <p:nvPr/>
        </p:nvPicPr>
        <p:blipFill>
          <a:blip r:embed="rId5"/>
          <a:srcRect/>
          <a:stretch/>
        </p:blipFill>
        <p:spPr>
          <a:xfrm>
            <a:off x="3403681" y="2533984"/>
            <a:ext cx="2414741" cy="2067776"/>
          </a:xfrm>
          <a:prstGeom prst="rect">
            <a:avLst/>
          </a:prstGeom>
        </p:spPr>
      </p:pic>
      <p:pic>
        <p:nvPicPr>
          <p:cNvPr id="49" name="Imagen 48">
            <a:extLst>
              <a:ext uri="{FF2B5EF4-FFF2-40B4-BE49-F238E27FC236}">
                <a16:creationId xmlns:a16="http://schemas.microsoft.com/office/drawing/2014/main" id="{E5C6D3BF-79AB-CAF5-814A-6001BE76D7C2}"/>
              </a:ext>
            </a:extLst>
          </p:cNvPr>
          <p:cNvPicPr>
            <a:picLocks noChangeAspect="1"/>
          </p:cNvPicPr>
          <p:nvPr/>
        </p:nvPicPr>
        <p:blipFill>
          <a:blip r:embed="rId6"/>
          <a:stretch>
            <a:fillRect/>
          </a:stretch>
        </p:blipFill>
        <p:spPr>
          <a:xfrm>
            <a:off x="6233302" y="1096791"/>
            <a:ext cx="2520504" cy="1541798"/>
          </a:xfrm>
          <a:prstGeom prst="rect">
            <a:avLst/>
          </a:prstGeom>
        </p:spPr>
      </p:pic>
      <p:pic>
        <p:nvPicPr>
          <p:cNvPr id="51" name="Imagen 50">
            <a:extLst>
              <a:ext uri="{FF2B5EF4-FFF2-40B4-BE49-F238E27FC236}">
                <a16:creationId xmlns:a16="http://schemas.microsoft.com/office/drawing/2014/main" id="{B57612DC-472D-9249-5C3E-B7FB3D0CD963}"/>
              </a:ext>
            </a:extLst>
          </p:cNvPr>
          <p:cNvPicPr>
            <a:picLocks noChangeAspect="1"/>
          </p:cNvPicPr>
          <p:nvPr/>
        </p:nvPicPr>
        <p:blipFill>
          <a:blip r:embed="rId7"/>
          <a:srcRect/>
          <a:stretch/>
        </p:blipFill>
        <p:spPr>
          <a:xfrm>
            <a:off x="6327556" y="2604841"/>
            <a:ext cx="2331995" cy="1996918"/>
          </a:xfrm>
          <a:prstGeom prst="rect">
            <a:avLst/>
          </a:prstGeom>
        </p:spPr>
      </p:pic>
    </p:spTree>
    <p:extLst>
      <p:ext uri="{BB962C8B-B14F-4D97-AF65-F5344CB8AC3E}">
        <p14:creationId xmlns:p14="http://schemas.microsoft.com/office/powerpoint/2010/main" val="993367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F0EC0-8355-2F15-E2B1-F2269A4B45E8}"/>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132B1298-9D50-8018-FB2F-E314E81C34D8}"/>
              </a:ext>
            </a:extLst>
          </p:cNvPr>
          <p:cNvSpPr txBox="1">
            <a:spLocks/>
          </p:cNvSpPr>
          <p:nvPr/>
        </p:nvSpPr>
        <p:spPr>
          <a:xfrm>
            <a:off x="477376" y="310707"/>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sz="2200" dirty="0">
                <a:solidFill>
                  <a:schemeClr val="accent1"/>
                </a:solidFill>
                <a:latin typeface="Ancizar Serif Extrabold" panose="020A0902070300000003" pitchFamily="18" charset="0"/>
                <a:cs typeface="Ancizar Sans Extrabold"/>
              </a:rPr>
              <a:t>Procesos Gaussianos: Selección </a:t>
            </a:r>
            <a:r>
              <a:rPr lang="es-ES" sz="2200" dirty="0" err="1">
                <a:solidFill>
                  <a:schemeClr val="accent1"/>
                </a:solidFill>
                <a:latin typeface="Ancizar Serif Extrabold" panose="020A0902070300000003" pitchFamily="18" charset="0"/>
                <a:cs typeface="Ancizar Sans Extrabold"/>
              </a:rPr>
              <a:t>Kernel</a:t>
            </a:r>
            <a:endParaRPr lang="es-ES" sz="2200" dirty="0">
              <a:solidFill>
                <a:schemeClr val="accent1"/>
              </a:solidFill>
              <a:latin typeface="Ancizar Serif Extrabold" panose="020A0902070300000003" pitchFamily="18" charset="0"/>
              <a:cs typeface="Ancizar Sans Extrabold"/>
            </a:endParaRPr>
          </a:p>
        </p:txBody>
      </p:sp>
      <p:sp>
        <p:nvSpPr>
          <p:cNvPr id="3" name="Marcador de número de diapositiva 2">
            <a:extLst>
              <a:ext uri="{FF2B5EF4-FFF2-40B4-BE49-F238E27FC236}">
                <a16:creationId xmlns:a16="http://schemas.microsoft.com/office/drawing/2014/main" id="{F5EA80C9-D74A-0C36-5B90-5CF0B0541D83}"/>
              </a:ext>
            </a:extLst>
          </p:cNvPr>
          <p:cNvSpPr>
            <a:spLocks noGrp="1"/>
          </p:cNvSpPr>
          <p:nvPr>
            <p:ph type="sldNum" sz="quarter" idx="12"/>
          </p:nvPr>
        </p:nvSpPr>
        <p:spPr/>
        <p:txBody>
          <a:bodyPr/>
          <a:lstStyle/>
          <a:p>
            <a:fld id="{90BC2BA4-81C0-F544-BD72-C8CB9DA7C802}" type="slidenum">
              <a:rPr lang="es-ES" smtClean="0"/>
              <a:pPr/>
              <a:t>11</a:t>
            </a:fld>
            <a:endParaRPr lang="es-ES"/>
          </a:p>
        </p:txBody>
      </p:sp>
      <p:sp>
        <p:nvSpPr>
          <p:cNvPr id="6" name="CuadroTexto 5">
            <a:extLst>
              <a:ext uri="{FF2B5EF4-FFF2-40B4-BE49-F238E27FC236}">
                <a16:creationId xmlns:a16="http://schemas.microsoft.com/office/drawing/2014/main" id="{0E6CDCCC-5E86-C15E-A551-AF0A855DDEA5}"/>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sp>
        <p:nvSpPr>
          <p:cNvPr id="31" name="CuadroTexto 30">
            <a:extLst>
              <a:ext uri="{FF2B5EF4-FFF2-40B4-BE49-F238E27FC236}">
                <a16:creationId xmlns:a16="http://schemas.microsoft.com/office/drawing/2014/main" id="{23FB7718-A46A-4261-34A4-FF67D6E4AF2E}"/>
              </a:ext>
            </a:extLst>
          </p:cNvPr>
          <p:cNvSpPr txBox="1"/>
          <p:nvPr/>
        </p:nvSpPr>
        <p:spPr>
          <a:xfrm>
            <a:off x="1005478" y="752558"/>
            <a:ext cx="1604276" cy="306467"/>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4260126717">
                  <a:custGeom>
                    <a:avLst/>
                    <a:gdLst>
                      <a:gd name="csX0" fmla="*/ 0 w 3395271"/>
                      <a:gd name="csY0" fmla="*/ 0 h 1200329"/>
                      <a:gd name="csX1" fmla="*/ 531926 w 3395271"/>
                      <a:gd name="csY1" fmla="*/ 0 h 1200329"/>
                      <a:gd name="csX2" fmla="*/ 1063852 w 3395271"/>
                      <a:gd name="csY2" fmla="*/ 0 h 1200329"/>
                      <a:gd name="csX3" fmla="*/ 1527872 w 3395271"/>
                      <a:gd name="csY3" fmla="*/ 0 h 1200329"/>
                      <a:gd name="csX4" fmla="*/ 2059798 w 3395271"/>
                      <a:gd name="csY4" fmla="*/ 0 h 1200329"/>
                      <a:gd name="csX5" fmla="*/ 2557771 w 3395271"/>
                      <a:gd name="csY5" fmla="*/ 0 h 1200329"/>
                      <a:gd name="csX6" fmla="*/ 3395271 w 3395271"/>
                      <a:gd name="csY6" fmla="*/ 0 h 1200329"/>
                      <a:gd name="csX7" fmla="*/ 3395271 w 3395271"/>
                      <a:gd name="csY7" fmla="*/ 388106 h 1200329"/>
                      <a:gd name="csX8" fmla="*/ 3395271 w 3395271"/>
                      <a:gd name="csY8" fmla="*/ 752206 h 1200329"/>
                      <a:gd name="csX9" fmla="*/ 3395271 w 3395271"/>
                      <a:gd name="csY9" fmla="*/ 1200329 h 1200329"/>
                      <a:gd name="csX10" fmla="*/ 2863345 w 3395271"/>
                      <a:gd name="csY10" fmla="*/ 1200329 h 1200329"/>
                      <a:gd name="csX11" fmla="*/ 2331419 w 3395271"/>
                      <a:gd name="csY11" fmla="*/ 1200329 h 1200329"/>
                      <a:gd name="csX12" fmla="*/ 1697636 w 3395271"/>
                      <a:gd name="csY12" fmla="*/ 1200329 h 1200329"/>
                      <a:gd name="csX13" fmla="*/ 1063852 w 3395271"/>
                      <a:gd name="csY13" fmla="*/ 1200329 h 1200329"/>
                      <a:gd name="csX14" fmla="*/ 0 w 3395271"/>
                      <a:gd name="csY14" fmla="*/ 1200329 h 1200329"/>
                      <a:gd name="csX15" fmla="*/ 0 w 3395271"/>
                      <a:gd name="csY15" fmla="*/ 836229 h 1200329"/>
                      <a:gd name="csX16" fmla="*/ 0 w 3395271"/>
                      <a:gd name="csY16" fmla="*/ 460126 h 1200329"/>
                      <a:gd name="csX17" fmla="*/ 0 w 3395271"/>
                      <a:gd name="csY17"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395271" h="1200329" extrusionOk="0">
                        <a:moveTo>
                          <a:pt x="0" y="0"/>
                        </a:moveTo>
                        <a:cubicBezTo>
                          <a:pt x="228370" y="-45886"/>
                          <a:pt x="304674" y="52441"/>
                          <a:pt x="531926" y="0"/>
                        </a:cubicBezTo>
                        <a:cubicBezTo>
                          <a:pt x="759178" y="-52441"/>
                          <a:pt x="885416" y="32588"/>
                          <a:pt x="1063852" y="0"/>
                        </a:cubicBezTo>
                        <a:cubicBezTo>
                          <a:pt x="1242288" y="-32588"/>
                          <a:pt x="1344641" y="44362"/>
                          <a:pt x="1527872" y="0"/>
                        </a:cubicBezTo>
                        <a:cubicBezTo>
                          <a:pt x="1711103" y="-44362"/>
                          <a:pt x="1854330" y="50838"/>
                          <a:pt x="2059798" y="0"/>
                        </a:cubicBezTo>
                        <a:cubicBezTo>
                          <a:pt x="2265266" y="-50838"/>
                          <a:pt x="2319237" y="47860"/>
                          <a:pt x="2557771" y="0"/>
                        </a:cubicBezTo>
                        <a:cubicBezTo>
                          <a:pt x="2796305" y="-47860"/>
                          <a:pt x="3166200" y="7397"/>
                          <a:pt x="3395271" y="0"/>
                        </a:cubicBezTo>
                        <a:cubicBezTo>
                          <a:pt x="3409774" y="174650"/>
                          <a:pt x="3387139" y="198465"/>
                          <a:pt x="3395271" y="388106"/>
                        </a:cubicBezTo>
                        <a:cubicBezTo>
                          <a:pt x="3403403" y="577747"/>
                          <a:pt x="3379712" y="647037"/>
                          <a:pt x="3395271" y="752206"/>
                        </a:cubicBezTo>
                        <a:cubicBezTo>
                          <a:pt x="3410830" y="857375"/>
                          <a:pt x="3343972" y="983727"/>
                          <a:pt x="3395271" y="1200329"/>
                        </a:cubicBezTo>
                        <a:cubicBezTo>
                          <a:pt x="3169280" y="1237526"/>
                          <a:pt x="3039290" y="1179410"/>
                          <a:pt x="2863345" y="1200329"/>
                        </a:cubicBezTo>
                        <a:cubicBezTo>
                          <a:pt x="2687400" y="1221248"/>
                          <a:pt x="2442690" y="1175204"/>
                          <a:pt x="2331419" y="1200329"/>
                        </a:cubicBezTo>
                        <a:cubicBezTo>
                          <a:pt x="2220148" y="1225454"/>
                          <a:pt x="1861000" y="1179799"/>
                          <a:pt x="1697636" y="1200329"/>
                        </a:cubicBezTo>
                        <a:cubicBezTo>
                          <a:pt x="1534272" y="1220859"/>
                          <a:pt x="1261839" y="1177063"/>
                          <a:pt x="1063852" y="1200329"/>
                        </a:cubicBezTo>
                        <a:cubicBezTo>
                          <a:pt x="865865" y="1223595"/>
                          <a:pt x="460314" y="1186120"/>
                          <a:pt x="0" y="1200329"/>
                        </a:cubicBezTo>
                        <a:cubicBezTo>
                          <a:pt x="-16910" y="1041046"/>
                          <a:pt x="11209" y="1009314"/>
                          <a:pt x="0" y="836229"/>
                        </a:cubicBezTo>
                        <a:cubicBezTo>
                          <a:pt x="-11209" y="663144"/>
                          <a:pt x="12392" y="632192"/>
                          <a:pt x="0" y="460126"/>
                        </a:cubicBezTo>
                        <a:cubicBezTo>
                          <a:pt x="-12392" y="288060"/>
                          <a:pt x="50997" y="192721"/>
                          <a:pt x="0" y="0"/>
                        </a:cubicBezTo>
                        <a:close/>
                      </a:path>
                    </a:pathLst>
                  </a:custGeom>
                  <ask:type>
                    <ask:lineSketchNone/>
                  </ask:type>
                </ask:lineSketchStyleProps>
              </a:ext>
            </a:extLst>
          </a:ln>
        </p:spPr>
        <p:txBody>
          <a:bodyPr wrap="square" rtlCol="0">
            <a:spAutoFit/>
          </a:bodyPr>
          <a:lstStyle/>
          <a:p>
            <a:pPr algn="ctr"/>
            <a:r>
              <a:rPr lang="es-CO" sz="1200" b="1" noProof="0" dirty="0" err="1">
                <a:solidFill>
                  <a:schemeClr val="accent1"/>
                </a:solidFill>
                <a:latin typeface="Arial Narrow" panose="020B0606020202030204" pitchFamily="34" charset="0"/>
              </a:rPr>
              <a:t>Rational</a:t>
            </a:r>
            <a:r>
              <a:rPr lang="es-CO" sz="1200" b="1" noProof="0" dirty="0">
                <a:solidFill>
                  <a:schemeClr val="accent1"/>
                </a:solidFill>
                <a:latin typeface="Arial Narrow" panose="020B0606020202030204" pitchFamily="34" charset="0"/>
              </a:rPr>
              <a:t> </a:t>
            </a:r>
            <a:r>
              <a:rPr lang="es-CO" sz="1200" b="1" noProof="0" dirty="0" err="1">
                <a:solidFill>
                  <a:schemeClr val="accent1"/>
                </a:solidFill>
                <a:latin typeface="Arial Narrow" panose="020B0606020202030204" pitchFamily="34" charset="0"/>
              </a:rPr>
              <a:t>Quadratic</a:t>
            </a:r>
            <a:endParaRPr lang="es-CO" sz="1200" noProof="0" dirty="0">
              <a:latin typeface="Arial Narrow" panose="020B0606020202030204" pitchFamily="34" charset="0"/>
            </a:endParaRPr>
          </a:p>
        </p:txBody>
      </p:sp>
      <p:sp>
        <p:nvSpPr>
          <p:cNvPr id="33" name="CuadroTexto 32">
            <a:extLst>
              <a:ext uri="{FF2B5EF4-FFF2-40B4-BE49-F238E27FC236}">
                <a16:creationId xmlns:a16="http://schemas.microsoft.com/office/drawing/2014/main" id="{FBD7BE1C-BDBC-FB7D-65E6-488CB774C94C}"/>
              </a:ext>
            </a:extLst>
          </p:cNvPr>
          <p:cNvSpPr txBox="1"/>
          <p:nvPr/>
        </p:nvSpPr>
        <p:spPr>
          <a:xfrm>
            <a:off x="3937364" y="763793"/>
            <a:ext cx="1604276" cy="306467"/>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4260126717">
                  <a:custGeom>
                    <a:avLst/>
                    <a:gdLst>
                      <a:gd name="csX0" fmla="*/ 0 w 3395271"/>
                      <a:gd name="csY0" fmla="*/ 0 h 1200329"/>
                      <a:gd name="csX1" fmla="*/ 531926 w 3395271"/>
                      <a:gd name="csY1" fmla="*/ 0 h 1200329"/>
                      <a:gd name="csX2" fmla="*/ 1063852 w 3395271"/>
                      <a:gd name="csY2" fmla="*/ 0 h 1200329"/>
                      <a:gd name="csX3" fmla="*/ 1527872 w 3395271"/>
                      <a:gd name="csY3" fmla="*/ 0 h 1200329"/>
                      <a:gd name="csX4" fmla="*/ 2059798 w 3395271"/>
                      <a:gd name="csY4" fmla="*/ 0 h 1200329"/>
                      <a:gd name="csX5" fmla="*/ 2557771 w 3395271"/>
                      <a:gd name="csY5" fmla="*/ 0 h 1200329"/>
                      <a:gd name="csX6" fmla="*/ 3395271 w 3395271"/>
                      <a:gd name="csY6" fmla="*/ 0 h 1200329"/>
                      <a:gd name="csX7" fmla="*/ 3395271 w 3395271"/>
                      <a:gd name="csY7" fmla="*/ 388106 h 1200329"/>
                      <a:gd name="csX8" fmla="*/ 3395271 w 3395271"/>
                      <a:gd name="csY8" fmla="*/ 752206 h 1200329"/>
                      <a:gd name="csX9" fmla="*/ 3395271 w 3395271"/>
                      <a:gd name="csY9" fmla="*/ 1200329 h 1200329"/>
                      <a:gd name="csX10" fmla="*/ 2863345 w 3395271"/>
                      <a:gd name="csY10" fmla="*/ 1200329 h 1200329"/>
                      <a:gd name="csX11" fmla="*/ 2331419 w 3395271"/>
                      <a:gd name="csY11" fmla="*/ 1200329 h 1200329"/>
                      <a:gd name="csX12" fmla="*/ 1697636 w 3395271"/>
                      <a:gd name="csY12" fmla="*/ 1200329 h 1200329"/>
                      <a:gd name="csX13" fmla="*/ 1063852 w 3395271"/>
                      <a:gd name="csY13" fmla="*/ 1200329 h 1200329"/>
                      <a:gd name="csX14" fmla="*/ 0 w 3395271"/>
                      <a:gd name="csY14" fmla="*/ 1200329 h 1200329"/>
                      <a:gd name="csX15" fmla="*/ 0 w 3395271"/>
                      <a:gd name="csY15" fmla="*/ 836229 h 1200329"/>
                      <a:gd name="csX16" fmla="*/ 0 w 3395271"/>
                      <a:gd name="csY16" fmla="*/ 460126 h 1200329"/>
                      <a:gd name="csX17" fmla="*/ 0 w 3395271"/>
                      <a:gd name="csY17"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395271" h="1200329" extrusionOk="0">
                        <a:moveTo>
                          <a:pt x="0" y="0"/>
                        </a:moveTo>
                        <a:cubicBezTo>
                          <a:pt x="228370" y="-45886"/>
                          <a:pt x="304674" y="52441"/>
                          <a:pt x="531926" y="0"/>
                        </a:cubicBezTo>
                        <a:cubicBezTo>
                          <a:pt x="759178" y="-52441"/>
                          <a:pt x="885416" y="32588"/>
                          <a:pt x="1063852" y="0"/>
                        </a:cubicBezTo>
                        <a:cubicBezTo>
                          <a:pt x="1242288" y="-32588"/>
                          <a:pt x="1344641" y="44362"/>
                          <a:pt x="1527872" y="0"/>
                        </a:cubicBezTo>
                        <a:cubicBezTo>
                          <a:pt x="1711103" y="-44362"/>
                          <a:pt x="1854330" y="50838"/>
                          <a:pt x="2059798" y="0"/>
                        </a:cubicBezTo>
                        <a:cubicBezTo>
                          <a:pt x="2265266" y="-50838"/>
                          <a:pt x="2319237" y="47860"/>
                          <a:pt x="2557771" y="0"/>
                        </a:cubicBezTo>
                        <a:cubicBezTo>
                          <a:pt x="2796305" y="-47860"/>
                          <a:pt x="3166200" y="7397"/>
                          <a:pt x="3395271" y="0"/>
                        </a:cubicBezTo>
                        <a:cubicBezTo>
                          <a:pt x="3409774" y="174650"/>
                          <a:pt x="3387139" y="198465"/>
                          <a:pt x="3395271" y="388106"/>
                        </a:cubicBezTo>
                        <a:cubicBezTo>
                          <a:pt x="3403403" y="577747"/>
                          <a:pt x="3379712" y="647037"/>
                          <a:pt x="3395271" y="752206"/>
                        </a:cubicBezTo>
                        <a:cubicBezTo>
                          <a:pt x="3410830" y="857375"/>
                          <a:pt x="3343972" y="983727"/>
                          <a:pt x="3395271" y="1200329"/>
                        </a:cubicBezTo>
                        <a:cubicBezTo>
                          <a:pt x="3169280" y="1237526"/>
                          <a:pt x="3039290" y="1179410"/>
                          <a:pt x="2863345" y="1200329"/>
                        </a:cubicBezTo>
                        <a:cubicBezTo>
                          <a:pt x="2687400" y="1221248"/>
                          <a:pt x="2442690" y="1175204"/>
                          <a:pt x="2331419" y="1200329"/>
                        </a:cubicBezTo>
                        <a:cubicBezTo>
                          <a:pt x="2220148" y="1225454"/>
                          <a:pt x="1861000" y="1179799"/>
                          <a:pt x="1697636" y="1200329"/>
                        </a:cubicBezTo>
                        <a:cubicBezTo>
                          <a:pt x="1534272" y="1220859"/>
                          <a:pt x="1261839" y="1177063"/>
                          <a:pt x="1063852" y="1200329"/>
                        </a:cubicBezTo>
                        <a:cubicBezTo>
                          <a:pt x="865865" y="1223595"/>
                          <a:pt x="460314" y="1186120"/>
                          <a:pt x="0" y="1200329"/>
                        </a:cubicBezTo>
                        <a:cubicBezTo>
                          <a:pt x="-16910" y="1041046"/>
                          <a:pt x="11209" y="1009314"/>
                          <a:pt x="0" y="836229"/>
                        </a:cubicBezTo>
                        <a:cubicBezTo>
                          <a:pt x="-11209" y="663144"/>
                          <a:pt x="12392" y="632192"/>
                          <a:pt x="0" y="460126"/>
                        </a:cubicBezTo>
                        <a:cubicBezTo>
                          <a:pt x="-12392" y="288060"/>
                          <a:pt x="50997" y="192721"/>
                          <a:pt x="0" y="0"/>
                        </a:cubicBezTo>
                        <a:close/>
                      </a:path>
                    </a:pathLst>
                  </a:custGeom>
                  <ask:type>
                    <ask:lineSketchNone/>
                  </ask:type>
                </ask:lineSketchStyleProps>
              </a:ext>
            </a:extLst>
          </a:ln>
        </p:spPr>
        <p:txBody>
          <a:bodyPr wrap="square" rtlCol="0">
            <a:spAutoFit/>
          </a:bodyPr>
          <a:lstStyle/>
          <a:p>
            <a:pPr algn="ctr"/>
            <a:r>
              <a:rPr lang="es-CO" sz="1200" b="1" noProof="0" dirty="0" err="1">
                <a:solidFill>
                  <a:schemeClr val="accent1"/>
                </a:solidFill>
                <a:latin typeface="Arial Narrow" panose="020B0606020202030204" pitchFamily="34" charset="0"/>
              </a:rPr>
              <a:t>Matérn</a:t>
            </a:r>
            <a:r>
              <a:rPr lang="es-CO" sz="1200" b="1" noProof="0" dirty="0">
                <a:solidFill>
                  <a:schemeClr val="accent1"/>
                </a:solidFill>
                <a:latin typeface="Arial Narrow" panose="020B0606020202030204" pitchFamily="34" charset="0"/>
              </a:rPr>
              <a:t> 0.5</a:t>
            </a:r>
            <a:endParaRPr lang="es-CO" sz="1200" noProof="0" dirty="0">
              <a:latin typeface="Arial Narrow" panose="020B0606020202030204" pitchFamily="34" charset="0"/>
            </a:endParaRPr>
          </a:p>
        </p:txBody>
      </p:sp>
      <p:sp>
        <p:nvSpPr>
          <p:cNvPr id="35" name="CuadroTexto 34">
            <a:extLst>
              <a:ext uri="{FF2B5EF4-FFF2-40B4-BE49-F238E27FC236}">
                <a16:creationId xmlns:a16="http://schemas.microsoft.com/office/drawing/2014/main" id="{60242259-B89C-541C-5673-4785ACD3FE2D}"/>
              </a:ext>
            </a:extLst>
          </p:cNvPr>
          <p:cNvSpPr txBox="1"/>
          <p:nvPr/>
        </p:nvSpPr>
        <p:spPr>
          <a:xfrm>
            <a:off x="6869250" y="761135"/>
            <a:ext cx="1604276" cy="306467"/>
          </a:xfrm>
          <a:prstGeom prst="roundRect">
            <a:avLst/>
          </a:prstGeom>
          <a:solidFill>
            <a:schemeClr val="tx1">
              <a:lumMod val="10000"/>
              <a:lumOff val="90000"/>
              <a:alpha val="51000"/>
            </a:schemeClr>
          </a:solidFill>
          <a:ln w="12700">
            <a:solidFill>
              <a:schemeClr val="accent5">
                <a:lumMod val="75000"/>
              </a:schemeClr>
            </a:solidFill>
            <a:prstDash val="solid"/>
            <a:extLst>
              <a:ext uri="{C807C97D-BFC1-408E-A445-0C87EB9F89A2}">
                <ask:lineSketchStyleProps xmlns:ask="http://schemas.microsoft.com/office/drawing/2018/sketchyshapes" sd="4260126717">
                  <a:custGeom>
                    <a:avLst/>
                    <a:gdLst>
                      <a:gd name="csX0" fmla="*/ 0 w 3395271"/>
                      <a:gd name="csY0" fmla="*/ 0 h 1200329"/>
                      <a:gd name="csX1" fmla="*/ 531926 w 3395271"/>
                      <a:gd name="csY1" fmla="*/ 0 h 1200329"/>
                      <a:gd name="csX2" fmla="*/ 1063852 w 3395271"/>
                      <a:gd name="csY2" fmla="*/ 0 h 1200329"/>
                      <a:gd name="csX3" fmla="*/ 1527872 w 3395271"/>
                      <a:gd name="csY3" fmla="*/ 0 h 1200329"/>
                      <a:gd name="csX4" fmla="*/ 2059798 w 3395271"/>
                      <a:gd name="csY4" fmla="*/ 0 h 1200329"/>
                      <a:gd name="csX5" fmla="*/ 2557771 w 3395271"/>
                      <a:gd name="csY5" fmla="*/ 0 h 1200329"/>
                      <a:gd name="csX6" fmla="*/ 3395271 w 3395271"/>
                      <a:gd name="csY6" fmla="*/ 0 h 1200329"/>
                      <a:gd name="csX7" fmla="*/ 3395271 w 3395271"/>
                      <a:gd name="csY7" fmla="*/ 388106 h 1200329"/>
                      <a:gd name="csX8" fmla="*/ 3395271 w 3395271"/>
                      <a:gd name="csY8" fmla="*/ 752206 h 1200329"/>
                      <a:gd name="csX9" fmla="*/ 3395271 w 3395271"/>
                      <a:gd name="csY9" fmla="*/ 1200329 h 1200329"/>
                      <a:gd name="csX10" fmla="*/ 2863345 w 3395271"/>
                      <a:gd name="csY10" fmla="*/ 1200329 h 1200329"/>
                      <a:gd name="csX11" fmla="*/ 2331419 w 3395271"/>
                      <a:gd name="csY11" fmla="*/ 1200329 h 1200329"/>
                      <a:gd name="csX12" fmla="*/ 1697636 w 3395271"/>
                      <a:gd name="csY12" fmla="*/ 1200329 h 1200329"/>
                      <a:gd name="csX13" fmla="*/ 1063852 w 3395271"/>
                      <a:gd name="csY13" fmla="*/ 1200329 h 1200329"/>
                      <a:gd name="csX14" fmla="*/ 0 w 3395271"/>
                      <a:gd name="csY14" fmla="*/ 1200329 h 1200329"/>
                      <a:gd name="csX15" fmla="*/ 0 w 3395271"/>
                      <a:gd name="csY15" fmla="*/ 836229 h 1200329"/>
                      <a:gd name="csX16" fmla="*/ 0 w 3395271"/>
                      <a:gd name="csY16" fmla="*/ 460126 h 1200329"/>
                      <a:gd name="csX17" fmla="*/ 0 w 3395271"/>
                      <a:gd name="csY17" fmla="*/ 0 h 1200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395271" h="1200329" extrusionOk="0">
                        <a:moveTo>
                          <a:pt x="0" y="0"/>
                        </a:moveTo>
                        <a:cubicBezTo>
                          <a:pt x="228370" y="-45886"/>
                          <a:pt x="304674" y="52441"/>
                          <a:pt x="531926" y="0"/>
                        </a:cubicBezTo>
                        <a:cubicBezTo>
                          <a:pt x="759178" y="-52441"/>
                          <a:pt x="885416" y="32588"/>
                          <a:pt x="1063852" y="0"/>
                        </a:cubicBezTo>
                        <a:cubicBezTo>
                          <a:pt x="1242288" y="-32588"/>
                          <a:pt x="1344641" y="44362"/>
                          <a:pt x="1527872" y="0"/>
                        </a:cubicBezTo>
                        <a:cubicBezTo>
                          <a:pt x="1711103" y="-44362"/>
                          <a:pt x="1854330" y="50838"/>
                          <a:pt x="2059798" y="0"/>
                        </a:cubicBezTo>
                        <a:cubicBezTo>
                          <a:pt x="2265266" y="-50838"/>
                          <a:pt x="2319237" y="47860"/>
                          <a:pt x="2557771" y="0"/>
                        </a:cubicBezTo>
                        <a:cubicBezTo>
                          <a:pt x="2796305" y="-47860"/>
                          <a:pt x="3166200" y="7397"/>
                          <a:pt x="3395271" y="0"/>
                        </a:cubicBezTo>
                        <a:cubicBezTo>
                          <a:pt x="3409774" y="174650"/>
                          <a:pt x="3387139" y="198465"/>
                          <a:pt x="3395271" y="388106"/>
                        </a:cubicBezTo>
                        <a:cubicBezTo>
                          <a:pt x="3403403" y="577747"/>
                          <a:pt x="3379712" y="647037"/>
                          <a:pt x="3395271" y="752206"/>
                        </a:cubicBezTo>
                        <a:cubicBezTo>
                          <a:pt x="3410830" y="857375"/>
                          <a:pt x="3343972" y="983727"/>
                          <a:pt x="3395271" y="1200329"/>
                        </a:cubicBezTo>
                        <a:cubicBezTo>
                          <a:pt x="3169280" y="1237526"/>
                          <a:pt x="3039290" y="1179410"/>
                          <a:pt x="2863345" y="1200329"/>
                        </a:cubicBezTo>
                        <a:cubicBezTo>
                          <a:pt x="2687400" y="1221248"/>
                          <a:pt x="2442690" y="1175204"/>
                          <a:pt x="2331419" y="1200329"/>
                        </a:cubicBezTo>
                        <a:cubicBezTo>
                          <a:pt x="2220148" y="1225454"/>
                          <a:pt x="1861000" y="1179799"/>
                          <a:pt x="1697636" y="1200329"/>
                        </a:cubicBezTo>
                        <a:cubicBezTo>
                          <a:pt x="1534272" y="1220859"/>
                          <a:pt x="1261839" y="1177063"/>
                          <a:pt x="1063852" y="1200329"/>
                        </a:cubicBezTo>
                        <a:cubicBezTo>
                          <a:pt x="865865" y="1223595"/>
                          <a:pt x="460314" y="1186120"/>
                          <a:pt x="0" y="1200329"/>
                        </a:cubicBezTo>
                        <a:cubicBezTo>
                          <a:pt x="-16910" y="1041046"/>
                          <a:pt x="11209" y="1009314"/>
                          <a:pt x="0" y="836229"/>
                        </a:cubicBezTo>
                        <a:cubicBezTo>
                          <a:pt x="-11209" y="663144"/>
                          <a:pt x="12392" y="632192"/>
                          <a:pt x="0" y="460126"/>
                        </a:cubicBezTo>
                        <a:cubicBezTo>
                          <a:pt x="-12392" y="288060"/>
                          <a:pt x="50997" y="192721"/>
                          <a:pt x="0" y="0"/>
                        </a:cubicBezTo>
                        <a:close/>
                      </a:path>
                    </a:pathLst>
                  </a:custGeom>
                  <ask:type>
                    <ask:lineSketchNone/>
                  </ask:type>
                </ask:lineSketchStyleProps>
              </a:ext>
            </a:extLst>
          </a:ln>
        </p:spPr>
        <p:txBody>
          <a:bodyPr wrap="square" rtlCol="0">
            <a:spAutoFit/>
          </a:bodyPr>
          <a:lstStyle/>
          <a:p>
            <a:pPr algn="ctr"/>
            <a:r>
              <a:rPr lang="es-CO" sz="1200" b="1" noProof="0" dirty="0" err="1">
                <a:solidFill>
                  <a:schemeClr val="accent1"/>
                </a:solidFill>
                <a:latin typeface="Arial Narrow" panose="020B0606020202030204" pitchFamily="34" charset="0"/>
              </a:rPr>
              <a:t>Matérn</a:t>
            </a:r>
            <a:r>
              <a:rPr lang="es-CO" sz="1200" b="1" noProof="0" dirty="0">
                <a:solidFill>
                  <a:schemeClr val="accent1"/>
                </a:solidFill>
                <a:latin typeface="Arial Narrow" panose="020B0606020202030204" pitchFamily="34" charset="0"/>
              </a:rPr>
              <a:t> 1.5</a:t>
            </a:r>
            <a:endParaRPr lang="es-CO" sz="1200" noProof="0" dirty="0">
              <a:latin typeface="Arial Narrow" panose="020B0606020202030204" pitchFamily="34" charset="0"/>
            </a:endParaRPr>
          </a:p>
        </p:txBody>
      </p:sp>
      <p:pic>
        <p:nvPicPr>
          <p:cNvPr id="5" name="Imagen 4">
            <a:extLst>
              <a:ext uri="{FF2B5EF4-FFF2-40B4-BE49-F238E27FC236}">
                <a16:creationId xmlns:a16="http://schemas.microsoft.com/office/drawing/2014/main" id="{956473D4-E33F-E233-7E89-26B5BFF0F467}"/>
              </a:ext>
            </a:extLst>
          </p:cNvPr>
          <p:cNvPicPr>
            <a:picLocks noChangeAspect="1"/>
          </p:cNvPicPr>
          <p:nvPr/>
        </p:nvPicPr>
        <p:blipFill>
          <a:blip r:embed="rId2"/>
          <a:srcRect t="8081" r="49539"/>
          <a:stretch>
            <a:fillRect/>
          </a:stretch>
        </p:blipFill>
        <p:spPr>
          <a:xfrm>
            <a:off x="6460945" y="1207408"/>
            <a:ext cx="2266582" cy="1690914"/>
          </a:xfrm>
          <a:prstGeom prst="rect">
            <a:avLst/>
          </a:prstGeom>
        </p:spPr>
      </p:pic>
      <p:pic>
        <p:nvPicPr>
          <p:cNvPr id="8" name="Imagen 7">
            <a:extLst>
              <a:ext uri="{FF2B5EF4-FFF2-40B4-BE49-F238E27FC236}">
                <a16:creationId xmlns:a16="http://schemas.microsoft.com/office/drawing/2014/main" id="{5631A148-CDB7-BC98-DFD7-9B543AE33A3B}"/>
              </a:ext>
            </a:extLst>
          </p:cNvPr>
          <p:cNvPicPr>
            <a:picLocks noChangeAspect="1"/>
          </p:cNvPicPr>
          <p:nvPr/>
        </p:nvPicPr>
        <p:blipFill>
          <a:blip r:embed="rId2"/>
          <a:srcRect l="50000" t="8080" r="-461"/>
          <a:stretch>
            <a:fillRect/>
          </a:stretch>
        </p:blipFill>
        <p:spPr>
          <a:xfrm>
            <a:off x="6439173" y="2898322"/>
            <a:ext cx="2266582" cy="1690914"/>
          </a:xfrm>
          <a:prstGeom prst="rect">
            <a:avLst/>
          </a:prstGeom>
        </p:spPr>
      </p:pic>
      <p:pic>
        <p:nvPicPr>
          <p:cNvPr id="10" name="Imagen 9">
            <a:extLst>
              <a:ext uri="{FF2B5EF4-FFF2-40B4-BE49-F238E27FC236}">
                <a16:creationId xmlns:a16="http://schemas.microsoft.com/office/drawing/2014/main" id="{EA1A9C13-6E25-D33C-9805-15980CF16A01}"/>
              </a:ext>
            </a:extLst>
          </p:cNvPr>
          <p:cNvPicPr>
            <a:picLocks noChangeAspect="1"/>
          </p:cNvPicPr>
          <p:nvPr/>
        </p:nvPicPr>
        <p:blipFill>
          <a:blip r:embed="rId3"/>
          <a:srcRect t="9906" r="50000"/>
          <a:stretch>
            <a:fillRect/>
          </a:stretch>
        </p:blipFill>
        <p:spPr>
          <a:xfrm>
            <a:off x="3547372" y="1104545"/>
            <a:ext cx="2384260" cy="1759489"/>
          </a:xfrm>
          <a:prstGeom prst="rect">
            <a:avLst/>
          </a:prstGeom>
        </p:spPr>
      </p:pic>
      <p:pic>
        <p:nvPicPr>
          <p:cNvPr id="12" name="Imagen 11">
            <a:extLst>
              <a:ext uri="{FF2B5EF4-FFF2-40B4-BE49-F238E27FC236}">
                <a16:creationId xmlns:a16="http://schemas.microsoft.com/office/drawing/2014/main" id="{4E310C4A-21D8-6B07-E852-3C9115B8436D}"/>
              </a:ext>
            </a:extLst>
          </p:cNvPr>
          <p:cNvPicPr>
            <a:picLocks noChangeAspect="1"/>
          </p:cNvPicPr>
          <p:nvPr/>
        </p:nvPicPr>
        <p:blipFill>
          <a:blip r:embed="rId3"/>
          <a:srcRect l="49528" t="7595" r="472" b="2310"/>
          <a:stretch>
            <a:fillRect/>
          </a:stretch>
        </p:blipFill>
        <p:spPr>
          <a:xfrm>
            <a:off x="3547372" y="2820492"/>
            <a:ext cx="2384260" cy="1759489"/>
          </a:xfrm>
          <a:prstGeom prst="rect">
            <a:avLst/>
          </a:prstGeom>
        </p:spPr>
      </p:pic>
      <p:pic>
        <p:nvPicPr>
          <p:cNvPr id="14" name="Imagen 13">
            <a:extLst>
              <a:ext uri="{FF2B5EF4-FFF2-40B4-BE49-F238E27FC236}">
                <a16:creationId xmlns:a16="http://schemas.microsoft.com/office/drawing/2014/main" id="{73D3B345-466D-4DB1-57C9-E07FF6B9C450}"/>
              </a:ext>
            </a:extLst>
          </p:cNvPr>
          <p:cNvPicPr>
            <a:picLocks noChangeAspect="1"/>
          </p:cNvPicPr>
          <p:nvPr/>
        </p:nvPicPr>
        <p:blipFill>
          <a:blip r:embed="rId4"/>
          <a:srcRect t="9906" r="50000"/>
          <a:stretch>
            <a:fillRect/>
          </a:stretch>
        </p:blipFill>
        <p:spPr>
          <a:xfrm>
            <a:off x="477376" y="1104545"/>
            <a:ext cx="2384260" cy="1759489"/>
          </a:xfrm>
          <a:prstGeom prst="rect">
            <a:avLst/>
          </a:prstGeom>
        </p:spPr>
      </p:pic>
      <p:pic>
        <p:nvPicPr>
          <p:cNvPr id="16" name="Imagen 15">
            <a:extLst>
              <a:ext uri="{FF2B5EF4-FFF2-40B4-BE49-F238E27FC236}">
                <a16:creationId xmlns:a16="http://schemas.microsoft.com/office/drawing/2014/main" id="{23135866-F89B-4F60-8641-5FD27CD99817}"/>
              </a:ext>
            </a:extLst>
          </p:cNvPr>
          <p:cNvPicPr>
            <a:picLocks noChangeAspect="1"/>
          </p:cNvPicPr>
          <p:nvPr/>
        </p:nvPicPr>
        <p:blipFill>
          <a:blip r:embed="rId4"/>
          <a:srcRect l="49941" t="9906" r="59"/>
          <a:stretch>
            <a:fillRect/>
          </a:stretch>
        </p:blipFill>
        <p:spPr>
          <a:xfrm>
            <a:off x="474530" y="2864034"/>
            <a:ext cx="2384260" cy="1759489"/>
          </a:xfrm>
          <a:prstGeom prst="rect">
            <a:avLst/>
          </a:prstGeom>
        </p:spPr>
      </p:pic>
    </p:spTree>
    <p:extLst>
      <p:ext uri="{BB962C8B-B14F-4D97-AF65-F5344CB8AC3E}">
        <p14:creationId xmlns:p14="http://schemas.microsoft.com/office/powerpoint/2010/main" val="2561326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912DB-FC5B-5526-1FE0-B5FCD7626A1C}"/>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750BCFCD-3333-B2AD-E199-2A5158FB76BA}"/>
              </a:ext>
            </a:extLst>
          </p:cNvPr>
          <p:cNvSpPr txBox="1">
            <a:spLocks/>
          </p:cNvSpPr>
          <p:nvPr/>
        </p:nvSpPr>
        <p:spPr>
          <a:xfrm>
            <a:off x="477376" y="310707"/>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sz="2200" dirty="0">
                <a:solidFill>
                  <a:schemeClr val="accent1"/>
                </a:solidFill>
                <a:latin typeface="Ancizar Serif Extrabold" panose="020A0902070300000003" pitchFamily="18" charset="0"/>
                <a:cs typeface="Ancizar Sans Extrabold"/>
              </a:rPr>
              <a:t>Procesos Gaussianos: Resultados</a:t>
            </a:r>
          </a:p>
        </p:txBody>
      </p:sp>
      <p:sp>
        <p:nvSpPr>
          <p:cNvPr id="3" name="Marcador de número de diapositiva 2">
            <a:extLst>
              <a:ext uri="{FF2B5EF4-FFF2-40B4-BE49-F238E27FC236}">
                <a16:creationId xmlns:a16="http://schemas.microsoft.com/office/drawing/2014/main" id="{2CB4C293-6D6C-6D95-EE3F-BF51B9EA7BD0}"/>
              </a:ext>
            </a:extLst>
          </p:cNvPr>
          <p:cNvSpPr>
            <a:spLocks noGrp="1"/>
          </p:cNvSpPr>
          <p:nvPr>
            <p:ph type="sldNum" sz="quarter" idx="12"/>
          </p:nvPr>
        </p:nvSpPr>
        <p:spPr/>
        <p:txBody>
          <a:bodyPr/>
          <a:lstStyle/>
          <a:p>
            <a:fld id="{90BC2BA4-81C0-F544-BD72-C8CB9DA7C802}" type="slidenum">
              <a:rPr lang="es-ES" smtClean="0"/>
              <a:pPr/>
              <a:t>12</a:t>
            </a:fld>
            <a:endParaRPr lang="es-ES"/>
          </a:p>
        </p:txBody>
      </p:sp>
      <p:sp>
        <p:nvSpPr>
          <p:cNvPr id="6" name="CuadroTexto 5">
            <a:extLst>
              <a:ext uri="{FF2B5EF4-FFF2-40B4-BE49-F238E27FC236}">
                <a16:creationId xmlns:a16="http://schemas.microsoft.com/office/drawing/2014/main" id="{B6E28B18-036F-C797-A203-4D5D46C03C39}"/>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pic>
        <p:nvPicPr>
          <p:cNvPr id="15" name="Imagen 14">
            <a:extLst>
              <a:ext uri="{FF2B5EF4-FFF2-40B4-BE49-F238E27FC236}">
                <a16:creationId xmlns:a16="http://schemas.microsoft.com/office/drawing/2014/main" id="{7BB17D44-3FF0-3EAC-F46D-C83807F27616}"/>
              </a:ext>
            </a:extLst>
          </p:cNvPr>
          <p:cNvPicPr>
            <a:picLocks noChangeAspect="1"/>
          </p:cNvPicPr>
          <p:nvPr/>
        </p:nvPicPr>
        <p:blipFill>
          <a:blip r:embed="rId2"/>
          <a:srcRect/>
          <a:stretch/>
        </p:blipFill>
        <p:spPr>
          <a:xfrm>
            <a:off x="396240" y="1020508"/>
            <a:ext cx="3871240" cy="3310190"/>
          </a:xfrm>
          <a:prstGeom prst="rect">
            <a:avLst/>
          </a:prstGeom>
        </p:spPr>
      </p:pic>
      <p:pic>
        <p:nvPicPr>
          <p:cNvPr id="18" name="Imagen 17">
            <a:extLst>
              <a:ext uri="{FF2B5EF4-FFF2-40B4-BE49-F238E27FC236}">
                <a16:creationId xmlns:a16="http://schemas.microsoft.com/office/drawing/2014/main" id="{B557C726-E380-56FD-A015-1B871AE17A61}"/>
              </a:ext>
            </a:extLst>
          </p:cNvPr>
          <p:cNvPicPr>
            <a:picLocks noChangeAspect="1"/>
          </p:cNvPicPr>
          <p:nvPr/>
        </p:nvPicPr>
        <p:blipFill>
          <a:blip r:embed="rId3"/>
          <a:stretch>
            <a:fillRect/>
          </a:stretch>
        </p:blipFill>
        <p:spPr>
          <a:xfrm>
            <a:off x="4724400" y="904635"/>
            <a:ext cx="3906395" cy="3541935"/>
          </a:xfrm>
          <a:prstGeom prst="rect">
            <a:avLst/>
          </a:prstGeom>
        </p:spPr>
      </p:pic>
    </p:spTree>
    <p:extLst>
      <p:ext uri="{BB962C8B-B14F-4D97-AF65-F5344CB8AC3E}">
        <p14:creationId xmlns:p14="http://schemas.microsoft.com/office/powerpoint/2010/main" val="283577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C4674-553A-36D3-9CB0-57B12B2FE939}"/>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8842A444-89EA-F605-6B92-23892BDDA552}"/>
              </a:ext>
            </a:extLst>
          </p:cNvPr>
          <p:cNvSpPr txBox="1">
            <a:spLocks/>
          </p:cNvSpPr>
          <p:nvPr/>
        </p:nvSpPr>
        <p:spPr>
          <a:xfrm>
            <a:off x="477376" y="310707"/>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sz="2200" dirty="0">
                <a:solidFill>
                  <a:schemeClr val="accent1"/>
                </a:solidFill>
                <a:latin typeface="Ancizar Serif Extrabold" panose="020A0902070300000003" pitchFamily="18" charset="0"/>
                <a:cs typeface="Ancizar Sans Extrabold"/>
              </a:rPr>
              <a:t>Procesos Gaussianos: Resultados</a:t>
            </a:r>
          </a:p>
        </p:txBody>
      </p:sp>
      <p:sp>
        <p:nvSpPr>
          <p:cNvPr id="3" name="Marcador de número de diapositiva 2">
            <a:extLst>
              <a:ext uri="{FF2B5EF4-FFF2-40B4-BE49-F238E27FC236}">
                <a16:creationId xmlns:a16="http://schemas.microsoft.com/office/drawing/2014/main" id="{91DA9B6C-E35A-4FD2-8CDD-631B63D501C2}"/>
              </a:ext>
            </a:extLst>
          </p:cNvPr>
          <p:cNvSpPr>
            <a:spLocks noGrp="1"/>
          </p:cNvSpPr>
          <p:nvPr>
            <p:ph type="sldNum" sz="quarter" idx="12"/>
          </p:nvPr>
        </p:nvSpPr>
        <p:spPr/>
        <p:txBody>
          <a:bodyPr/>
          <a:lstStyle/>
          <a:p>
            <a:fld id="{90BC2BA4-81C0-F544-BD72-C8CB9DA7C802}" type="slidenum">
              <a:rPr lang="es-ES" smtClean="0"/>
              <a:pPr/>
              <a:t>13</a:t>
            </a:fld>
            <a:endParaRPr lang="es-ES"/>
          </a:p>
        </p:txBody>
      </p:sp>
      <p:sp>
        <p:nvSpPr>
          <p:cNvPr id="6" name="CuadroTexto 5">
            <a:extLst>
              <a:ext uri="{FF2B5EF4-FFF2-40B4-BE49-F238E27FC236}">
                <a16:creationId xmlns:a16="http://schemas.microsoft.com/office/drawing/2014/main" id="{9E0AC1F6-70D3-32D1-575D-DA328C3FCD4A}"/>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pic>
        <p:nvPicPr>
          <p:cNvPr id="5" name="Imagen 4">
            <a:extLst>
              <a:ext uri="{FF2B5EF4-FFF2-40B4-BE49-F238E27FC236}">
                <a16:creationId xmlns:a16="http://schemas.microsoft.com/office/drawing/2014/main" id="{AF7F82FC-B625-94F4-B357-44C2A8E48DA2}"/>
              </a:ext>
            </a:extLst>
          </p:cNvPr>
          <p:cNvPicPr>
            <a:picLocks noChangeAspect="1"/>
          </p:cNvPicPr>
          <p:nvPr/>
        </p:nvPicPr>
        <p:blipFill>
          <a:blip r:embed="rId2"/>
          <a:stretch>
            <a:fillRect/>
          </a:stretch>
        </p:blipFill>
        <p:spPr>
          <a:xfrm>
            <a:off x="162417" y="1111728"/>
            <a:ext cx="4707826" cy="2920044"/>
          </a:xfrm>
          <a:prstGeom prst="rect">
            <a:avLst/>
          </a:prstGeom>
        </p:spPr>
      </p:pic>
      <p:pic>
        <p:nvPicPr>
          <p:cNvPr id="7" name="Imagen 6">
            <a:extLst>
              <a:ext uri="{FF2B5EF4-FFF2-40B4-BE49-F238E27FC236}">
                <a16:creationId xmlns:a16="http://schemas.microsoft.com/office/drawing/2014/main" id="{1AA6198C-BEF6-2707-3F0D-C1F37F71D297}"/>
              </a:ext>
            </a:extLst>
          </p:cNvPr>
          <p:cNvPicPr>
            <a:picLocks noChangeAspect="1"/>
          </p:cNvPicPr>
          <p:nvPr/>
        </p:nvPicPr>
        <p:blipFill>
          <a:blip r:embed="rId3"/>
          <a:stretch>
            <a:fillRect/>
          </a:stretch>
        </p:blipFill>
        <p:spPr>
          <a:xfrm>
            <a:off x="4998967" y="548640"/>
            <a:ext cx="3982616" cy="4046220"/>
          </a:xfrm>
          <a:prstGeom prst="rect">
            <a:avLst/>
          </a:prstGeom>
        </p:spPr>
      </p:pic>
    </p:spTree>
    <p:extLst>
      <p:ext uri="{BB962C8B-B14F-4D97-AF65-F5344CB8AC3E}">
        <p14:creationId xmlns:p14="http://schemas.microsoft.com/office/powerpoint/2010/main" val="3873197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612BF-C7DF-6C8B-92CA-2BB013F9FAEF}"/>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2DBC4132-3A80-ADE1-17E7-597427728FB4}"/>
              </a:ext>
            </a:extLst>
          </p:cNvPr>
          <p:cNvSpPr txBox="1">
            <a:spLocks/>
          </p:cNvSpPr>
          <p:nvPr/>
        </p:nvSpPr>
        <p:spPr>
          <a:xfrm>
            <a:off x="477376" y="310707"/>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sz="2200" dirty="0">
                <a:solidFill>
                  <a:schemeClr val="accent1"/>
                </a:solidFill>
                <a:latin typeface="Ancizar Serif Extrabold" panose="020A0902070300000003" pitchFamily="18" charset="0"/>
                <a:cs typeface="Ancizar Sans Extrabold"/>
              </a:rPr>
              <a:t>Procesos Gaussianos: Análisis de componentes Principales</a:t>
            </a:r>
          </a:p>
        </p:txBody>
      </p:sp>
      <p:sp>
        <p:nvSpPr>
          <p:cNvPr id="3" name="Marcador de número de diapositiva 2">
            <a:extLst>
              <a:ext uri="{FF2B5EF4-FFF2-40B4-BE49-F238E27FC236}">
                <a16:creationId xmlns:a16="http://schemas.microsoft.com/office/drawing/2014/main" id="{44B91453-239F-F461-7F02-4BF2C098EA35}"/>
              </a:ext>
            </a:extLst>
          </p:cNvPr>
          <p:cNvSpPr>
            <a:spLocks noGrp="1"/>
          </p:cNvSpPr>
          <p:nvPr>
            <p:ph type="sldNum" sz="quarter" idx="12"/>
          </p:nvPr>
        </p:nvSpPr>
        <p:spPr/>
        <p:txBody>
          <a:bodyPr/>
          <a:lstStyle/>
          <a:p>
            <a:fld id="{90BC2BA4-81C0-F544-BD72-C8CB9DA7C802}" type="slidenum">
              <a:rPr lang="es-ES" smtClean="0"/>
              <a:pPr/>
              <a:t>14</a:t>
            </a:fld>
            <a:endParaRPr lang="es-ES"/>
          </a:p>
        </p:txBody>
      </p:sp>
      <p:sp>
        <p:nvSpPr>
          <p:cNvPr id="6" name="CuadroTexto 5">
            <a:extLst>
              <a:ext uri="{FF2B5EF4-FFF2-40B4-BE49-F238E27FC236}">
                <a16:creationId xmlns:a16="http://schemas.microsoft.com/office/drawing/2014/main" id="{5A73ECA1-3EFD-178D-9850-C31E434E8B58}"/>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pic>
        <p:nvPicPr>
          <p:cNvPr id="7" name="Imagen 6">
            <a:extLst>
              <a:ext uri="{FF2B5EF4-FFF2-40B4-BE49-F238E27FC236}">
                <a16:creationId xmlns:a16="http://schemas.microsoft.com/office/drawing/2014/main" id="{D8BD89B4-B600-8645-63AD-E2569BF1C3D2}"/>
              </a:ext>
            </a:extLst>
          </p:cNvPr>
          <p:cNvPicPr>
            <a:picLocks noChangeAspect="1"/>
          </p:cNvPicPr>
          <p:nvPr/>
        </p:nvPicPr>
        <p:blipFill>
          <a:blip r:embed="rId2"/>
          <a:stretch>
            <a:fillRect/>
          </a:stretch>
        </p:blipFill>
        <p:spPr>
          <a:xfrm>
            <a:off x="660761" y="776252"/>
            <a:ext cx="4727588" cy="3810789"/>
          </a:xfrm>
          <a:prstGeom prst="rect">
            <a:avLst/>
          </a:prstGeom>
        </p:spPr>
      </p:pic>
      <p:graphicFrame>
        <p:nvGraphicFramePr>
          <p:cNvPr id="10" name="Tabla 9">
            <a:extLst>
              <a:ext uri="{FF2B5EF4-FFF2-40B4-BE49-F238E27FC236}">
                <a16:creationId xmlns:a16="http://schemas.microsoft.com/office/drawing/2014/main" id="{7645773D-5E96-703A-AE3E-738D38E90E18}"/>
              </a:ext>
            </a:extLst>
          </p:cNvPr>
          <p:cNvGraphicFramePr>
            <a:graphicFrameLocks noGrp="1"/>
          </p:cNvGraphicFramePr>
          <p:nvPr>
            <p:extLst>
              <p:ext uri="{D42A27DB-BD31-4B8C-83A1-F6EECF244321}">
                <p14:modId xmlns:p14="http://schemas.microsoft.com/office/powerpoint/2010/main" val="3480701310"/>
              </p:ext>
            </p:extLst>
          </p:nvPr>
        </p:nvGraphicFramePr>
        <p:xfrm>
          <a:off x="6042074" y="2315109"/>
          <a:ext cx="2323512" cy="2072640"/>
        </p:xfrm>
        <a:graphic>
          <a:graphicData uri="http://schemas.openxmlformats.org/drawingml/2006/table">
            <a:tbl>
              <a:tblPr firstRow="1" bandRow="1">
                <a:tableStyleId>{5C22544A-7EE6-4342-B048-85BDC9FD1C3A}</a:tableStyleId>
              </a:tblPr>
              <a:tblGrid>
                <a:gridCol w="774504">
                  <a:extLst>
                    <a:ext uri="{9D8B030D-6E8A-4147-A177-3AD203B41FA5}">
                      <a16:colId xmlns:a16="http://schemas.microsoft.com/office/drawing/2014/main" val="1873057261"/>
                    </a:ext>
                  </a:extLst>
                </a:gridCol>
                <a:gridCol w="774504">
                  <a:extLst>
                    <a:ext uri="{9D8B030D-6E8A-4147-A177-3AD203B41FA5}">
                      <a16:colId xmlns:a16="http://schemas.microsoft.com/office/drawing/2014/main" val="72315318"/>
                    </a:ext>
                  </a:extLst>
                </a:gridCol>
                <a:gridCol w="774504">
                  <a:extLst>
                    <a:ext uri="{9D8B030D-6E8A-4147-A177-3AD203B41FA5}">
                      <a16:colId xmlns:a16="http://schemas.microsoft.com/office/drawing/2014/main" val="3252797208"/>
                    </a:ext>
                  </a:extLst>
                </a:gridCol>
              </a:tblGrid>
              <a:tr h="202052">
                <a:tc>
                  <a:txBody>
                    <a:bodyPr/>
                    <a:lstStyle/>
                    <a:p>
                      <a:pPr algn="ctr"/>
                      <a:r>
                        <a:rPr lang="es-CO" sz="1100" dirty="0">
                          <a:latin typeface="Arial Narrow" panose="020B0606020202030204" pitchFamily="34" charset="0"/>
                        </a:rPr>
                        <a:t>Variable</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CP1</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CP2</a:t>
                      </a:r>
                      <a:endParaRPr lang="es-ES" sz="1100" dirty="0">
                        <a:latin typeface="Arial Narrow" panose="020B0606020202030204" pitchFamily="34" charset="0"/>
                      </a:endParaRPr>
                    </a:p>
                  </a:txBody>
                  <a:tcPr anchor="ctr"/>
                </a:tc>
                <a:extLst>
                  <a:ext uri="{0D108BD9-81ED-4DB2-BD59-A6C34878D82A}">
                    <a16:rowId xmlns:a16="http://schemas.microsoft.com/office/drawing/2014/main" val="1795648367"/>
                  </a:ext>
                </a:extLst>
              </a:tr>
              <a:tr h="202052">
                <a:tc>
                  <a:txBody>
                    <a:bodyPr/>
                    <a:lstStyle/>
                    <a:p>
                      <a:pPr algn="ctr"/>
                      <a:r>
                        <a:rPr lang="es-CO" sz="1100" dirty="0">
                          <a:latin typeface="Arial Narrow" panose="020B0606020202030204" pitchFamily="34" charset="0"/>
                        </a:rPr>
                        <a:t>Log(A)</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-0.171</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0.704</a:t>
                      </a:r>
                    </a:p>
                  </a:txBody>
                  <a:tcPr anchor="ctr"/>
                </a:tc>
                <a:extLst>
                  <a:ext uri="{0D108BD9-81ED-4DB2-BD59-A6C34878D82A}">
                    <a16:rowId xmlns:a16="http://schemas.microsoft.com/office/drawing/2014/main" val="579544573"/>
                  </a:ext>
                </a:extLst>
              </a:tr>
              <a:tr h="202052">
                <a:tc>
                  <a:txBody>
                    <a:bodyPr/>
                    <a:lstStyle/>
                    <a:p>
                      <a:pPr algn="ctr"/>
                      <a:r>
                        <a:rPr lang="es-CO" sz="1100" dirty="0">
                          <a:latin typeface="Arial Narrow" panose="020B0606020202030204" pitchFamily="34" charset="0"/>
                        </a:rPr>
                        <a:t>Pendiente</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0.400</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0.204</a:t>
                      </a:r>
                      <a:endParaRPr lang="es-ES" sz="1100" dirty="0">
                        <a:latin typeface="Arial Narrow" panose="020B0606020202030204" pitchFamily="34" charset="0"/>
                      </a:endParaRPr>
                    </a:p>
                  </a:txBody>
                  <a:tcPr anchor="ctr"/>
                </a:tc>
                <a:extLst>
                  <a:ext uri="{0D108BD9-81ED-4DB2-BD59-A6C34878D82A}">
                    <a16:rowId xmlns:a16="http://schemas.microsoft.com/office/drawing/2014/main" val="3317263639"/>
                  </a:ext>
                </a:extLst>
              </a:tr>
              <a:tr h="202052">
                <a:tc>
                  <a:txBody>
                    <a:bodyPr/>
                    <a:lstStyle/>
                    <a:p>
                      <a:pPr algn="ctr"/>
                      <a:r>
                        <a:rPr lang="es-CO" sz="1100" dirty="0">
                          <a:latin typeface="Arial Narrow" panose="020B0606020202030204" pitchFamily="34" charset="0"/>
                        </a:rPr>
                        <a:t>Elevación</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0.266</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-0.466</a:t>
                      </a:r>
                      <a:endParaRPr lang="es-ES" sz="1100" dirty="0">
                        <a:latin typeface="Arial Narrow" panose="020B0606020202030204" pitchFamily="34" charset="0"/>
                      </a:endParaRPr>
                    </a:p>
                  </a:txBody>
                  <a:tcPr anchor="ctr"/>
                </a:tc>
                <a:extLst>
                  <a:ext uri="{0D108BD9-81ED-4DB2-BD59-A6C34878D82A}">
                    <a16:rowId xmlns:a16="http://schemas.microsoft.com/office/drawing/2014/main" val="266709277"/>
                  </a:ext>
                </a:extLst>
              </a:tr>
              <a:tr h="202052">
                <a:tc>
                  <a:txBody>
                    <a:bodyPr/>
                    <a:lstStyle/>
                    <a:p>
                      <a:pPr algn="ctr"/>
                      <a:r>
                        <a:rPr lang="es-CO" sz="1100" dirty="0">
                          <a:latin typeface="Arial Narrow" panose="020B0606020202030204" pitchFamily="34" charset="0"/>
                        </a:rPr>
                        <a:t>LAI</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0.209</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0.484</a:t>
                      </a:r>
                      <a:endParaRPr lang="es-ES" sz="1100" dirty="0">
                        <a:latin typeface="Arial Narrow" panose="020B0606020202030204" pitchFamily="34" charset="0"/>
                      </a:endParaRPr>
                    </a:p>
                  </a:txBody>
                  <a:tcPr anchor="ctr"/>
                </a:tc>
                <a:extLst>
                  <a:ext uri="{0D108BD9-81ED-4DB2-BD59-A6C34878D82A}">
                    <a16:rowId xmlns:a16="http://schemas.microsoft.com/office/drawing/2014/main" val="1545733832"/>
                  </a:ext>
                </a:extLst>
              </a:tr>
              <a:tr h="202052">
                <a:tc>
                  <a:txBody>
                    <a:bodyPr/>
                    <a:lstStyle/>
                    <a:p>
                      <a:pPr algn="ctr"/>
                      <a:r>
                        <a:rPr lang="es-CO" sz="1100" dirty="0">
                          <a:latin typeface="Arial Narrow" panose="020B0606020202030204" pitchFamily="34" charset="0"/>
                        </a:rPr>
                        <a:t>TPI</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-0.430</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-0.045</a:t>
                      </a:r>
                      <a:endParaRPr lang="es-ES" sz="1100" dirty="0">
                        <a:latin typeface="Arial Narrow" panose="020B0606020202030204" pitchFamily="34" charset="0"/>
                      </a:endParaRPr>
                    </a:p>
                  </a:txBody>
                  <a:tcPr anchor="ctr"/>
                </a:tc>
                <a:extLst>
                  <a:ext uri="{0D108BD9-81ED-4DB2-BD59-A6C34878D82A}">
                    <a16:rowId xmlns:a16="http://schemas.microsoft.com/office/drawing/2014/main" val="3479813221"/>
                  </a:ext>
                </a:extLst>
              </a:tr>
              <a:tr h="202052">
                <a:tc>
                  <a:txBody>
                    <a:bodyPr/>
                    <a:lstStyle/>
                    <a:p>
                      <a:pPr algn="ctr"/>
                      <a:r>
                        <a:rPr lang="es-CO" sz="1100" dirty="0">
                          <a:latin typeface="Arial Narrow" panose="020B0606020202030204" pitchFamily="34" charset="0"/>
                        </a:rPr>
                        <a:t>Curvatura</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-0.483</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-0.099</a:t>
                      </a:r>
                      <a:endParaRPr lang="es-ES" sz="1100" dirty="0">
                        <a:latin typeface="Arial Narrow" panose="020B0606020202030204" pitchFamily="34" charset="0"/>
                      </a:endParaRPr>
                    </a:p>
                  </a:txBody>
                  <a:tcPr anchor="ctr"/>
                </a:tc>
                <a:extLst>
                  <a:ext uri="{0D108BD9-81ED-4DB2-BD59-A6C34878D82A}">
                    <a16:rowId xmlns:a16="http://schemas.microsoft.com/office/drawing/2014/main" val="830005299"/>
                  </a:ext>
                </a:extLst>
              </a:tr>
              <a:tr h="202052">
                <a:tc>
                  <a:txBody>
                    <a:bodyPr/>
                    <a:lstStyle/>
                    <a:p>
                      <a:pPr algn="ctr"/>
                      <a:r>
                        <a:rPr lang="es-CO" sz="1100" dirty="0">
                          <a:latin typeface="Arial Narrow" panose="020B0606020202030204" pitchFamily="34" charset="0"/>
                        </a:rPr>
                        <a:t>TRI</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0.527</a:t>
                      </a:r>
                      <a:endParaRPr lang="es-ES" sz="1100" dirty="0">
                        <a:latin typeface="Arial Narrow" panose="020B0606020202030204" pitchFamily="34" charset="0"/>
                      </a:endParaRPr>
                    </a:p>
                  </a:txBody>
                  <a:tcPr anchor="ctr"/>
                </a:tc>
                <a:tc>
                  <a:txBody>
                    <a:bodyPr/>
                    <a:lstStyle/>
                    <a:p>
                      <a:pPr algn="ctr"/>
                      <a:r>
                        <a:rPr lang="es-CO" sz="1100" dirty="0">
                          <a:latin typeface="Arial Narrow" panose="020B0606020202030204" pitchFamily="34" charset="0"/>
                        </a:rPr>
                        <a:t>-0.011</a:t>
                      </a:r>
                      <a:endParaRPr lang="es-ES" sz="1100" dirty="0">
                        <a:latin typeface="Arial Narrow" panose="020B0606020202030204" pitchFamily="34" charset="0"/>
                      </a:endParaRPr>
                    </a:p>
                  </a:txBody>
                  <a:tcPr anchor="ctr"/>
                </a:tc>
                <a:extLst>
                  <a:ext uri="{0D108BD9-81ED-4DB2-BD59-A6C34878D82A}">
                    <a16:rowId xmlns:a16="http://schemas.microsoft.com/office/drawing/2014/main" val="2316863367"/>
                  </a:ext>
                </a:extLst>
              </a:tr>
            </a:tbl>
          </a:graphicData>
        </a:graphic>
      </p:graphicFrame>
      <p:sp>
        <p:nvSpPr>
          <p:cNvPr id="5" name="CuadroTexto 4">
            <a:extLst>
              <a:ext uri="{FF2B5EF4-FFF2-40B4-BE49-F238E27FC236}">
                <a16:creationId xmlns:a16="http://schemas.microsoft.com/office/drawing/2014/main" id="{6FB18EAE-9EA2-3D95-6162-3947CCD84B9E}"/>
              </a:ext>
            </a:extLst>
          </p:cNvPr>
          <p:cNvSpPr txBox="1"/>
          <p:nvPr/>
        </p:nvSpPr>
        <p:spPr>
          <a:xfrm>
            <a:off x="5752800" y="973909"/>
            <a:ext cx="2858400" cy="1092607"/>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marL="0" indent="0" algn="ctr">
              <a:buClr>
                <a:schemeClr val="accent5"/>
              </a:buClr>
              <a:buNone/>
            </a:pPr>
            <a:r>
              <a:rPr lang="es-CO" sz="1300" dirty="0">
                <a:latin typeface="Arial Narrow" panose="020B0606020202030204" pitchFamily="34" charset="0"/>
              </a:rPr>
              <a:t>El componente principal 1 muestra una mayor influencia de las variables asociadas a las condiciones morfométricas locales. El componente 2, muestra mayor influencia de variables asociadas a la cuenca</a:t>
            </a:r>
          </a:p>
        </p:txBody>
      </p:sp>
      <p:sp>
        <p:nvSpPr>
          <p:cNvPr id="2" name="Rectángulo 1">
            <a:extLst>
              <a:ext uri="{FF2B5EF4-FFF2-40B4-BE49-F238E27FC236}">
                <a16:creationId xmlns:a16="http://schemas.microsoft.com/office/drawing/2014/main" id="{4990E183-ECF7-530B-6FE6-1C729130B3FD}"/>
              </a:ext>
            </a:extLst>
          </p:cNvPr>
          <p:cNvSpPr/>
          <p:nvPr/>
        </p:nvSpPr>
        <p:spPr>
          <a:xfrm>
            <a:off x="6815138" y="2832259"/>
            <a:ext cx="776286" cy="266700"/>
          </a:xfrm>
          <a:prstGeom prst="rect">
            <a:avLst/>
          </a:prstGeom>
          <a:solidFill>
            <a:srgbClr val="FFFF00">
              <a:alpha val="30000"/>
            </a:srgbClr>
          </a:solid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s-ES"/>
          </a:p>
        </p:txBody>
      </p:sp>
      <p:sp>
        <p:nvSpPr>
          <p:cNvPr id="12" name="Rectángulo 11">
            <a:extLst>
              <a:ext uri="{FF2B5EF4-FFF2-40B4-BE49-F238E27FC236}">
                <a16:creationId xmlns:a16="http://schemas.microsoft.com/office/drawing/2014/main" id="{2303B160-1781-D9A9-6122-D1267833957F}"/>
              </a:ext>
            </a:extLst>
          </p:cNvPr>
          <p:cNvSpPr/>
          <p:nvPr/>
        </p:nvSpPr>
        <p:spPr>
          <a:xfrm>
            <a:off x="6817522" y="3616109"/>
            <a:ext cx="776286" cy="771640"/>
          </a:xfrm>
          <a:prstGeom prst="rect">
            <a:avLst/>
          </a:prstGeom>
          <a:solidFill>
            <a:srgbClr val="FFFF00">
              <a:alpha val="30000"/>
            </a:srgbClr>
          </a:solid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s-ES"/>
          </a:p>
        </p:txBody>
      </p:sp>
      <p:sp>
        <p:nvSpPr>
          <p:cNvPr id="14" name="Rectángulo 13">
            <a:extLst>
              <a:ext uri="{FF2B5EF4-FFF2-40B4-BE49-F238E27FC236}">
                <a16:creationId xmlns:a16="http://schemas.microsoft.com/office/drawing/2014/main" id="{AAEDAD2C-12EF-5F95-B5EA-9400A2F69839}"/>
              </a:ext>
            </a:extLst>
          </p:cNvPr>
          <p:cNvSpPr/>
          <p:nvPr/>
        </p:nvSpPr>
        <p:spPr>
          <a:xfrm>
            <a:off x="7593808" y="2583666"/>
            <a:ext cx="771778" cy="248593"/>
          </a:xfrm>
          <a:prstGeom prst="rect">
            <a:avLst/>
          </a:prstGeom>
          <a:solidFill>
            <a:srgbClr val="FFFF00">
              <a:alpha val="30000"/>
            </a:srgbClr>
          </a:solid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s-ES"/>
          </a:p>
        </p:txBody>
      </p:sp>
      <p:sp>
        <p:nvSpPr>
          <p:cNvPr id="16" name="Rectángulo 15">
            <a:extLst>
              <a:ext uri="{FF2B5EF4-FFF2-40B4-BE49-F238E27FC236}">
                <a16:creationId xmlns:a16="http://schemas.microsoft.com/office/drawing/2014/main" id="{0CFDC81A-09E7-77E9-D2A3-DEFDAF70CC56}"/>
              </a:ext>
            </a:extLst>
          </p:cNvPr>
          <p:cNvSpPr/>
          <p:nvPr/>
        </p:nvSpPr>
        <p:spPr>
          <a:xfrm>
            <a:off x="7586665" y="3088453"/>
            <a:ext cx="771778" cy="527656"/>
          </a:xfrm>
          <a:prstGeom prst="rect">
            <a:avLst/>
          </a:prstGeom>
          <a:solidFill>
            <a:srgbClr val="FFFF00">
              <a:alpha val="30000"/>
            </a:srgbClr>
          </a:solid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s-ES"/>
          </a:p>
        </p:txBody>
      </p:sp>
    </p:spTree>
    <p:extLst>
      <p:ext uri="{BB962C8B-B14F-4D97-AF65-F5344CB8AC3E}">
        <p14:creationId xmlns:p14="http://schemas.microsoft.com/office/powerpoint/2010/main" val="2982525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94758-D10E-E3C4-0E43-DAB75A32B109}"/>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4FC9A4F9-123B-D58B-5C66-A4FE45CA3B07}"/>
              </a:ext>
            </a:extLst>
          </p:cNvPr>
          <p:cNvSpPr txBox="1">
            <a:spLocks/>
          </p:cNvSpPr>
          <p:nvPr/>
        </p:nvSpPr>
        <p:spPr>
          <a:xfrm>
            <a:off x="477376" y="310707"/>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2200" dirty="0">
                <a:solidFill>
                  <a:schemeClr val="accent1"/>
                </a:solidFill>
                <a:latin typeface="Ancizar Serif Extrabold" panose="020A0902070300000003" pitchFamily="18" charset="0"/>
                <a:cs typeface="Ancizar Sans Extrabold"/>
              </a:rPr>
              <a:t>K</a:t>
            </a:r>
            <a:r>
              <a:rPr lang="es-ES" sz="2200" dirty="0" err="1">
                <a:solidFill>
                  <a:schemeClr val="accent1"/>
                </a:solidFill>
                <a:latin typeface="Ancizar Serif Extrabold" panose="020A0902070300000003" pitchFamily="18" charset="0"/>
                <a:cs typeface="Ancizar Sans Extrabold"/>
              </a:rPr>
              <a:t>riging</a:t>
            </a:r>
            <a:r>
              <a:rPr lang="es-ES" sz="2200" dirty="0">
                <a:solidFill>
                  <a:schemeClr val="accent1"/>
                </a:solidFill>
                <a:latin typeface="Ancizar Serif Extrabold" panose="020A0902070300000003" pitchFamily="18" charset="0"/>
                <a:cs typeface="Ancizar Sans Extrabold"/>
              </a:rPr>
              <a:t>: Residuos de GP</a:t>
            </a:r>
          </a:p>
        </p:txBody>
      </p:sp>
      <p:sp>
        <p:nvSpPr>
          <p:cNvPr id="3" name="Marcador de número de diapositiva 2">
            <a:extLst>
              <a:ext uri="{FF2B5EF4-FFF2-40B4-BE49-F238E27FC236}">
                <a16:creationId xmlns:a16="http://schemas.microsoft.com/office/drawing/2014/main" id="{413CFEE8-44A7-E763-DEAC-A47BE088C1A3}"/>
              </a:ext>
            </a:extLst>
          </p:cNvPr>
          <p:cNvSpPr>
            <a:spLocks noGrp="1"/>
          </p:cNvSpPr>
          <p:nvPr>
            <p:ph type="sldNum" sz="quarter" idx="12"/>
          </p:nvPr>
        </p:nvSpPr>
        <p:spPr/>
        <p:txBody>
          <a:bodyPr/>
          <a:lstStyle/>
          <a:p>
            <a:fld id="{90BC2BA4-81C0-F544-BD72-C8CB9DA7C802}" type="slidenum">
              <a:rPr lang="es-ES" smtClean="0"/>
              <a:pPr/>
              <a:t>15</a:t>
            </a:fld>
            <a:endParaRPr lang="es-ES"/>
          </a:p>
        </p:txBody>
      </p:sp>
      <p:sp>
        <p:nvSpPr>
          <p:cNvPr id="6" name="CuadroTexto 5">
            <a:extLst>
              <a:ext uri="{FF2B5EF4-FFF2-40B4-BE49-F238E27FC236}">
                <a16:creationId xmlns:a16="http://schemas.microsoft.com/office/drawing/2014/main" id="{4F265896-85C3-F1E6-407D-05CF4889ADD5}"/>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pic>
        <p:nvPicPr>
          <p:cNvPr id="8" name="Imagen 7">
            <a:extLst>
              <a:ext uri="{FF2B5EF4-FFF2-40B4-BE49-F238E27FC236}">
                <a16:creationId xmlns:a16="http://schemas.microsoft.com/office/drawing/2014/main" id="{272CBBDA-5682-5D79-336B-033072ED5799}"/>
              </a:ext>
            </a:extLst>
          </p:cNvPr>
          <p:cNvPicPr>
            <a:picLocks noChangeAspect="1"/>
          </p:cNvPicPr>
          <p:nvPr/>
        </p:nvPicPr>
        <p:blipFill>
          <a:blip r:embed="rId2"/>
          <a:srcRect t="-730"/>
          <a:stretch>
            <a:fillRect/>
          </a:stretch>
        </p:blipFill>
        <p:spPr>
          <a:xfrm>
            <a:off x="188989" y="1792800"/>
            <a:ext cx="4205507" cy="2622134"/>
          </a:xfrm>
          <a:prstGeom prst="rect">
            <a:avLst/>
          </a:prstGeom>
        </p:spPr>
      </p:pic>
      <p:pic>
        <p:nvPicPr>
          <p:cNvPr id="11" name="Imagen 10">
            <a:extLst>
              <a:ext uri="{FF2B5EF4-FFF2-40B4-BE49-F238E27FC236}">
                <a16:creationId xmlns:a16="http://schemas.microsoft.com/office/drawing/2014/main" id="{7F86FF3E-2149-1EAD-0F6A-E5E0DFE66FDC}"/>
              </a:ext>
            </a:extLst>
          </p:cNvPr>
          <p:cNvPicPr>
            <a:picLocks noChangeAspect="1"/>
          </p:cNvPicPr>
          <p:nvPr/>
        </p:nvPicPr>
        <p:blipFill>
          <a:blip r:embed="rId3"/>
          <a:srcRect/>
          <a:stretch/>
        </p:blipFill>
        <p:spPr>
          <a:xfrm>
            <a:off x="4571999" y="442357"/>
            <a:ext cx="4325814" cy="4045160"/>
          </a:xfrm>
          <a:prstGeom prst="rect">
            <a:avLst/>
          </a:prstGeom>
        </p:spPr>
      </p:pic>
      <p:sp>
        <p:nvSpPr>
          <p:cNvPr id="13" name="CuadroTexto 12">
            <a:extLst>
              <a:ext uri="{FF2B5EF4-FFF2-40B4-BE49-F238E27FC236}">
                <a16:creationId xmlns:a16="http://schemas.microsoft.com/office/drawing/2014/main" id="{01C8CDD5-B2A0-9FB7-0A1A-0AD0DF6C4336}"/>
              </a:ext>
            </a:extLst>
          </p:cNvPr>
          <p:cNvSpPr txBox="1"/>
          <p:nvPr/>
        </p:nvSpPr>
        <p:spPr>
          <a:xfrm>
            <a:off x="672142" y="891764"/>
            <a:ext cx="3674344" cy="692497"/>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marL="0" indent="0" algn="ctr">
              <a:buClr>
                <a:schemeClr val="accent5"/>
              </a:buClr>
              <a:buNone/>
            </a:pPr>
            <a:r>
              <a:rPr lang="es-CO" sz="1300" dirty="0">
                <a:latin typeface="Arial Narrow" panose="020B0606020202030204" pitchFamily="34" charset="0"/>
              </a:rPr>
              <a:t>El </a:t>
            </a:r>
            <a:r>
              <a:rPr lang="es-CO" sz="1300" dirty="0" err="1">
                <a:latin typeface="Arial Narrow" panose="020B0606020202030204" pitchFamily="34" charset="0"/>
              </a:rPr>
              <a:t>semivariograma</a:t>
            </a:r>
            <a:r>
              <a:rPr lang="es-CO" sz="1300" dirty="0">
                <a:latin typeface="Arial Narrow" panose="020B0606020202030204" pitchFamily="34" charset="0"/>
              </a:rPr>
              <a:t> muestra alta variabilidad de los datos, por lo que no existe correlación importante en los residuos a distancias mayores de 10 km.</a:t>
            </a:r>
          </a:p>
        </p:txBody>
      </p:sp>
    </p:spTree>
    <p:extLst>
      <p:ext uri="{BB962C8B-B14F-4D97-AF65-F5344CB8AC3E}">
        <p14:creationId xmlns:p14="http://schemas.microsoft.com/office/powerpoint/2010/main" val="2473102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20953-9C14-909C-3880-A4632D1E0F8B}"/>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FD0ED979-674A-F7CA-A17A-7A9BAB5DFF89}"/>
              </a:ext>
            </a:extLst>
          </p:cNvPr>
          <p:cNvSpPr txBox="1">
            <a:spLocks/>
          </p:cNvSpPr>
          <p:nvPr/>
        </p:nvSpPr>
        <p:spPr>
          <a:xfrm>
            <a:off x="477376" y="310707"/>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2200" dirty="0">
                <a:solidFill>
                  <a:schemeClr val="accent1"/>
                </a:solidFill>
                <a:latin typeface="Ancizar Serif Extrabold" panose="020A0902070300000003" pitchFamily="18" charset="0"/>
                <a:cs typeface="Ancizar Sans Extrabold"/>
              </a:rPr>
              <a:t>Susceptibilidad</a:t>
            </a:r>
            <a:endParaRPr lang="es-ES" sz="2200" dirty="0">
              <a:solidFill>
                <a:schemeClr val="accent1"/>
              </a:solidFill>
              <a:latin typeface="Ancizar Serif Extrabold" panose="020A0902070300000003" pitchFamily="18" charset="0"/>
              <a:cs typeface="Ancizar Sans Extrabold"/>
            </a:endParaRPr>
          </a:p>
        </p:txBody>
      </p:sp>
      <p:sp>
        <p:nvSpPr>
          <p:cNvPr id="3" name="Marcador de número de diapositiva 2">
            <a:extLst>
              <a:ext uri="{FF2B5EF4-FFF2-40B4-BE49-F238E27FC236}">
                <a16:creationId xmlns:a16="http://schemas.microsoft.com/office/drawing/2014/main" id="{F8EC05D4-1C06-4098-8B51-4E5BEAEC35D7}"/>
              </a:ext>
            </a:extLst>
          </p:cNvPr>
          <p:cNvSpPr>
            <a:spLocks noGrp="1"/>
          </p:cNvSpPr>
          <p:nvPr>
            <p:ph type="sldNum" sz="quarter" idx="12"/>
          </p:nvPr>
        </p:nvSpPr>
        <p:spPr/>
        <p:txBody>
          <a:bodyPr/>
          <a:lstStyle/>
          <a:p>
            <a:fld id="{90BC2BA4-81C0-F544-BD72-C8CB9DA7C802}" type="slidenum">
              <a:rPr lang="es-ES" smtClean="0"/>
              <a:pPr/>
              <a:t>16</a:t>
            </a:fld>
            <a:endParaRPr lang="es-ES"/>
          </a:p>
        </p:txBody>
      </p:sp>
      <p:sp>
        <p:nvSpPr>
          <p:cNvPr id="6" name="CuadroTexto 5">
            <a:extLst>
              <a:ext uri="{FF2B5EF4-FFF2-40B4-BE49-F238E27FC236}">
                <a16:creationId xmlns:a16="http://schemas.microsoft.com/office/drawing/2014/main" id="{FBF109DB-E9C0-5A61-C19A-4711323F038B}"/>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sp>
        <p:nvSpPr>
          <p:cNvPr id="13" name="CuadroTexto 12">
            <a:extLst>
              <a:ext uri="{FF2B5EF4-FFF2-40B4-BE49-F238E27FC236}">
                <a16:creationId xmlns:a16="http://schemas.microsoft.com/office/drawing/2014/main" id="{C70F0638-81C5-6C12-0BAF-9062CD0E3F00}"/>
              </a:ext>
            </a:extLst>
          </p:cNvPr>
          <p:cNvSpPr txBox="1"/>
          <p:nvPr/>
        </p:nvSpPr>
        <p:spPr>
          <a:xfrm>
            <a:off x="672142" y="941099"/>
            <a:ext cx="3674344" cy="1092607"/>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marL="0" indent="0" algn="ctr">
              <a:buClr>
                <a:schemeClr val="accent5"/>
              </a:buClr>
              <a:buNone/>
            </a:pPr>
            <a:r>
              <a:rPr lang="es-CO" sz="1300" dirty="0">
                <a:latin typeface="Arial Narrow" panose="020B0606020202030204" pitchFamily="34" charset="0"/>
              </a:rPr>
              <a:t>Con los resultados del Proceso Gaussiano, se construyó un mapa de probabilidades para el departamento de Antioquia.  Para categorizar las zonas con mayor susceptibilidad, se empleó la siguiente clasificación:</a:t>
            </a:r>
          </a:p>
          <a:p>
            <a:pPr marL="0" indent="0" algn="ctr">
              <a:buClr>
                <a:schemeClr val="accent5"/>
              </a:buClr>
              <a:buNone/>
            </a:pPr>
            <a:endParaRPr lang="es-CO" sz="1300" dirty="0">
              <a:latin typeface="Arial Narrow" panose="020B0606020202030204" pitchFamily="34" charset="0"/>
            </a:endParaRPr>
          </a:p>
        </p:txBody>
      </p:sp>
      <p:graphicFrame>
        <p:nvGraphicFramePr>
          <p:cNvPr id="2" name="Tabla 1">
            <a:extLst>
              <a:ext uri="{FF2B5EF4-FFF2-40B4-BE49-F238E27FC236}">
                <a16:creationId xmlns:a16="http://schemas.microsoft.com/office/drawing/2014/main" id="{B7BB224F-0486-65CC-58B5-6522E5F243FB}"/>
              </a:ext>
            </a:extLst>
          </p:cNvPr>
          <p:cNvGraphicFramePr>
            <a:graphicFrameLocks noGrp="1"/>
          </p:cNvGraphicFramePr>
          <p:nvPr>
            <p:extLst>
              <p:ext uri="{D42A27DB-BD31-4B8C-83A1-F6EECF244321}">
                <p14:modId xmlns:p14="http://schemas.microsoft.com/office/powerpoint/2010/main" val="2012762812"/>
              </p:ext>
            </p:extLst>
          </p:nvPr>
        </p:nvGraphicFramePr>
        <p:xfrm>
          <a:off x="959795" y="1968357"/>
          <a:ext cx="2822486" cy="2311400"/>
        </p:xfrm>
        <a:graphic>
          <a:graphicData uri="http://schemas.openxmlformats.org/drawingml/2006/table">
            <a:tbl>
              <a:tblPr firstRow="1" bandRow="1">
                <a:tableStyleId>{5C22544A-7EE6-4342-B048-85BDC9FD1C3A}</a:tableStyleId>
              </a:tblPr>
              <a:tblGrid>
                <a:gridCol w="1411243">
                  <a:extLst>
                    <a:ext uri="{9D8B030D-6E8A-4147-A177-3AD203B41FA5}">
                      <a16:colId xmlns:a16="http://schemas.microsoft.com/office/drawing/2014/main" val="2767942231"/>
                    </a:ext>
                  </a:extLst>
                </a:gridCol>
                <a:gridCol w="1411243">
                  <a:extLst>
                    <a:ext uri="{9D8B030D-6E8A-4147-A177-3AD203B41FA5}">
                      <a16:colId xmlns:a16="http://schemas.microsoft.com/office/drawing/2014/main" val="774942179"/>
                    </a:ext>
                  </a:extLst>
                </a:gridCol>
              </a:tblGrid>
              <a:tr h="370840">
                <a:tc>
                  <a:txBody>
                    <a:bodyPr/>
                    <a:lstStyle/>
                    <a:p>
                      <a:pPr algn="ctr"/>
                      <a:r>
                        <a:rPr lang="es-CO" sz="1200" dirty="0">
                          <a:latin typeface="Arial Narrow" panose="020B0606020202030204" pitchFamily="34" charset="0"/>
                        </a:rPr>
                        <a:t>Categoría susceptibilidad</a:t>
                      </a:r>
                      <a:endParaRPr lang="es-ES" sz="1200" dirty="0">
                        <a:latin typeface="Arial Narrow" panose="020B0606020202030204" pitchFamily="34" charset="0"/>
                      </a:endParaRPr>
                    </a:p>
                  </a:txBody>
                  <a:tcPr anchor="ctr"/>
                </a:tc>
                <a:tc>
                  <a:txBody>
                    <a:bodyPr/>
                    <a:lstStyle/>
                    <a:p>
                      <a:pPr algn="ctr"/>
                      <a:r>
                        <a:rPr lang="es-CO" sz="1200" dirty="0">
                          <a:latin typeface="Arial Narrow" panose="020B0606020202030204" pitchFamily="34" charset="0"/>
                        </a:rPr>
                        <a:t>Probabilidad</a:t>
                      </a:r>
                      <a:endParaRPr lang="es-ES" sz="1200" dirty="0">
                        <a:latin typeface="Arial Narrow" panose="020B0606020202030204" pitchFamily="34" charset="0"/>
                      </a:endParaRPr>
                    </a:p>
                  </a:txBody>
                  <a:tcPr anchor="ctr"/>
                </a:tc>
                <a:extLst>
                  <a:ext uri="{0D108BD9-81ED-4DB2-BD59-A6C34878D82A}">
                    <a16:rowId xmlns:a16="http://schemas.microsoft.com/office/drawing/2014/main" val="1965569092"/>
                  </a:ext>
                </a:extLst>
              </a:tr>
              <a:tr h="370840">
                <a:tc>
                  <a:txBody>
                    <a:bodyPr/>
                    <a:lstStyle/>
                    <a:p>
                      <a:pPr algn="ctr"/>
                      <a:r>
                        <a:rPr lang="es-CO" sz="1200" dirty="0">
                          <a:latin typeface="Arial Narrow" panose="020B0606020202030204" pitchFamily="34" charset="0"/>
                        </a:rPr>
                        <a:t>Muy baja</a:t>
                      </a:r>
                      <a:endParaRPr lang="es-ES" sz="1200" dirty="0">
                        <a:latin typeface="Arial Narrow" panose="020B0606020202030204" pitchFamily="34" charset="0"/>
                      </a:endParaRPr>
                    </a:p>
                  </a:txBody>
                  <a:tcPr anchor="ctr"/>
                </a:tc>
                <a:tc>
                  <a:txBody>
                    <a:bodyPr/>
                    <a:lstStyle/>
                    <a:p>
                      <a:pPr algn="ctr"/>
                      <a:r>
                        <a:rPr lang="es-CO" sz="1200" dirty="0">
                          <a:latin typeface="Arial Narrow" panose="020B0606020202030204" pitchFamily="34" charset="0"/>
                        </a:rPr>
                        <a:t>0.0 ≤ p ≤ 0.2</a:t>
                      </a:r>
                      <a:endParaRPr lang="es-ES" sz="1200" dirty="0">
                        <a:latin typeface="Arial Narrow" panose="020B0606020202030204" pitchFamily="34" charset="0"/>
                      </a:endParaRPr>
                    </a:p>
                  </a:txBody>
                  <a:tcPr anchor="ctr"/>
                </a:tc>
                <a:extLst>
                  <a:ext uri="{0D108BD9-81ED-4DB2-BD59-A6C34878D82A}">
                    <a16:rowId xmlns:a16="http://schemas.microsoft.com/office/drawing/2014/main" val="3740676473"/>
                  </a:ext>
                </a:extLst>
              </a:tr>
              <a:tr h="370840">
                <a:tc>
                  <a:txBody>
                    <a:bodyPr/>
                    <a:lstStyle/>
                    <a:p>
                      <a:pPr algn="ctr"/>
                      <a:r>
                        <a:rPr lang="es-CO" sz="1200" dirty="0">
                          <a:latin typeface="Arial Narrow" panose="020B0606020202030204" pitchFamily="34" charset="0"/>
                        </a:rPr>
                        <a:t>Baja</a:t>
                      </a:r>
                      <a:endParaRPr lang="es-ES" sz="1200" dirty="0">
                        <a:latin typeface="Arial Narrow" panose="020B0606020202030204" pitchFamily="34" charset="0"/>
                      </a:endParaRPr>
                    </a:p>
                  </a:txBody>
                  <a:tcPr anchor="ctr"/>
                </a:tc>
                <a:tc>
                  <a:txBody>
                    <a:bodyPr/>
                    <a:lstStyle/>
                    <a:p>
                      <a:pPr algn="ctr"/>
                      <a:r>
                        <a:rPr lang="es-CO" sz="1200" dirty="0">
                          <a:latin typeface="Arial Narrow" panose="020B0606020202030204" pitchFamily="34" charset="0"/>
                        </a:rPr>
                        <a:t>0.2 &lt; p ≤ 0.4</a:t>
                      </a:r>
                      <a:endParaRPr lang="es-ES" sz="1200" dirty="0">
                        <a:latin typeface="Arial Narrow" panose="020B0606020202030204" pitchFamily="34" charset="0"/>
                      </a:endParaRPr>
                    </a:p>
                  </a:txBody>
                  <a:tcPr anchor="ctr"/>
                </a:tc>
                <a:extLst>
                  <a:ext uri="{0D108BD9-81ED-4DB2-BD59-A6C34878D82A}">
                    <a16:rowId xmlns:a16="http://schemas.microsoft.com/office/drawing/2014/main" val="331328789"/>
                  </a:ext>
                </a:extLst>
              </a:tr>
              <a:tr h="370840">
                <a:tc>
                  <a:txBody>
                    <a:bodyPr/>
                    <a:lstStyle/>
                    <a:p>
                      <a:pPr algn="ctr"/>
                      <a:r>
                        <a:rPr lang="es-CO" sz="1200" dirty="0">
                          <a:latin typeface="Arial Narrow" panose="020B0606020202030204" pitchFamily="34" charset="0"/>
                        </a:rPr>
                        <a:t>Media</a:t>
                      </a:r>
                      <a:endParaRPr lang="es-ES" sz="1200" dirty="0">
                        <a:latin typeface="Arial Narrow" panose="020B0606020202030204" pitchFamily="34" charset="0"/>
                      </a:endParaRPr>
                    </a:p>
                  </a:txBody>
                  <a:tcPr anchor="ctr"/>
                </a:tc>
                <a:tc>
                  <a:txBody>
                    <a:bodyPr/>
                    <a:lstStyle/>
                    <a:p>
                      <a:pPr algn="ctr"/>
                      <a:r>
                        <a:rPr lang="es-CO" sz="1200" dirty="0">
                          <a:latin typeface="Arial Narrow" panose="020B0606020202030204" pitchFamily="34" charset="0"/>
                        </a:rPr>
                        <a:t>0.4 &lt; p ≤ 0.6</a:t>
                      </a:r>
                      <a:endParaRPr lang="es-ES" sz="1200" dirty="0">
                        <a:latin typeface="Arial Narrow" panose="020B0606020202030204" pitchFamily="34" charset="0"/>
                      </a:endParaRPr>
                    </a:p>
                  </a:txBody>
                  <a:tcPr anchor="ctr"/>
                </a:tc>
                <a:extLst>
                  <a:ext uri="{0D108BD9-81ED-4DB2-BD59-A6C34878D82A}">
                    <a16:rowId xmlns:a16="http://schemas.microsoft.com/office/drawing/2014/main" val="3129930907"/>
                  </a:ext>
                </a:extLst>
              </a:tr>
              <a:tr h="370840">
                <a:tc>
                  <a:txBody>
                    <a:bodyPr/>
                    <a:lstStyle/>
                    <a:p>
                      <a:pPr algn="ctr"/>
                      <a:r>
                        <a:rPr lang="es-CO" sz="1200" dirty="0">
                          <a:latin typeface="Arial Narrow" panose="020B0606020202030204" pitchFamily="34" charset="0"/>
                        </a:rPr>
                        <a:t>Alta</a:t>
                      </a:r>
                    </a:p>
                  </a:txBody>
                  <a:tcPr anchor="ctr"/>
                </a:tc>
                <a:tc>
                  <a:txBody>
                    <a:bodyPr/>
                    <a:lstStyle/>
                    <a:p>
                      <a:pPr algn="ctr"/>
                      <a:r>
                        <a:rPr lang="es-CO" sz="1200" dirty="0">
                          <a:latin typeface="Arial Narrow" panose="020B0606020202030204" pitchFamily="34" charset="0"/>
                        </a:rPr>
                        <a:t>0.6 &lt; p ≤ 0.8</a:t>
                      </a:r>
                      <a:endParaRPr lang="es-ES" sz="1200" dirty="0">
                        <a:latin typeface="Arial Narrow" panose="020B0606020202030204" pitchFamily="34" charset="0"/>
                      </a:endParaRPr>
                    </a:p>
                  </a:txBody>
                  <a:tcPr anchor="ctr"/>
                </a:tc>
                <a:extLst>
                  <a:ext uri="{0D108BD9-81ED-4DB2-BD59-A6C34878D82A}">
                    <a16:rowId xmlns:a16="http://schemas.microsoft.com/office/drawing/2014/main" val="2998087089"/>
                  </a:ext>
                </a:extLst>
              </a:tr>
              <a:tr h="370840">
                <a:tc>
                  <a:txBody>
                    <a:bodyPr/>
                    <a:lstStyle/>
                    <a:p>
                      <a:pPr algn="ctr"/>
                      <a:r>
                        <a:rPr lang="es-CO" sz="1200" dirty="0">
                          <a:latin typeface="Arial Narrow" panose="020B0606020202030204" pitchFamily="34" charset="0"/>
                        </a:rPr>
                        <a:t>Muy Alta</a:t>
                      </a:r>
                      <a:endParaRPr lang="es-ES" sz="1200" dirty="0">
                        <a:latin typeface="Arial Narrow" panose="020B0606020202030204" pitchFamily="34" charset="0"/>
                      </a:endParaRPr>
                    </a:p>
                  </a:txBody>
                  <a:tcPr anchor="ctr"/>
                </a:tc>
                <a:tc>
                  <a:txBody>
                    <a:bodyPr/>
                    <a:lstStyle/>
                    <a:p>
                      <a:pPr algn="ctr"/>
                      <a:r>
                        <a:rPr lang="es-CO" sz="1200" dirty="0">
                          <a:latin typeface="Arial Narrow" panose="020B0606020202030204" pitchFamily="34" charset="0"/>
                        </a:rPr>
                        <a:t>0.8 &lt; p ≤ 1.0</a:t>
                      </a:r>
                      <a:endParaRPr lang="es-ES" sz="1200" dirty="0">
                        <a:latin typeface="Arial Narrow" panose="020B0606020202030204" pitchFamily="34" charset="0"/>
                      </a:endParaRPr>
                    </a:p>
                  </a:txBody>
                  <a:tcPr anchor="ctr"/>
                </a:tc>
                <a:extLst>
                  <a:ext uri="{0D108BD9-81ED-4DB2-BD59-A6C34878D82A}">
                    <a16:rowId xmlns:a16="http://schemas.microsoft.com/office/drawing/2014/main" val="3842626255"/>
                  </a:ext>
                </a:extLst>
              </a:tr>
            </a:tbl>
          </a:graphicData>
        </a:graphic>
      </p:graphicFrame>
      <p:pic>
        <p:nvPicPr>
          <p:cNvPr id="7" name="Imagen 6">
            <a:extLst>
              <a:ext uri="{FF2B5EF4-FFF2-40B4-BE49-F238E27FC236}">
                <a16:creationId xmlns:a16="http://schemas.microsoft.com/office/drawing/2014/main" id="{0E2FCBB7-3CD2-ED64-B5E0-0D84904D4733}"/>
              </a:ext>
            </a:extLst>
          </p:cNvPr>
          <p:cNvPicPr>
            <a:picLocks noChangeAspect="1"/>
          </p:cNvPicPr>
          <p:nvPr/>
        </p:nvPicPr>
        <p:blipFill>
          <a:blip r:embed="rId2"/>
          <a:srcRect t="3323"/>
          <a:stretch>
            <a:fillRect/>
          </a:stretch>
        </p:blipFill>
        <p:spPr>
          <a:xfrm>
            <a:off x="4717942" y="492948"/>
            <a:ext cx="3814113" cy="4015915"/>
          </a:xfrm>
          <a:prstGeom prst="rect">
            <a:avLst/>
          </a:prstGeom>
        </p:spPr>
      </p:pic>
    </p:spTree>
    <p:extLst>
      <p:ext uri="{BB962C8B-B14F-4D97-AF65-F5344CB8AC3E}">
        <p14:creationId xmlns:p14="http://schemas.microsoft.com/office/powerpoint/2010/main" val="530600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30EFF-81E4-DAB8-D566-A12F3B544083}"/>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E8902F54-6AD7-1FC3-DCDC-1C884B0C6860}"/>
              </a:ext>
            </a:extLst>
          </p:cNvPr>
          <p:cNvSpPr txBox="1">
            <a:spLocks/>
          </p:cNvSpPr>
          <p:nvPr/>
        </p:nvSpPr>
        <p:spPr>
          <a:xfrm>
            <a:off x="477376" y="310707"/>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CO" sz="2200" dirty="0">
                <a:solidFill>
                  <a:schemeClr val="accent1"/>
                </a:solidFill>
                <a:latin typeface="Ancizar Serif Extrabold" panose="020A0902070300000003" pitchFamily="18" charset="0"/>
                <a:cs typeface="Ancizar Sans Extrabold"/>
              </a:rPr>
              <a:t>Conclusiones</a:t>
            </a:r>
            <a:endParaRPr lang="es-ES" sz="2200" dirty="0">
              <a:solidFill>
                <a:schemeClr val="accent1"/>
              </a:solidFill>
              <a:latin typeface="Ancizar Serif Extrabold" panose="020A0902070300000003" pitchFamily="18" charset="0"/>
              <a:cs typeface="Ancizar Sans Extrabold"/>
            </a:endParaRPr>
          </a:p>
        </p:txBody>
      </p:sp>
      <p:sp>
        <p:nvSpPr>
          <p:cNvPr id="3" name="Marcador de número de diapositiva 2">
            <a:extLst>
              <a:ext uri="{FF2B5EF4-FFF2-40B4-BE49-F238E27FC236}">
                <a16:creationId xmlns:a16="http://schemas.microsoft.com/office/drawing/2014/main" id="{EDC2CF66-30B6-4693-7CAA-AC4B3F9F6109}"/>
              </a:ext>
            </a:extLst>
          </p:cNvPr>
          <p:cNvSpPr>
            <a:spLocks noGrp="1"/>
          </p:cNvSpPr>
          <p:nvPr>
            <p:ph type="sldNum" sz="quarter" idx="12"/>
          </p:nvPr>
        </p:nvSpPr>
        <p:spPr/>
        <p:txBody>
          <a:bodyPr/>
          <a:lstStyle/>
          <a:p>
            <a:fld id="{90BC2BA4-81C0-F544-BD72-C8CB9DA7C802}" type="slidenum">
              <a:rPr lang="es-ES" smtClean="0"/>
              <a:pPr/>
              <a:t>17</a:t>
            </a:fld>
            <a:endParaRPr lang="es-ES"/>
          </a:p>
        </p:txBody>
      </p:sp>
      <p:sp>
        <p:nvSpPr>
          <p:cNvPr id="6" name="CuadroTexto 5">
            <a:extLst>
              <a:ext uri="{FF2B5EF4-FFF2-40B4-BE49-F238E27FC236}">
                <a16:creationId xmlns:a16="http://schemas.microsoft.com/office/drawing/2014/main" id="{600B3F06-F499-5610-98F0-FBCD1204BFB7}"/>
              </a:ext>
            </a:extLst>
          </p:cNvPr>
          <p:cNvSpPr txBox="1"/>
          <p:nvPr/>
        </p:nvSpPr>
        <p:spPr>
          <a:xfrm>
            <a:off x="252046" y="4692454"/>
            <a:ext cx="3116580" cy="369332"/>
          </a:xfrm>
          <a:prstGeom prst="rect">
            <a:avLst/>
          </a:prstGeom>
          <a:noFill/>
        </p:spPr>
        <p:txBody>
          <a:bodyPr wrap="square" rtlCol="0">
            <a:spAutoFit/>
          </a:bodyPr>
          <a:lstStyle/>
          <a:p>
            <a:r>
              <a:rPr lang="en-US" sz="900" i="1" dirty="0" err="1">
                <a:solidFill>
                  <a:schemeClr val="accent1"/>
                </a:solidFill>
                <a:latin typeface="Ancizar Sans" panose="020B0602040300000003" pitchFamily="34" charset="0"/>
              </a:rPr>
              <a:t>Análisis</a:t>
            </a:r>
            <a:r>
              <a:rPr lang="en-US" sz="900" i="1" dirty="0">
                <a:solidFill>
                  <a:schemeClr val="accent1"/>
                </a:solidFill>
                <a:latin typeface="Ancizar Sans" panose="020B0602040300000003" pitchFamily="34" charset="0"/>
              </a:rPr>
              <a:t> </a:t>
            </a:r>
            <a:r>
              <a:rPr lang="en-US" sz="900" i="1" dirty="0" err="1">
                <a:solidFill>
                  <a:schemeClr val="accent1"/>
                </a:solidFill>
                <a:latin typeface="Ancizar Sans" panose="020B0602040300000003" pitchFamily="34" charset="0"/>
              </a:rPr>
              <a:t>Geoespacial</a:t>
            </a:r>
            <a:r>
              <a:rPr lang="en-US" sz="900" i="1" dirty="0">
                <a:solidFill>
                  <a:schemeClr val="accent1"/>
                </a:solidFill>
                <a:latin typeface="Ancizar Sans" panose="020B0602040300000003" pitchFamily="34" charset="0"/>
              </a:rPr>
              <a:t> 2026-S1</a:t>
            </a:r>
          </a:p>
          <a:p>
            <a:r>
              <a:rPr lang="es-CO" sz="900" i="1" dirty="0">
                <a:solidFill>
                  <a:schemeClr val="accent1"/>
                </a:solidFill>
                <a:latin typeface="Ancizar Sans" panose="020B0602040300000003" pitchFamily="34" charset="0"/>
              </a:rPr>
              <a:t>Facultad de Minas</a:t>
            </a:r>
          </a:p>
        </p:txBody>
      </p:sp>
      <p:sp>
        <p:nvSpPr>
          <p:cNvPr id="8" name="CuadroTexto 7">
            <a:extLst>
              <a:ext uri="{FF2B5EF4-FFF2-40B4-BE49-F238E27FC236}">
                <a16:creationId xmlns:a16="http://schemas.microsoft.com/office/drawing/2014/main" id="{0E1BF519-0F6F-4570-241D-F1A444334016}"/>
              </a:ext>
            </a:extLst>
          </p:cNvPr>
          <p:cNvSpPr txBox="1"/>
          <p:nvPr/>
        </p:nvSpPr>
        <p:spPr>
          <a:xfrm>
            <a:off x="561600" y="778004"/>
            <a:ext cx="8071200" cy="3046988"/>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marL="342900" indent="-342900">
              <a:buClr>
                <a:schemeClr val="accent5"/>
              </a:buClr>
              <a:buFont typeface="+mj-lt"/>
              <a:buAutoNum type="arabicPeriod"/>
            </a:pPr>
            <a:r>
              <a:rPr lang="es-ES" sz="1600" dirty="0">
                <a:latin typeface="Arial Narrow" panose="020B0606020202030204" pitchFamily="34" charset="0"/>
              </a:rPr>
              <a:t>Los procesos </a:t>
            </a:r>
            <a:r>
              <a:rPr lang="es-ES" sz="1600" dirty="0" err="1">
                <a:latin typeface="Arial Narrow" panose="020B0606020202030204" pitchFamily="34" charset="0"/>
              </a:rPr>
              <a:t>Gaussiando</a:t>
            </a:r>
            <a:r>
              <a:rPr lang="es-ES" sz="1600" dirty="0">
                <a:latin typeface="Arial Narrow" panose="020B0606020202030204" pitchFamily="34" charset="0"/>
              </a:rPr>
              <a:t> de clasificación representan con un buen ajuste la susceptibilidad a inundaciones, integrando variables morfométricas de cuenca y condiciones locales derivadas del DEM.</a:t>
            </a:r>
          </a:p>
          <a:p>
            <a:pPr marL="342900" indent="-342900">
              <a:buClr>
                <a:schemeClr val="accent5"/>
              </a:buClr>
              <a:buFont typeface="+mj-lt"/>
              <a:buAutoNum type="arabicPeriod"/>
            </a:pPr>
            <a:r>
              <a:rPr lang="es-ES" sz="1600" dirty="0">
                <a:latin typeface="Arial Narrow" panose="020B0606020202030204" pitchFamily="34" charset="0"/>
              </a:rPr>
              <a:t>La comparación entre </a:t>
            </a:r>
            <a:r>
              <a:rPr lang="es-ES" sz="1600" dirty="0" err="1">
                <a:latin typeface="Arial Narrow" panose="020B0606020202030204" pitchFamily="34" charset="0"/>
              </a:rPr>
              <a:t>kernels</a:t>
            </a:r>
            <a:r>
              <a:rPr lang="es-ES" sz="1600" dirty="0">
                <a:latin typeface="Arial Narrow" panose="020B0606020202030204" pitchFamily="34" charset="0"/>
              </a:rPr>
              <a:t> mostró que los </a:t>
            </a:r>
            <a:r>
              <a:rPr lang="es-ES" sz="1600" dirty="0" err="1">
                <a:latin typeface="Arial Narrow" panose="020B0606020202030204" pitchFamily="34" charset="0"/>
              </a:rPr>
              <a:t>kernel</a:t>
            </a:r>
            <a:r>
              <a:rPr lang="es-ES" sz="1600" dirty="0">
                <a:latin typeface="Arial Narrow" panose="020B0606020202030204" pitchFamily="34" charset="0"/>
              </a:rPr>
              <a:t> que son capaces de captar efectos locales presentan un mejor ajuste el proceso debido a la alta concentración de eventos en zonas particulares del departamento.</a:t>
            </a:r>
          </a:p>
          <a:p>
            <a:pPr marL="342900" indent="-342900">
              <a:buClr>
                <a:schemeClr val="accent5"/>
              </a:buClr>
              <a:buFont typeface="+mj-lt"/>
              <a:buAutoNum type="arabicPeriod"/>
            </a:pPr>
            <a:r>
              <a:rPr lang="es-ES" sz="1600" dirty="0">
                <a:latin typeface="Arial Narrow" panose="020B0606020202030204" pitchFamily="34" charset="0"/>
              </a:rPr>
              <a:t>La inclusión de la espacialidad en el modelo muestra un mejor ajuste del modelo aunque produce una mayor variabilidad en el proceso. </a:t>
            </a:r>
          </a:p>
          <a:p>
            <a:pPr marL="342900" indent="-342900">
              <a:buClr>
                <a:schemeClr val="accent5"/>
              </a:buClr>
              <a:buFont typeface="+mj-lt"/>
              <a:buAutoNum type="arabicPeriod"/>
            </a:pPr>
            <a:r>
              <a:rPr lang="es-ES" sz="1600" dirty="0">
                <a:latin typeface="Arial Narrow" panose="020B0606020202030204" pitchFamily="34" charset="0"/>
              </a:rPr>
              <a:t>Las variables que controlan más fuertemente los procesos de inundación se asocian a las variables morfométricas.</a:t>
            </a:r>
          </a:p>
          <a:p>
            <a:pPr marL="342900" indent="-342900">
              <a:buClr>
                <a:schemeClr val="accent5"/>
              </a:buClr>
              <a:buFont typeface="+mj-lt"/>
              <a:buAutoNum type="arabicPeriod"/>
            </a:pPr>
            <a:r>
              <a:rPr lang="es-ES" sz="1600" dirty="0">
                <a:latin typeface="Arial Narrow" panose="020B0606020202030204" pitchFamily="34" charset="0"/>
              </a:rPr>
              <a:t>El </a:t>
            </a:r>
            <a:r>
              <a:rPr lang="es-ES" sz="1600" dirty="0" err="1">
                <a:latin typeface="Arial Narrow" panose="020B0606020202030204" pitchFamily="34" charset="0"/>
              </a:rPr>
              <a:t>semivariograma</a:t>
            </a:r>
            <a:r>
              <a:rPr lang="es-ES" sz="1600" dirty="0">
                <a:latin typeface="Arial Narrow" panose="020B0606020202030204" pitchFamily="34" charset="0"/>
              </a:rPr>
              <a:t> de residuos evidenció correlación espacial únicamente a distancias menores a 10km, lo que indica que el modelo GP capturó la mayor parte de la estructura espacial relevante.</a:t>
            </a:r>
          </a:p>
        </p:txBody>
      </p:sp>
    </p:spTree>
    <p:extLst>
      <p:ext uri="{BB962C8B-B14F-4D97-AF65-F5344CB8AC3E}">
        <p14:creationId xmlns:p14="http://schemas.microsoft.com/office/powerpoint/2010/main" val="1183212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73CA4C9-D44E-093C-4F76-E6F34F7A5A4A}"/>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B314CF03-C5B4-208A-6585-3FC7960B83D9}"/>
              </a:ext>
            </a:extLst>
          </p:cNvPr>
          <p:cNvSpPr txBox="1">
            <a:spLocks/>
          </p:cNvSpPr>
          <p:nvPr/>
        </p:nvSpPr>
        <p:spPr>
          <a:xfrm>
            <a:off x="477376" y="302401"/>
            <a:ext cx="6609810" cy="56224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 sz="2200" dirty="0">
                <a:solidFill>
                  <a:schemeClr val="accent1"/>
                </a:solidFill>
                <a:latin typeface="Ancizar Serif Extrabold" panose="020A0902070300000003" pitchFamily="18" charset="0"/>
                <a:cs typeface="Ancizar Sans Extrabold"/>
              </a:rPr>
              <a:t>Referencias</a:t>
            </a:r>
          </a:p>
        </p:txBody>
      </p:sp>
      <p:sp>
        <p:nvSpPr>
          <p:cNvPr id="2" name="CuadroTexto 1">
            <a:extLst>
              <a:ext uri="{FF2B5EF4-FFF2-40B4-BE49-F238E27FC236}">
                <a16:creationId xmlns:a16="http://schemas.microsoft.com/office/drawing/2014/main" id="{A8E7539F-D54F-A325-4EC8-42766E7EC2B8}"/>
              </a:ext>
            </a:extLst>
          </p:cNvPr>
          <p:cNvSpPr txBox="1"/>
          <p:nvPr/>
        </p:nvSpPr>
        <p:spPr>
          <a:xfrm>
            <a:off x="561600" y="778004"/>
            <a:ext cx="8071200" cy="3662541"/>
          </a:xfrm>
          <a:prstGeom prst="rect">
            <a:avLst/>
          </a:prstGeom>
          <a:noFill/>
        </p:spPr>
        <p:txBody>
          <a:bodyPr wrap="square" rtlCol="0">
            <a:spAutoFit/>
          </a:bodyPr>
          <a:lstStyle>
            <a:defPPr>
              <a:defRPr lang="es-ES"/>
            </a:defPPr>
            <a:lvl1pPr marL="285750" indent="-285750">
              <a:buFont typeface="Wingdings" panose="05000000000000000000" pitchFamily="2" charset="2"/>
              <a:buChar char="§"/>
              <a:defRPr sz="1400">
                <a:latin typeface="Ancizar Sans Light" panose="020B0502040300000003" pitchFamily="34" charset="0"/>
                <a:cs typeface="Ancizar Serif"/>
              </a:defRPr>
            </a:lvl1pPr>
          </a:lstStyle>
          <a:p>
            <a:pPr marL="342900" indent="-342900">
              <a:buClr>
                <a:schemeClr val="accent5"/>
              </a:buClr>
              <a:buFont typeface="+mj-lt"/>
              <a:buAutoNum type="arabicPeriod"/>
            </a:pPr>
            <a:r>
              <a:rPr lang="es-ES" sz="1100" dirty="0">
                <a:latin typeface="Arial Narrow" panose="020B0606020202030204" pitchFamily="34" charset="0"/>
              </a:rPr>
              <a:t>Aristizábal, E. V., Correa, D., García, C., Valencia, A. M., &amp; Zabaleta, E. A. (2025). </a:t>
            </a:r>
            <a:r>
              <a:rPr lang="es-ES" sz="1100" dirty="0" err="1">
                <a:latin typeface="Arial Narrow" panose="020B0606020202030204" pitchFamily="34" charset="0"/>
              </a:rPr>
              <a:t>Geohazard</a:t>
            </a:r>
            <a:r>
              <a:rPr lang="es-ES" sz="1100" dirty="0">
                <a:latin typeface="Arial Narrow" panose="020B0606020202030204" pitchFamily="34" charset="0"/>
              </a:rPr>
              <a:t>: base de datos por movimientos en masa y avenidas torrenciales en Colombia y el departamento de Antioquia. Ciencia e Ingeniería Neogranadina, 35(1), 131-147. https://doi.org/10.18359/rcin.7786</a:t>
            </a:r>
            <a:endParaRPr lang="es-CO" sz="1100" dirty="0">
              <a:latin typeface="Arial Narrow" panose="020B0606020202030204" pitchFamily="34" charset="0"/>
            </a:endParaRPr>
          </a:p>
          <a:p>
            <a:pPr marL="342900" indent="-342900">
              <a:buClr>
                <a:schemeClr val="accent5"/>
              </a:buClr>
              <a:buFont typeface="+mj-lt"/>
              <a:buAutoNum type="arabicPeriod"/>
            </a:pPr>
            <a:r>
              <a:rPr lang="es-CO" sz="1100" dirty="0">
                <a:latin typeface="Arial Narrow" panose="020B0606020202030204" pitchFamily="34" charset="0"/>
              </a:rPr>
              <a:t>Aristizábal, E. V. (2026). Análisis Geoespacial. GitHub Pages. https://edieraristizabal.github.io/Libro_AnalisisGeoespacial/intro.html</a:t>
            </a:r>
          </a:p>
          <a:p>
            <a:pPr marL="342900" indent="-342900">
              <a:buClr>
                <a:schemeClr val="accent5"/>
              </a:buClr>
              <a:buFont typeface="+mj-lt"/>
              <a:buAutoNum type="arabicPeriod"/>
            </a:pPr>
            <a:r>
              <a:rPr lang="es-CO" sz="1100" dirty="0">
                <a:latin typeface="Arial Narrow" panose="020B0606020202030204" pitchFamily="34" charset="0"/>
              </a:rPr>
              <a:t>Departamento Administrativo de Gestión del Riesgo de Desastres de Antioquia. (s.f.). Inventario de eventos por inundaciones en el departamento de Antioquia [Base de datos]. Gobernación de Antioquia. https://www.antioquia.gov.co/gobernacion/departamentos-administrativos/dagran</a:t>
            </a:r>
          </a:p>
          <a:p>
            <a:pPr marL="342900" indent="-342900">
              <a:buClr>
                <a:schemeClr val="accent5"/>
              </a:buClr>
              <a:buFont typeface="+mj-lt"/>
              <a:buAutoNum type="arabicPeriod"/>
            </a:pPr>
            <a:r>
              <a:rPr lang="es-CO" sz="1100" dirty="0" err="1">
                <a:latin typeface="Arial Narrow" panose="020B0606020202030204" pitchFamily="34" charset="0"/>
              </a:rPr>
              <a:t>Kejing</a:t>
            </a:r>
            <a:r>
              <a:rPr lang="es-CO" sz="1100" dirty="0">
                <a:latin typeface="Arial Narrow" panose="020B0606020202030204" pitchFamily="34" charset="0"/>
              </a:rPr>
              <a:t> Zhou, </a:t>
            </a:r>
            <a:r>
              <a:rPr lang="es-CO" sz="1100" dirty="0" err="1">
                <a:latin typeface="Arial Narrow" panose="020B0606020202030204" pitchFamily="34" charset="0"/>
              </a:rPr>
              <a:t>Fanhua</a:t>
            </a:r>
            <a:r>
              <a:rPr lang="es-CO" sz="1100" dirty="0">
                <a:latin typeface="Arial Narrow" panose="020B0606020202030204" pitchFamily="34" charset="0"/>
              </a:rPr>
              <a:t> Kong, Haiwei Yin, Georgia </a:t>
            </a:r>
            <a:r>
              <a:rPr lang="es-CO" sz="1100" dirty="0" err="1">
                <a:latin typeface="Arial Narrow" panose="020B0606020202030204" pitchFamily="34" charset="0"/>
              </a:rPr>
              <a:t>Destouni</a:t>
            </a:r>
            <a:r>
              <a:rPr lang="es-CO" sz="1100" dirty="0">
                <a:latin typeface="Arial Narrow" panose="020B0606020202030204" pitchFamily="34" charset="0"/>
              </a:rPr>
              <a:t>, </a:t>
            </a:r>
            <a:r>
              <a:rPr lang="es-CO" sz="1100" dirty="0" err="1">
                <a:latin typeface="Arial Narrow" panose="020B0606020202030204" pitchFamily="34" charset="0"/>
              </a:rPr>
              <a:t>Xueying</a:t>
            </a:r>
            <a:r>
              <a:rPr lang="es-CO" sz="1100" dirty="0">
                <a:latin typeface="Arial Narrow" panose="020B0606020202030204" pitchFamily="34" charset="0"/>
              </a:rPr>
              <a:t> Zhuang, </a:t>
            </a:r>
            <a:r>
              <a:rPr lang="es-CO" sz="1100" dirty="0" err="1">
                <a:latin typeface="Arial Narrow" panose="020B0606020202030204" pitchFamily="34" charset="0"/>
              </a:rPr>
              <a:t>Yulong</a:t>
            </a:r>
            <a:r>
              <a:rPr lang="es-CO" sz="1100" dirty="0">
                <a:latin typeface="Arial Narrow" panose="020B0606020202030204" pitchFamily="34" charset="0"/>
              </a:rPr>
              <a:t> Ban, </a:t>
            </a:r>
            <a:r>
              <a:rPr lang="es-CO" sz="1100" dirty="0" err="1">
                <a:latin typeface="Arial Narrow" panose="020B0606020202030204" pitchFamily="34" charset="0"/>
              </a:rPr>
              <a:t>Liding</a:t>
            </a:r>
            <a:r>
              <a:rPr lang="es-CO" sz="1100" dirty="0">
                <a:latin typeface="Arial Narrow" panose="020B0606020202030204" pitchFamily="34" charset="0"/>
              </a:rPr>
              <a:t> Chen, Urban </a:t>
            </a:r>
            <a:r>
              <a:rPr lang="es-CO" sz="1100" dirty="0" err="1">
                <a:latin typeface="Arial Narrow" panose="020B0606020202030204" pitchFamily="34" charset="0"/>
              </a:rPr>
              <a:t>green</a:t>
            </a:r>
            <a:r>
              <a:rPr lang="es-CO" sz="1100" dirty="0">
                <a:latin typeface="Arial Narrow" panose="020B0606020202030204" pitchFamily="34" charset="0"/>
              </a:rPr>
              <a:t> </a:t>
            </a:r>
            <a:r>
              <a:rPr lang="es-CO" sz="1100" dirty="0" err="1">
                <a:latin typeface="Arial Narrow" panose="020B0606020202030204" pitchFamily="34" charset="0"/>
              </a:rPr>
              <a:t>infrastructure</a:t>
            </a:r>
            <a:r>
              <a:rPr lang="es-CO" sz="1100" dirty="0">
                <a:latin typeface="Arial Narrow" panose="020B0606020202030204" pitchFamily="34" charset="0"/>
              </a:rPr>
              <a:t> </a:t>
            </a:r>
            <a:r>
              <a:rPr lang="es-CO" sz="1100" dirty="0" err="1">
                <a:latin typeface="Arial Narrow" panose="020B0606020202030204" pitchFamily="34" charset="0"/>
              </a:rPr>
              <a:t>for</a:t>
            </a:r>
            <a:r>
              <a:rPr lang="es-CO" sz="1100" dirty="0">
                <a:latin typeface="Arial Narrow" panose="020B0606020202030204" pitchFamily="34" charset="0"/>
              </a:rPr>
              <a:t> </a:t>
            </a:r>
            <a:r>
              <a:rPr lang="es-CO" sz="1100" dirty="0" err="1">
                <a:latin typeface="Arial Narrow" panose="020B0606020202030204" pitchFamily="34" charset="0"/>
              </a:rPr>
              <a:t>flood</a:t>
            </a:r>
            <a:r>
              <a:rPr lang="es-CO" sz="1100" dirty="0">
                <a:latin typeface="Arial Narrow" panose="020B0606020202030204" pitchFamily="34" charset="0"/>
              </a:rPr>
              <a:t> </a:t>
            </a:r>
            <a:r>
              <a:rPr lang="es-CO" sz="1100" dirty="0" err="1">
                <a:latin typeface="Arial Narrow" panose="020B0606020202030204" pitchFamily="34" charset="0"/>
              </a:rPr>
              <a:t>resilience</a:t>
            </a:r>
            <a:r>
              <a:rPr lang="es-CO" sz="1100" dirty="0">
                <a:latin typeface="Arial Narrow" panose="020B0606020202030204" pitchFamily="34" charset="0"/>
              </a:rPr>
              <a:t>: </a:t>
            </a:r>
            <a:r>
              <a:rPr lang="es-CO" sz="1100" dirty="0" err="1">
                <a:latin typeface="Arial Narrow" panose="020B0606020202030204" pitchFamily="34" charset="0"/>
              </a:rPr>
              <a:t>Runoff</a:t>
            </a:r>
            <a:r>
              <a:rPr lang="es-CO" sz="1100" dirty="0">
                <a:latin typeface="Arial Narrow" panose="020B0606020202030204" pitchFamily="34" charset="0"/>
              </a:rPr>
              <a:t> </a:t>
            </a:r>
            <a:r>
              <a:rPr lang="es-CO" sz="1100" dirty="0" err="1">
                <a:latin typeface="Arial Narrow" panose="020B0606020202030204" pitchFamily="34" charset="0"/>
              </a:rPr>
              <a:t>sink-source</a:t>
            </a:r>
            <a:r>
              <a:rPr lang="es-CO" sz="1100" dirty="0">
                <a:latin typeface="Arial Narrow" panose="020B0606020202030204" pitchFamily="34" charset="0"/>
              </a:rPr>
              <a:t> </a:t>
            </a:r>
            <a:r>
              <a:rPr lang="es-CO" sz="1100" dirty="0" err="1">
                <a:latin typeface="Arial Narrow" panose="020B0606020202030204" pitchFamily="34" charset="0"/>
              </a:rPr>
              <a:t>regime</a:t>
            </a:r>
            <a:r>
              <a:rPr lang="es-CO" sz="1100" dirty="0">
                <a:latin typeface="Arial Narrow" panose="020B0606020202030204" pitchFamily="34" charset="0"/>
              </a:rPr>
              <a:t> </a:t>
            </a:r>
            <a:r>
              <a:rPr lang="es-CO" sz="1100" dirty="0" err="1">
                <a:latin typeface="Arial Narrow" panose="020B0606020202030204" pitchFamily="34" charset="0"/>
              </a:rPr>
              <a:t>shifts</a:t>
            </a:r>
            <a:r>
              <a:rPr lang="es-CO" sz="1100" dirty="0">
                <a:latin typeface="Arial Narrow" panose="020B0606020202030204" pitchFamily="34" charset="0"/>
              </a:rPr>
              <a:t> and </a:t>
            </a:r>
            <a:r>
              <a:rPr lang="es-CO" sz="1100" dirty="0" err="1">
                <a:latin typeface="Arial Narrow" panose="020B0606020202030204" pitchFamily="34" charset="0"/>
              </a:rPr>
              <a:t>vegetation</a:t>
            </a:r>
            <a:r>
              <a:rPr lang="es-CO" sz="1100" dirty="0">
                <a:latin typeface="Arial Narrow" panose="020B0606020202030204" pitchFamily="34" charset="0"/>
              </a:rPr>
              <a:t> </a:t>
            </a:r>
            <a:r>
              <a:rPr lang="es-CO" sz="1100" dirty="0" err="1">
                <a:latin typeface="Arial Narrow" panose="020B0606020202030204" pitchFamily="34" charset="0"/>
              </a:rPr>
              <a:t>structure</a:t>
            </a:r>
            <a:r>
              <a:rPr lang="es-CO" sz="1100" dirty="0">
                <a:latin typeface="Arial Narrow" panose="020B0606020202030204" pitchFamily="34" charset="0"/>
              </a:rPr>
              <a:t> </a:t>
            </a:r>
            <a:r>
              <a:rPr lang="es-CO" sz="1100" dirty="0" err="1">
                <a:latin typeface="Arial Narrow" panose="020B0606020202030204" pitchFamily="34" charset="0"/>
              </a:rPr>
              <a:t>influences</a:t>
            </a:r>
            <a:r>
              <a:rPr lang="es-CO" sz="1100" dirty="0">
                <a:latin typeface="Arial Narrow" panose="020B0606020202030204" pitchFamily="34" charset="0"/>
              </a:rPr>
              <a:t>, </a:t>
            </a:r>
            <a:r>
              <a:rPr lang="es-CO" sz="1100" dirty="0" err="1">
                <a:latin typeface="Arial Narrow" panose="020B0606020202030204" pitchFamily="34" charset="0"/>
              </a:rPr>
              <a:t>Geography</a:t>
            </a:r>
            <a:r>
              <a:rPr lang="es-CO" sz="1100" dirty="0">
                <a:latin typeface="Arial Narrow" panose="020B0606020202030204" pitchFamily="34" charset="0"/>
              </a:rPr>
              <a:t> and </a:t>
            </a:r>
            <a:r>
              <a:rPr lang="es-CO" sz="1100" dirty="0" err="1">
                <a:latin typeface="Arial Narrow" panose="020B0606020202030204" pitchFamily="34" charset="0"/>
              </a:rPr>
              <a:t>Sustainability</a:t>
            </a:r>
            <a:r>
              <a:rPr lang="es-CO" sz="1100" dirty="0">
                <a:latin typeface="Arial Narrow" panose="020B0606020202030204" pitchFamily="34" charset="0"/>
              </a:rPr>
              <a:t>, </a:t>
            </a:r>
            <a:r>
              <a:rPr lang="es-CO" sz="1100" dirty="0" err="1">
                <a:latin typeface="Arial Narrow" panose="020B0606020202030204" pitchFamily="34" charset="0"/>
              </a:rPr>
              <a:t>Volume</a:t>
            </a:r>
            <a:r>
              <a:rPr lang="es-CO" sz="1100" dirty="0">
                <a:latin typeface="Arial Narrow" panose="020B0606020202030204" pitchFamily="34" charset="0"/>
              </a:rPr>
              <a:t> 6, </a:t>
            </a:r>
            <a:r>
              <a:rPr lang="es-CO" sz="1100" dirty="0" err="1">
                <a:latin typeface="Arial Narrow" panose="020B0606020202030204" pitchFamily="34" charset="0"/>
              </a:rPr>
              <a:t>Issue</a:t>
            </a:r>
            <a:r>
              <a:rPr lang="es-CO" sz="1100" dirty="0">
                <a:latin typeface="Arial Narrow" panose="020B0606020202030204" pitchFamily="34" charset="0"/>
              </a:rPr>
              <a:t> 5, 2025, 100333, ISSN 2666-6839, https://doi.org/10.1016/j.geosus.2025.100333.</a:t>
            </a:r>
          </a:p>
          <a:p>
            <a:pPr marL="342900" indent="-342900">
              <a:buClr>
                <a:schemeClr val="accent5"/>
              </a:buClr>
              <a:buFont typeface="+mj-lt"/>
              <a:buAutoNum type="arabicPeriod"/>
            </a:pPr>
            <a:r>
              <a:rPr lang="es-CO" sz="1100" dirty="0" err="1">
                <a:latin typeface="Arial Narrow" panose="020B0606020202030204" pitchFamily="34" charset="0"/>
              </a:rPr>
              <a:t>Laipelt</a:t>
            </a:r>
            <a:r>
              <a:rPr lang="es-CO" sz="1100" dirty="0">
                <a:latin typeface="Arial Narrow" panose="020B0606020202030204" pitchFamily="34" charset="0"/>
              </a:rPr>
              <a:t>, L., Comini de Andrade, B., </a:t>
            </a:r>
            <a:r>
              <a:rPr lang="es-CO" sz="1100" dirty="0" err="1">
                <a:latin typeface="Arial Narrow" panose="020B0606020202030204" pitchFamily="34" charset="0"/>
              </a:rPr>
              <a:t>Collischonn</a:t>
            </a:r>
            <a:r>
              <a:rPr lang="es-CO" sz="1100" dirty="0">
                <a:latin typeface="Arial Narrow" panose="020B0606020202030204" pitchFamily="34" charset="0"/>
              </a:rPr>
              <a:t>, W., de Amorim Teixeira, A., Paiva, R. C. D. d., &amp; Ruhoff, A. (2024). ANADEM: A Digital Terrain Model </a:t>
            </a:r>
            <a:r>
              <a:rPr lang="es-CO" sz="1100" dirty="0" err="1">
                <a:latin typeface="Arial Narrow" panose="020B0606020202030204" pitchFamily="34" charset="0"/>
              </a:rPr>
              <a:t>for</a:t>
            </a:r>
            <a:r>
              <a:rPr lang="es-CO" sz="1100" dirty="0">
                <a:latin typeface="Arial Narrow" panose="020B0606020202030204" pitchFamily="34" charset="0"/>
              </a:rPr>
              <a:t> South America. Remote Sensing, 16(13), 2321. https://doi.org/10.3390/rs16132321.</a:t>
            </a:r>
          </a:p>
          <a:p>
            <a:pPr marL="342900" indent="-342900">
              <a:buClr>
                <a:schemeClr val="accent5"/>
              </a:buClr>
              <a:buFont typeface="+mj-lt"/>
              <a:buAutoNum type="arabicPeriod"/>
            </a:pPr>
            <a:r>
              <a:rPr lang="es-CO" sz="1100" dirty="0" err="1">
                <a:latin typeface="Arial Narrow" panose="020B0606020202030204" pitchFamily="34" charset="0"/>
              </a:rPr>
              <a:t>National</a:t>
            </a:r>
            <a:r>
              <a:rPr lang="es-CO" sz="1100" dirty="0">
                <a:latin typeface="Arial Narrow" panose="020B0606020202030204" pitchFamily="34" charset="0"/>
              </a:rPr>
              <a:t> </a:t>
            </a:r>
            <a:r>
              <a:rPr lang="es-CO" sz="1100" dirty="0" err="1">
                <a:latin typeface="Arial Narrow" panose="020B0606020202030204" pitchFamily="34" charset="0"/>
              </a:rPr>
              <a:t>Aeronautics</a:t>
            </a:r>
            <a:r>
              <a:rPr lang="es-CO" sz="1100" dirty="0">
                <a:latin typeface="Arial Narrow" panose="020B0606020202030204" pitchFamily="34" charset="0"/>
              </a:rPr>
              <a:t> and Space </a:t>
            </a:r>
            <a:r>
              <a:rPr lang="es-CO" sz="1100" dirty="0" err="1">
                <a:latin typeface="Arial Narrow" panose="020B0606020202030204" pitchFamily="34" charset="0"/>
              </a:rPr>
              <a:t>Administration</a:t>
            </a:r>
            <a:r>
              <a:rPr lang="es-CO" sz="1100" dirty="0">
                <a:latin typeface="Arial Narrow" panose="020B0606020202030204" pitchFamily="34" charset="0"/>
              </a:rPr>
              <a:t>. (2021). MOD15A2H MODIS/Terra </a:t>
            </a:r>
            <a:r>
              <a:rPr lang="es-CO" sz="1100" dirty="0" err="1">
                <a:latin typeface="Arial Narrow" panose="020B0606020202030204" pitchFamily="34" charset="0"/>
              </a:rPr>
              <a:t>leaf</a:t>
            </a:r>
            <a:r>
              <a:rPr lang="es-CO" sz="1100" dirty="0">
                <a:latin typeface="Arial Narrow" panose="020B0606020202030204" pitchFamily="34" charset="0"/>
              </a:rPr>
              <a:t> </a:t>
            </a:r>
            <a:r>
              <a:rPr lang="es-CO" sz="1100" dirty="0" err="1">
                <a:latin typeface="Arial Narrow" panose="020B0606020202030204" pitchFamily="34" charset="0"/>
              </a:rPr>
              <a:t>area</a:t>
            </a:r>
            <a:r>
              <a:rPr lang="es-CO" sz="1100" dirty="0">
                <a:latin typeface="Arial Narrow" panose="020B0606020202030204" pitchFamily="34" charset="0"/>
              </a:rPr>
              <a:t> </a:t>
            </a:r>
            <a:r>
              <a:rPr lang="es-CO" sz="1100" dirty="0" err="1">
                <a:latin typeface="Arial Narrow" panose="020B0606020202030204" pitchFamily="34" charset="0"/>
              </a:rPr>
              <a:t>index</a:t>
            </a:r>
            <a:r>
              <a:rPr lang="es-CO" sz="1100" dirty="0">
                <a:latin typeface="Arial Narrow" panose="020B0606020202030204" pitchFamily="34" charset="0"/>
              </a:rPr>
              <a:t>/FPAR 8-day L4 global 500 m SIN </a:t>
            </a:r>
            <a:r>
              <a:rPr lang="es-CO" sz="1100" dirty="0" err="1">
                <a:latin typeface="Arial Narrow" panose="020B0606020202030204" pitchFamily="34" charset="0"/>
              </a:rPr>
              <a:t>grid</a:t>
            </a:r>
            <a:r>
              <a:rPr lang="es-CO" sz="1100" dirty="0">
                <a:latin typeface="Arial Narrow" panose="020B0606020202030204" pitchFamily="34" charset="0"/>
              </a:rPr>
              <a:t> (</a:t>
            </a:r>
            <a:r>
              <a:rPr lang="es-CO" sz="1100" dirty="0" err="1">
                <a:latin typeface="Arial Narrow" panose="020B0606020202030204" pitchFamily="34" charset="0"/>
              </a:rPr>
              <a:t>Version</a:t>
            </a:r>
            <a:r>
              <a:rPr lang="es-CO" sz="1100" dirty="0">
                <a:latin typeface="Arial Narrow" panose="020B0606020202030204" pitchFamily="34" charset="0"/>
              </a:rPr>
              <a:t> 6.1) [Data set]. LP DAAC. https://www.earthdata.nasa.gov/data/catalog/lpcloud-mod15a2h-061</a:t>
            </a:r>
          </a:p>
          <a:p>
            <a:pPr marL="342900" indent="-342900">
              <a:buClr>
                <a:schemeClr val="accent5"/>
              </a:buClr>
              <a:buFont typeface="+mj-lt"/>
              <a:buAutoNum type="arabicPeriod"/>
            </a:pPr>
            <a:r>
              <a:rPr lang="es-CO" sz="1100" dirty="0" err="1">
                <a:latin typeface="Arial Narrow" panose="020B0606020202030204" pitchFamily="34" charset="0"/>
              </a:rPr>
              <a:t>National</a:t>
            </a:r>
            <a:r>
              <a:rPr lang="es-CO" sz="1100" dirty="0">
                <a:latin typeface="Arial Narrow" panose="020B0606020202030204" pitchFamily="34" charset="0"/>
              </a:rPr>
              <a:t> </a:t>
            </a:r>
            <a:r>
              <a:rPr lang="es-CO" sz="1100" dirty="0" err="1">
                <a:latin typeface="Arial Narrow" panose="020B0606020202030204" pitchFamily="34" charset="0"/>
              </a:rPr>
              <a:t>Aeronautics</a:t>
            </a:r>
            <a:r>
              <a:rPr lang="es-CO" sz="1100" dirty="0">
                <a:latin typeface="Arial Narrow" panose="020B0606020202030204" pitchFamily="34" charset="0"/>
              </a:rPr>
              <a:t> and Space </a:t>
            </a:r>
            <a:r>
              <a:rPr lang="es-CO" sz="1100" dirty="0" err="1">
                <a:latin typeface="Arial Narrow" panose="020B0606020202030204" pitchFamily="34" charset="0"/>
              </a:rPr>
              <a:t>Administration</a:t>
            </a:r>
            <a:r>
              <a:rPr lang="es-CO" sz="1100" dirty="0">
                <a:latin typeface="Arial Narrow" panose="020B0606020202030204" pitchFamily="34" charset="0"/>
              </a:rPr>
              <a:t>. (s.f.). CMR concept ID C2764692443-ORNL_CLOUD [Data set]. </a:t>
            </a:r>
            <a:r>
              <a:rPr lang="es-CO" sz="1100" dirty="0" err="1">
                <a:latin typeface="Arial Narrow" panose="020B0606020202030204" pitchFamily="34" charset="0"/>
              </a:rPr>
              <a:t>Earthdata</a:t>
            </a:r>
            <a:r>
              <a:rPr lang="es-CO" sz="1100" dirty="0">
                <a:latin typeface="Arial Narrow" panose="020B0606020202030204" pitchFamily="34" charset="0"/>
              </a:rPr>
              <a:t> Search. https://cmr.earthdata.nasa.gov/search/concepts/C2764692443-ORNL_CLOUD.html</a:t>
            </a:r>
          </a:p>
          <a:p>
            <a:pPr marL="342900" indent="-342900">
              <a:buClr>
                <a:schemeClr val="accent5"/>
              </a:buClr>
              <a:buFont typeface="+mj-lt"/>
              <a:buAutoNum type="arabicPeriod"/>
            </a:pPr>
            <a:r>
              <a:rPr lang="fr-FR" sz="1100" dirty="0" err="1">
                <a:latin typeface="Arial Narrow" panose="020B0606020202030204" pitchFamily="34" charset="0"/>
              </a:rPr>
              <a:t>Roelants</a:t>
            </a:r>
            <a:r>
              <a:rPr lang="fr-FR" sz="1100" dirty="0">
                <a:latin typeface="Arial Narrow" panose="020B0606020202030204" pitchFamily="34" charset="0"/>
              </a:rPr>
              <a:t>, P. (2020, 11 de </a:t>
            </a:r>
            <a:r>
              <a:rPr lang="fr-FR" sz="1100" dirty="0" err="1">
                <a:latin typeface="Arial Narrow" panose="020B0606020202030204" pitchFamily="34" charset="0"/>
              </a:rPr>
              <a:t>agosto</a:t>
            </a:r>
            <a:r>
              <a:rPr lang="fr-FR" sz="1100" dirty="0">
                <a:latin typeface="Arial Narrow" panose="020B0606020202030204" pitchFamily="34" charset="0"/>
              </a:rPr>
              <a:t>). </a:t>
            </a:r>
            <a:r>
              <a:rPr lang="fr-FR" sz="1100" dirty="0" err="1">
                <a:latin typeface="Arial Narrow" panose="020B0606020202030204" pitchFamily="34" charset="0"/>
              </a:rPr>
              <a:t>Gaussian</a:t>
            </a:r>
            <a:r>
              <a:rPr lang="fr-FR" sz="1100" dirty="0">
                <a:latin typeface="Arial Narrow" panose="020B0606020202030204" pitchFamily="34" charset="0"/>
              </a:rPr>
              <a:t> process kernels. Peter </a:t>
            </a:r>
            <a:r>
              <a:rPr lang="fr-FR" sz="1100" dirty="0" err="1">
                <a:latin typeface="Arial Narrow" panose="020B0606020202030204" pitchFamily="34" charset="0"/>
              </a:rPr>
              <a:t>Roelants</a:t>
            </a:r>
            <a:r>
              <a:rPr lang="fr-FR" sz="1100" dirty="0">
                <a:latin typeface="Arial Narrow" panose="020B0606020202030204" pitchFamily="34" charset="0"/>
              </a:rPr>
              <a:t>. https://peterroelants.github.io/posts/gaussian-process-kernels/</a:t>
            </a:r>
            <a:endParaRPr lang="es-CO" sz="1100" dirty="0">
              <a:latin typeface="Arial Narrow" panose="020B0606020202030204" pitchFamily="34" charset="0"/>
            </a:endParaRPr>
          </a:p>
          <a:p>
            <a:pPr marL="342900" indent="-342900">
              <a:buClr>
                <a:schemeClr val="accent5"/>
              </a:buClr>
              <a:buFont typeface="+mj-lt"/>
              <a:buAutoNum type="arabicPeriod"/>
            </a:pPr>
            <a:r>
              <a:rPr lang="es-CO" sz="1100" dirty="0">
                <a:latin typeface="Arial Narrow" panose="020B0606020202030204" pitchFamily="34" charset="0"/>
              </a:rPr>
              <a:t>Salazar, J. F., Villegas, J. C., Rendón, A. M., Rodríguez, E., Hoyos, I., Mercado-</a:t>
            </a:r>
            <a:r>
              <a:rPr lang="es-CO" sz="1100" dirty="0" err="1">
                <a:latin typeface="Arial Narrow" panose="020B0606020202030204" pitchFamily="34" charset="0"/>
              </a:rPr>
              <a:t>Bettín</a:t>
            </a:r>
            <a:r>
              <a:rPr lang="es-CO" sz="1100" dirty="0">
                <a:latin typeface="Arial Narrow" panose="020B0606020202030204" pitchFamily="34" charset="0"/>
              </a:rPr>
              <a:t>, D., &amp; Poveda, G. (2018). </a:t>
            </a:r>
            <a:r>
              <a:rPr lang="es-CO" sz="1100" dirty="0" err="1">
                <a:latin typeface="Arial Narrow" panose="020B0606020202030204" pitchFamily="34" charset="0"/>
              </a:rPr>
              <a:t>Scaling</a:t>
            </a:r>
            <a:r>
              <a:rPr lang="es-CO" sz="1100" dirty="0">
                <a:latin typeface="Arial Narrow" panose="020B0606020202030204" pitchFamily="34" charset="0"/>
              </a:rPr>
              <a:t> </a:t>
            </a:r>
            <a:r>
              <a:rPr lang="es-CO" sz="1100" dirty="0" err="1">
                <a:latin typeface="Arial Narrow" panose="020B0606020202030204" pitchFamily="34" charset="0"/>
              </a:rPr>
              <a:t>properties</a:t>
            </a:r>
            <a:r>
              <a:rPr lang="es-CO" sz="1100" dirty="0">
                <a:latin typeface="Arial Narrow" panose="020B0606020202030204" pitchFamily="34" charset="0"/>
              </a:rPr>
              <a:t> </a:t>
            </a:r>
            <a:r>
              <a:rPr lang="es-CO" sz="1100" dirty="0" err="1">
                <a:latin typeface="Arial Narrow" panose="020B0606020202030204" pitchFamily="34" charset="0"/>
              </a:rPr>
              <a:t>reveal</a:t>
            </a:r>
            <a:r>
              <a:rPr lang="es-CO" sz="1100" dirty="0">
                <a:latin typeface="Arial Narrow" panose="020B0606020202030204" pitchFamily="34" charset="0"/>
              </a:rPr>
              <a:t> </a:t>
            </a:r>
            <a:r>
              <a:rPr lang="es-CO" sz="1100" dirty="0" err="1">
                <a:latin typeface="Arial Narrow" panose="020B0606020202030204" pitchFamily="34" charset="0"/>
              </a:rPr>
              <a:t>regulation</a:t>
            </a:r>
            <a:r>
              <a:rPr lang="es-CO" sz="1100" dirty="0">
                <a:latin typeface="Arial Narrow" panose="020B0606020202030204" pitchFamily="34" charset="0"/>
              </a:rPr>
              <a:t> </a:t>
            </a:r>
            <a:r>
              <a:rPr lang="es-CO" sz="1100" dirty="0" err="1">
                <a:latin typeface="Arial Narrow" panose="020B0606020202030204" pitchFamily="34" charset="0"/>
              </a:rPr>
              <a:t>of</a:t>
            </a:r>
            <a:r>
              <a:rPr lang="es-CO" sz="1100" dirty="0">
                <a:latin typeface="Arial Narrow" panose="020B0606020202030204" pitchFamily="34" charset="0"/>
              </a:rPr>
              <a:t> </a:t>
            </a:r>
            <a:r>
              <a:rPr lang="es-CO" sz="1100" dirty="0" err="1">
                <a:latin typeface="Arial Narrow" panose="020B0606020202030204" pitchFamily="34" charset="0"/>
              </a:rPr>
              <a:t>river</a:t>
            </a:r>
            <a:r>
              <a:rPr lang="es-CO" sz="1100" dirty="0">
                <a:latin typeface="Arial Narrow" panose="020B0606020202030204" pitchFamily="34" charset="0"/>
              </a:rPr>
              <a:t> </a:t>
            </a:r>
            <a:r>
              <a:rPr lang="es-CO" sz="1100" dirty="0" err="1">
                <a:latin typeface="Arial Narrow" panose="020B0606020202030204" pitchFamily="34" charset="0"/>
              </a:rPr>
              <a:t>flows</a:t>
            </a:r>
            <a:r>
              <a:rPr lang="es-CO" sz="1100" dirty="0">
                <a:latin typeface="Arial Narrow" panose="020B0606020202030204" pitchFamily="34" charset="0"/>
              </a:rPr>
              <a:t> in </a:t>
            </a:r>
            <a:r>
              <a:rPr lang="es-CO" sz="1100" dirty="0" err="1">
                <a:latin typeface="Arial Narrow" panose="020B0606020202030204" pitchFamily="34" charset="0"/>
              </a:rPr>
              <a:t>the</a:t>
            </a:r>
            <a:r>
              <a:rPr lang="es-CO" sz="1100" dirty="0">
                <a:latin typeface="Arial Narrow" panose="020B0606020202030204" pitchFamily="34" charset="0"/>
              </a:rPr>
              <a:t> Amazon </a:t>
            </a:r>
            <a:r>
              <a:rPr lang="es-CO" sz="1100" dirty="0" err="1">
                <a:latin typeface="Arial Narrow" panose="020B0606020202030204" pitchFamily="34" charset="0"/>
              </a:rPr>
              <a:t>through</a:t>
            </a:r>
            <a:r>
              <a:rPr lang="es-CO" sz="1100" dirty="0">
                <a:latin typeface="Arial Narrow" panose="020B0606020202030204" pitchFamily="34" charset="0"/>
              </a:rPr>
              <a:t> a “</a:t>
            </a:r>
            <a:r>
              <a:rPr lang="es-CO" sz="1100" dirty="0" err="1">
                <a:latin typeface="Arial Narrow" panose="020B0606020202030204" pitchFamily="34" charset="0"/>
              </a:rPr>
              <a:t>forest</a:t>
            </a:r>
            <a:r>
              <a:rPr lang="es-CO" sz="1100" dirty="0">
                <a:latin typeface="Arial Narrow" panose="020B0606020202030204" pitchFamily="34" charset="0"/>
              </a:rPr>
              <a:t> </a:t>
            </a:r>
            <a:r>
              <a:rPr lang="es-CO" sz="1100" dirty="0" err="1">
                <a:latin typeface="Arial Narrow" panose="020B0606020202030204" pitchFamily="34" charset="0"/>
              </a:rPr>
              <a:t>reservoir</a:t>
            </a:r>
            <a:r>
              <a:rPr lang="es-CO" sz="1100" dirty="0">
                <a:latin typeface="Arial Narrow" panose="020B0606020202030204" pitchFamily="34" charset="0"/>
              </a:rPr>
              <a:t>”. </a:t>
            </a:r>
            <a:r>
              <a:rPr lang="es-CO" sz="1100" dirty="0" err="1">
                <a:latin typeface="Arial Narrow" panose="020B0606020202030204" pitchFamily="34" charset="0"/>
              </a:rPr>
              <a:t>Hydrology</a:t>
            </a:r>
            <a:r>
              <a:rPr lang="es-CO" sz="1100" dirty="0">
                <a:latin typeface="Arial Narrow" panose="020B0606020202030204" pitchFamily="34" charset="0"/>
              </a:rPr>
              <a:t> and Earth </a:t>
            </a:r>
            <a:r>
              <a:rPr lang="es-CO" sz="1100" dirty="0" err="1">
                <a:latin typeface="Arial Narrow" panose="020B0606020202030204" pitchFamily="34" charset="0"/>
              </a:rPr>
              <a:t>System</a:t>
            </a:r>
            <a:r>
              <a:rPr lang="es-CO" sz="1100" dirty="0">
                <a:latin typeface="Arial Narrow" panose="020B0606020202030204" pitchFamily="34" charset="0"/>
              </a:rPr>
              <a:t> </a:t>
            </a:r>
            <a:r>
              <a:rPr lang="es-CO" sz="1100" dirty="0" err="1">
                <a:latin typeface="Arial Narrow" panose="020B0606020202030204" pitchFamily="34" charset="0"/>
              </a:rPr>
              <a:t>Sciences</a:t>
            </a:r>
            <a:r>
              <a:rPr lang="es-CO" sz="1100" dirty="0">
                <a:latin typeface="Arial Narrow" panose="020B0606020202030204" pitchFamily="34" charset="0"/>
              </a:rPr>
              <a:t>, 22(3), 1735–1748. https://doi.org/10.5194/hess-22-1735-2018</a:t>
            </a:r>
          </a:p>
          <a:p>
            <a:pPr marL="342900" indent="-342900">
              <a:buClr>
                <a:schemeClr val="accent5"/>
              </a:buClr>
              <a:buFont typeface="+mj-lt"/>
              <a:buAutoNum type="arabicPeriod"/>
            </a:pPr>
            <a:r>
              <a:rPr lang="es-CO" sz="1100" dirty="0" err="1">
                <a:latin typeface="Arial Narrow" panose="020B0606020202030204" pitchFamily="34" charset="0"/>
              </a:rPr>
              <a:t>xDEM</a:t>
            </a:r>
            <a:r>
              <a:rPr lang="es-CO" sz="1100" dirty="0">
                <a:latin typeface="Arial Narrow" panose="020B0606020202030204" pitchFamily="34" charset="0"/>
              </a:rPr>
              <a:t> </a:t>
            </a:r>
            <a:r>
              <a:rPr lang="es-CO" sz="1100" dirty="0" err="1">
                <a:latin typeface="Arial Narrow" panose="020B0606020202030204" pitchFamily="34" charset="0"/>
              </a:rPr>
              <a:t>Contributors</a:t>
            </a:r>
            <a:r>
              <a:rPr lang="es-CO" sz="1100" dirty="0">
                <a:latin typeface="Arial Narrow" panose="020B0606020202030204" pitchFamily="34" charset="0"/>
              </a:rPr>
              <a:t>. (2026). </a:t>
            </a:r>
            <a:r>
              <a:rPr lang="es-CO" sz="1100" dirty="0" err="1">
                <a:latin typeface="Arial Narrow" panose="020B0606020202030204" pitchFamily="34" charset="0"/>
              </a:rPr>
              <a:t>xDEM</a:t>
            </a:r>
            <a:r>
              <a:rPr lang="es-CO" sz="1100" dirty="0">
                <a:latin typeface="Arial Narrow" panose="020B0606020202030204" pitchFamily="34" charset="0"/>
              </a:rPr>
              <a:t>: </a:t>
            </a:r>
            <a:r>
              <a:rPr lang="es-CO" sz="1100" dirty="0" err="1">
                <a:latin typeface="Arial Narrow" panose="020B0606020202030204" pitchFamily="34" charset="0"/>
              </a:rPr>
              <a:t>Analysis</a:t>
            </a:r>
            <a:r>
              <a:rPr lang="es-CO" sz="1100" dirty="0">
                <a:latin typeface="Arial Narrow" panose="020B0606020202030204" pitchFamily="34" charset="0"/>
              </a:rPr>
              <a:t> </a:t>
            </a:r>
            <a:r>
              <a:rPr lang="es-CO" sz="1100" dirty="0" err="1">
                <a:latin typeface="Arial Narrow" panose="020B0606020202030204" pitchFamily="34" charset="0"/>
              </a:rPr>
              <a:t>of</a:t>
            </a:r>
            <a:r>
              <a:rPr lang="es-CO" sz="1100" dirty="0">
                <a:latin typeface="Arial Narrow" panose="020B0606020202030204" pitchFamily="34" charset="0"/>
              </a:rPr>
              <a:t> digital </a:t>
            </a:r>
            <a:r>
              <a:rPr lang="es-CO" sz="1100" dirty="0" err="1">
                <a:latin typeface="Arial Narrow" panose="020B0606020202030204" pitchFamily="34" charset="0"/>
              </a:rPr>
              <a:t>elevation</a:t>
            </a:r>
            <a:r>
              <a:rPr lang="es-CO" sz="1100" dirty="0">
                <a:latin typeface="Arial Narrow" panose="020B0606020202030204" pitchFamily="34" charset="0"/>
              </a:rPr>
              <a:t> </a:t>
            </a:r>
            <a:r>
              <a:rPr lang="es-CO" sz="1100" dirty="0" err="1">
                <a:latin typeface="Arial Narrow" panose="020B0606020202030204" pitchFamily="34" charset="0"/>
              </a:rPr>
              <a:t>models</a:t>
            </a:r>
            <a:r>
              <a:rPr lang="es-CO" sz="1100" dirty="0">
                <a:latin typeface="Arial Narrow" panose="020B0606020202030204" pitchFamily="34" charset="0"/>
              </a:rPr>
              <a:t> and </a:t>
            </a:r>
            <a:r>
              <a:rPr lang="es-CO" sz="1100" dirty="0" err="1">
                <a:latin typeface="Arial Narrow" panose="020B0606020202030204" pitchFamily="34" charset="0"/>
              </a:rPr>
              <a:t>elevation</a:t>
            </a:r>
            <a:r>
              <a:rPr lang="es-CO" sz="1100" dirty="0">
                <a:latin typeface="Arial Narrow" panose="020B0606020202030204" pitchFamily="34" charset="0"/>
              </a:rPr>
              <a:t> </a:t>
            </a:r>
            <a:r>
              <a:rPr lang="es-CO" sz="1100" dirty="0" err="1">
                <a:latin typeface="Arial Narrow" panose="020B0606020202030204" pitchFamily="34" charset="0"/>
              </a:rPr>
              <a:t>point</a:t>
            </a:r>
            <a:r>
              <a:rPr lang="es-CO" sz="1100" dirty="0">
                <a:latin typeface="Arial Narrow" panose="020B0606020202030204" pitchFamily="34" charset="0"/>
              </a:rPr>
              <a:t> </a:t>
            </a:r>
            <a:r>
              <a:rPr lang="es-CO" sz="1100" dirty="0" err="1">
                <a:latin typeface="Arial Narrow" panose="020B0606020202030204" pitchFamily="34" charset="0"/>
              </a:rPr>
              <a:t>clouds</a:t>
            </a:r>
            <a:r>
              <a:rPr lang="es-CO" sz="1100" dirty="0">
                <a:latin typeface="Arial Narrow" panose="020B0606020202030204" pitchFamily="34" charset="0"/>
              </a:rPr>
              <a:t> in Python (</a:t>
            </a:r>
            <a:r>
              <a:rPr lang="es-CO" sz="1100" dirty="0" err="1">
                <a:latin typeface="Arial Narrow" panose="020B0606020202030204" pitchFamily="34" charset="0"/>
              </a:rPr>
              <a:t>Version</a:t>
            </a:r>
            <a:r>
              <a:rPr lang="es-CO" sz="1100" dirty="0">
                <a:latin typeface="Arial Narrow" panose="020B0606020202030204" pitchFamily="34" charset="0"/>
              </a:rPr>
              <a:t> 0.2.0) [Software]. </a:t>
            </a:r>
            <a:r>
              <a:rPr lang="es-CO" sz="1100" dirty="0" err="1">
                <a:latin typeface="Arial Narrow" panose="020B0606020202030204" pitchFamily="34" charset="0"/>
              </a:rPr>
              <a:t>Zenodo</a:t>
            </a:r>
            <a:r>
              <a:rPr lang="es-CO" sz="1100" dirty="0">
                <a:latin typeface="Arial Narrow" panose="020B0606020202030204" pitchFamily="34" charset="0"/>
              </a:rPr>
              <a:t>. https://doi.org/10.5281/zenodo.19636034</a:t>
            </a:r>
          </a:p>
          <a:p>
            <a:pPr marL="342900" indent="-342900">
              <a:buFont typeface="+mj-lt"/>
              <a:buAutoNum type="arabicPeriod"/>
            </a:pPr>
            <a:endParaRPr lang="es-CO" sz="1200" dirty="0">
              <a:latin typeface="Arial Narrow" panose="020B0606020202030204" pitchFamily="34" charset="0"/>
            </a:endParaRPr>
          </a:p>
        </p:txBody>
      </p:sp>
      <p:sp>
        <p:nvSpPr>
          <p:cNvPr id="6" name="Marcador de número de diapositiva 5">
            <a:extLst>
              <a:ext uri="{FF2B5EF4-FFF2-40B4-BE49-F238E27FC236}">
                <a16:creationId xmlns:a16="http://schemas.microsoft.com/office/drawing/2014/main" id="{CCE0D6B7-E4DE-8090-098F-25CFD3299EDD}"/>
              </a:ext>
            </a:extLst>
          </p:cNvPr>
          <p:cNvSpPr>
            <a:spLocks noGrp="1"/>
          </p:cNvSpPr>
          <p:nvPr>
            <p:ph type="sldNum" sz="quarter" idx="12"/>
          </p:nvPr>
        </p:nvSpPr>
        <p:spPr/>
        <p:txBody>
          <a:bodyPr/>
          <a:lstStyle/>
          <a:p>
            <a:fld id="{90BC2BA4-81C0-F544-BD72-C8CB9DA7C802}" type="slidenum">
              <a:rPr lang="es-ES" smtClean="0"/>
              <a:pPr/>
              <a:t>18</a:t>
            </a:fld>
            <a:endParaRPr lang="es-ES" dirty="0"/>
          </a:p>
        </p:txBody>
      </p:sp>
      <p:sp>
        <p:nvSpPr>
          <p:cNvPr id="7" name="CuadroTexto 6">
            <a:extLst>
              <a:ext uri="{FF2B5EF4-FFF2-40B4-BE49-F238E27FC236}">
                <a16:creationId xmlns:a16="http://schemas.microsoft.com/office/drawing/2014/main" id="{712B192B-6604-382F-766A-EB7386CE6E24}"/>
              </a:ext>
            </a:extLst>
          </p:cNvPr>
          <p:cNvSpPr txBox="1"/>
          <p:nvPr/>
        </p:nvSpPr>
        <p:spPr>
          <a:xfrm>
            <a:off x="230944" y="4692454"/>
            <a:ext cx="3116580" cy="369332"/>
          </a:xfrm>
          <a:prstGeom prst="rect">
            <a:avLst/>
          </a:prstGeom>
          <a:noFill/>
        </p:spPr>
        <p:txBody>
          <a:bodyPr wrap="square" rtlCol="0">
            <a:spAutoFit/>
          </a:bodyPr>
          <a:lstStyle/>
          <a:p>
            <a:r>
              <a:rPr lang="en-US" sz="900" i="1" dirty="0" err="1">
                <a:solidFill>
                  <a:schemeClr val="bg2"/>
                </a:solidFill>
                <a:latin typeface="Ancizar Sans" panose="020B0602040300000003" pitchFamily="34" charset="0"/>
              </a:rPr>
              <a:t>Análisis</a:t>
            </a:r>
            <a:r>
              <a:rPr lang="en-US" sz="900" i="1" dirty="0">
                <a:solidFill>
                  <a:schemeClr val="bg2"/>
                </a:solidFill>
                <a:latin typeface="Ancizar Sans" panose="020B0602040300000003" pitchFamily="34" charset="0"/>
              </a:rPr>
              <a:t> </a:t>
            </a:r>
            <a:r>
              <a:rPr lang="en-US" sz="900" i="1" dirty="0" err="1">
                <a:solidFill>
                  <a:schemeClr val="bg2"/>
                </a:solidFill>
                <a:latin typeface="Ancizar Sans" panose="020B0602040300000003" pitchFamily="34" charset="0"/>
              </a:rPr>
              <a:t>Geoespacial</a:t>
            </a:r>
            <a:r>
              <a:rPr lang="en-US" sz="900" i="1" dirty="0">
                <a:solidFill>
                  <a:schemeClr val="bg2"/>
                </a:solidFill>
                <a:latin typeface="Ancizar Sans" panose="020B0602040300000003" pitchFamily="34" charset="0"/>
              </a:rPr>
              <a:t> 2026-S1</a:t>
            </a:r>
          </a:p>
          <a:p>
            <a:r>
              <a:rPr lang="en-US" sz="900" i="1" dirty="0" err="1">
                <a:solidFill>
                  <a:schemeClr val="bg2"/>
                </a:solidFill>
                <a:latin typeface="Ancizar Sans" panose="020B0602040300000003" pitchFamily="34" charset="0"/>
              </a:rPr>
              <a:t>Facultad</a:t>
            </a:r>
            <a:r>
              <a:rPr lang="en-US" sz="900" i="1" dirty="0">
                <a:solidFill>
                  <a:schemeClr val="bg2"/>
                </a:solidFill>
                <a:latin typeface="Ancizar Sans" panose="020B0602040300000003" pitchFamily="34" charset="0"/>
              </a:rPr>
              <a:t> de Minas</a:t>
            </a:r>
          </a:p>
        </p:txBody>
      </p:sp>
    </p:spTree>
    <p:extLst>
      <p:ext uri="{BB962C8B-B14F-4D97-AF65-F5344CB8AC3E}">
        <p14:creationId xmlns:p14="http://schemas.microsoft.com/office/powerpoint/2010/main" val="2588573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CuadroTexto 5"/>
          <p:cNvSpPr txBox="1"/>
          <p:nvPr/>
        </p:nvSpPr>
        <p:spPr>
          <a:xfrm>
            <a:off x="3514723" y="2190490"/>
            <a:ext cx="2093483" cy="502702"/>
          </a:xfrm>
          <a:prstGeom prst="rect">
            <a:avLst/>
          </a:prstGeom>
          <a:noFill/>
        </p:spPr>
        <p:txBody>
          <a:bodyPr wrap="square" rtlCol="0">
            <a:spAutoFit/>
          </a:bodyPr>
          <a:lstStyle/>
          <a:p>
            <a:pPr algn="ctr">
              <a:lnSpc>
                <a:spcPct val="80000"/>
              </a:lnSpc>
            </a:pPr>
            <a:r>
              <a:rPr lang="ro-RO" sz="3200" i="1" dirty="0">
                <a:solidFill>
                  <a:schemeClr val="bg2"/>
                </a:solidFill>
                <a:latin typeface="Ancizar Serif"/>
                <a:cs typeface="Ancizar Serif"/>
              </a:rPr>
              <a:t>Gracias</a:t>
            </a:r>
          </a:p>
        </p:txBody>
      </p:sp>
      <p:sp>
        <p:nvSpPr>
          <p:cNvPr id="3" name="Marcador de número de diapositiva 2">
            <a:extLst>
              <a:ext uri="{FF2B5EF4-FFF2-40B4-BE49-F238E27FC236}">
                <a16:creationId xmlns:a16="http://schemas.microsoft.com/office/drawing/2014/main" id="{D246A0C8-F2FD-4F7E-1C1F-1636098F9B5F}"/>
              </a:ext>
            </a:extLst>
          </p:cNvPr>
          <p:cNvSpPr>
            <a:spLocks noGrp="1"/>
          </p:cNvSpPr>
          <p:nvPr>
            <p:ph type="sldNum" sz="quarter" idx="12"/>
          </p:nvPr>
        </p:nvSpPr>
        <p:spPr/>
        <p:txBody>
          <a:bodyPr/>
          <a:lstStyle/>
          <a:p>
            <a:fld id="{90BC2BA4-81C0-F544-BD72-C8CB9DA7C802}" type="slidenum">
              <a:rPr lang="es-ES" smtClean="0"/>
              <a:pPr/>
              <a:t>19</a:t>
            </a:fld>
            <a:endParaRPr lang="es-ES"/>
          </a:p>
        </p:txBody>
      </p:sp>
    </p:spTree>
    <p:extLst>
      <p:ext uri="{BB962C8B-B14F-4D97-AF65-F5344CB8AC3E}">
        <p14:creationId xmlns:p14="http://schemas.microsoft.com/office/powerpoint/2010/main" val="4132190908"/>
      </p:ext>
    </p:extLst>
  </p:cSld>
  <p:clrMapOvr>
    <a:masterClrMapping/>
  </p:clrMapOvr>
</p:sld>
</file>

<file path=ppt/theme/theme1.xml><?xml version="1.0" encoding="utf-8"?>
<a:theme xmlns:a="http://schemas.openxmlformats.org/drawingml/2006/main" name="Plantilla-presentacion">
  <a:themeElements>
    <a:clrScheme name="UNAL 2024">
      <a:dk1>
        <a:srgbClr val="29272D"/>
      </a:dk1>
      <a:lt1>
        <a:srgbClr val="F7F5F2"/>
      </a:lt1>
      <a:dk2>
        <a:srgbClr val="481F63"/>
      </a:dk2>
      <a:lt2>
        <a:srgbClr val="F8ECCD"/>
      </a:lt2>
      <a:accent1>
        <a:srgbClr val="620C78"/>
      </a:accent1>
      <a:accent2>
        <a:srgbClr val="FFB93E"/>
      </a:accent2>
      <a:accent3>
        <a:srgbClr val="06784F"/>
      </a:accent3>
      <a:accent4>
        <a:srgbClr val="14C486"/>
      </a:accent4>
      <a:accent5>
        <a:srgbClr val="9F00C4"/>
      </a:accent5>
      <a:accent6>
        <a:srgbClr val="F79646"/>
      </a:accent6>
      <a:hlink>
        <a:srgbClr val="14C486"/>
      </a:hlink>
      <a:folHlink>
        <a:srgbClr val="9F00C4"/>
      </a:folHlink>
    </a:clrScheme>
    <a:fontScheme name="OCE">
      <a:majorFont>
        <a:latin typeface="Ancizar Serif Extrabold"/>
        <a:ea typeface=""/>
        <a:cs typeface=""/>
      </a:majorFont>
      <a:minorFont>
        <a:latin typeface="Ancizar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2424</TotalTime>
  <Words>1398</Words>
  <Application>Microsoft Office PowerPoint</Application>
  <PresentationFormat>Presentación en pantalla (16:9)</PresentationFormat>
  <Paragraphs>191</Paragraphs>
  <Slides>19</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19</vt:i4>
      </vt:variant>
    </vt:vector>
  </HeadingPairs>
  <TitlesOfParts>
    <vt:vector size="27" baseType="lpstr">
      <vt:lpstr>Ancizar Sans</vt:lpstr>
      <vt:lpstr>Ancizar Sans Light</vt:lpstr>
      <vt:lpstr>Ancizar Serif</vt:lpstr>
      <vt:lpstr>Ancizar Serif Extrabold</vt:lpstr>
      <vt:lpstr>Aptos</vt:lpstr>
      <vt:lpstr>Arial</vt:lpstr>
      <vt:lpstr>Arial Narrow</vt:lpstr>
      <vt:lpstr>Plantilla-presentacion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Paola</dc:creator>
  <cp:lastModifiedBy>Juan David  Zuluaga Ortiz</cp:lastModifiedBy>
  <cp:revision>17</cp:revision>
  <dcterms:created xsi:type="dcterms:W3CDTF">2024-06-25T17:03:54Z</dcterms:created>
  <dcterms:modified xsi:type="dcterms:W3CDTF">2026-07-31T03:00:39Z</dcterms:modified>
</cp:coreProperties>
</file>